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3" r:id="rId2"/>
    <p:sldMasterId id="2147483666" r:id="rId3"/>
  </p:sldMasterIdLst>
  <p:notesMasterIdLst>
    <p:notesMasterId r:id="rId24"/>
  </p:notesMasterIdLst>
  <p:sldIdLst>
    <p:sldId id="1838" r:id="rId4"/>
    <p:sldId id="3147" r:id="rId5"/>
    <p:sldId id="2164" r:id="rId6"/>
    <p:sldId id="2165" r:id="rId7"/>
    <p:sldId id="3133" r:id="rId8"/>
    <p:sldId id="3134" r:id="rId9"/>
    <p:sldId id="3135" r:id="rId10"/>
    <p:sldId id="2166" r:id="rId11"/>
    <p:sldId id="3136" r:id="rId12"/>
    <p:sldId id="3138" r:id="rId13"/>
    <p:sldId id="3139" r:id="rId14"/>
    <p:sldId id="3140" r:id="rId15"/>
    <p:sldId id="3141" r:id="rId16"/>
    <p:sldId id="2167" r:id="rId17"/>
    <p:sldId id="3143" r:id="rId18"/>
    <p:sldId id="3144" r:id="rId19"/>
    <p:sldId id="3145" r:id="rId20"/>
    <p:sldId id="2168" r:id="rId21"/>
    <p:sldId id="3146" r:id="rId22"/>
    <p:sldId id="183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8DCE6FC-EE29-453D-99F8-71FC1C2897E7}">
          <p14:sldIdLst>
            <p14:sldId id="1838"/>
            <p14:sldId id="3147"/>
            <p14:sldId id="2164"/>
            <p14:sldId id="2165"/>
            <p14:sldId id="3133"/>
            <p14:sldId id="3134"/>
            <p14:sldId id="3135"/>
            <p14:sldId id="2166"/>
            <p14:sldId id="3136"/>
            <p14:sldId id="3138"/>
            <p14:sldId id="3139"/>
            <p14:sldId id="3140"/>
            <p14:sldId id="3141"/>
            <p14:sldId id="2167"/>
            <p14:sldId id="3143"/>
            <p14:sldId id="3144"/>
            <p14:sldId id="3145"/>
            <p14:sldId id="2168"/>
            <p14:sldId id="3146"/>
            <p14:sldId id="18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80" d="100"/>
          <a:sy n="80" d="100"/>
        </p:scale>
        <p:origin x="76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CCE74-EAF3-4673-B3D1-7DAF4AE924D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A4951-8EDB-4B70-90FA-D9BA998251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23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691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EB51B-0BA7-8411-06C8-94880851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2F6636-17D4-9BC6-4E4F-557CEE755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0941EE-5FA8-2868-6B8E-1BE45512E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C98612-CC0B-CEB2-1FF1-76F38F14A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711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721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5E0327-7505-46D6-B9D9-ADE53B7870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027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C0402-FF4A-C732-081D-C09AAFE8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642E98-7686-41F5-9D4D-EA2D582A1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B71264-AFD3-898F-EB87-4F9C97FBD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91DD59-C318-2B12-7AE7-53936CB1B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062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7CCC-C3EA-A781-BED7-A43874AE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37F973-8FD9-1A04-376E-9764E5818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89FA5C-164B-32F0-1383-1F13E89EF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8B200E-AE13-8128-4E74-45E7E99AE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788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6EBBD-22A7-3DCE-68E0-F473873A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596697-4F72-264C-7ECF-6396CA498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EFE86-82FD-F1F4-BA74-484B328AB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C22A2E-70EB-2555-911B-84B6D8C0E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037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5E0327-7505-46D6-B9D9-ADE53B7870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090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FC132-1AE4-73C0-D98C-532BF722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B6A56C-77BA-D8EF-5BD7-43B96F374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9CD69C-2A11-E22A-1AF5-4F9213505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CAE2A7-2360-FC6F-F9CE-B7A919414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826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476E0-762F-EE56-D34F-E1716A382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EE5A04-0A1C-1F92-F2AB-E206362EE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7C20C1-7A24-437C-BC3B-9D864AEB8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5FF4BB-D56C-9348-E6F7-A03F1A820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7639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E861-1372-9B1F-8D31-E08BDB7F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09082E-DDA0-DB13-2800-823924DAC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82D9C4-A18D-96CE-E6DB-4C02EDC3B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40F56B-F462-73CC-7462-B2D714F75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421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6CDC-58C5-CC5F-8042-9ECCB70C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68A8FA-C643-BF5E-8308-5C55504A7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F8C666-DA52-0BD4-D447-20ED88B70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A4F23-EBB8-30DC-7F6C-6CBC7D31A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456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6862-B8C7-2D6C-9A09-63263A84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865DA9-5A43-736B-2D71-E4F71E6E0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65BB84-C881-C70A-F547-935D360C1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ED955B-7996-99CD-CA6C-1B93873C6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457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5E0327-7505-46D6-B9D9-ADE53B7870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739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A742-E89E-3832-33B7-CA95D11B3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CDC602-E31E-E229-627F-C1ACAD59A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55EF3D-E309-55F3-3B72-4224D618B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97B883-17B4-692D-032C-808BF0188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69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9D8C-04B0-8862-DB0A-DFD18014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3E240E-6EC8-0FB6-39C2-1F10F63E4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7261CE-493F-D46D-D2D7-FEBAF261E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693FBD-A78E-4E9C-E1B1-EF0981AA6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914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0C8B7-F278-4A7E-4DB9-EDA5D3A7A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804140-E845-DB0D-E79E-BFCDFB953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00D515-5BC3-CED5-7A2A-4BE5A7316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66FE6A-B677-BE43-4140-9E6578D5BB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097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5E0327-7505-46D6-B9D9-ADE53B7870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7404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F303E-38BA-0FD1-27DC-79EF4A7B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338178-08A3-D6FF-3208-270DE6736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DBAC43-1E5F-264F-9511-BF9B76301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25C2BB-94DA-600D-DCAA-DD149356B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7429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93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>
            <a:extLst>
              <a:ext uri="{FF2B5EF4-FFF2-40B4-BE49-F238E27FC236}">
                <a16:creationId xmlns:a16="http://schemas.microsoft.com/office/drawing/2014/main" id="{094E4669-55C5-874C-A68C-6E431CC09A50}"/>
              </a:ext>
            </a:extLst>
          </p:cNvPr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2274E9-6CD8-164F-A448-48D8BF6118A2}"/>
              </a:ext>
            </a:extLst>
          </p:cNvPr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10272478" y="6396638"/>
            <a:ext cx="1629576" cy="198576"/>
            <a:chOff x="10272478" y="6308389"/>
            <a:chExt cx="1629576" cy="198576"/>
          </a:xfrm>
        </p:grpSpPr>
        <p:grpSp>
          <p:nvGrpSpPr>
            <p:cNvPr id="32" name="组合 31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29886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8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3" name="组合 32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7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7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39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9098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063" r="32938"/>
          <a:stretch/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9F2EAE9-B638-4AA2-8264-4D37EBBEE86D}"/>
              </a:ext>
            </a:extLst>
          </p:cNvPr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F6BFE1-1DD5-454F-BE20-A55DAB22A652}"/>
              </a:ext>
            </a:extLst>
          </p:cNvPr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4117E2-1B64-4454-AB72-FC04D0614552}"/>
              </a:ext>
            </a:extLst>
          </p:cNvPr>
          <p:cNvCxnSpPr>
            <a:cxnSpLocks/>
          </p:cNvCxnSpPr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6CB049-19D4-44DA-8BA3-2A55CACC560A}"/>
              </a:ext>
            </a:extLst>
          </p:cNvPr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8AAB1992-5EF7-487C-AD2A-01E2865C7E72}"/>
                </a:ext>
              </a:extLst>
            </p:cNvPr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8C48E93-E5B1-4737-8427-44C095BEBB9E}"/>
                </a:ext>
              </a:extLst>
            </p:cNvPr>
            <p:cNvCxnSpPr>
              <a:cxnSpLocks/>
            </p:cNvCxnSpPr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8499905-D7C1-4B31-8F42-54B3A36F0B1E}"/>
              </a:ext>
            </a:extLst>
          </p:cNvPr>
          <p:cNvCxnSpPr>
            <a:cxnSpLocks/>
          </p:cNvCxnSpPr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1DFE5ED-5D7B-4B26-99EA-A40BED7DC14E}"/>
              </a:ext>
            </a:extLst>
          </p:cNvPr>
          <p:cNvSpPr/>
          <p:nvPr userDrawn="1"/>
        </p:nvSpPr>
        <p:spPr>
          <a:xfrm>
            <a:off x="846867" y="2752385"/>
            <a:ext cx="21362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目录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DD1A83F-A1E9-43D7-9CDC-7AC02BED1EE5}"/>
              </a:ext>
            </a:extLst>
          </p:cNvPr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CONTENTS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E103341-A23F-42AF-90B6-8B36EF542949}"/>
              </a:ext>
            </a:extLst>
          </p:cNvPr>
          <p:cNvCxnSpPr>
            <a:cxnSpLocks/>
          </p:cNvCxnSpPr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912" b="16285"/>
          <a:stretch/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50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3E9B806-B3B5-4857-9763-985BB906449B}"/>
              </a:ext>
            </a:extLst>
          </p:cNvPr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98EFC2AF-0299-489A-9F1D-9F6AA1D1A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>
            <a:extLst>
              <a:ext uri="{FF2B5EF4-FFF2-40B4-BE49-F238E27FC236}">
                <a16:creationId xmlns:a16="http://schemas.microsoft.com/office/drawing/2014/main" id="{9F0152B4-A135-47ED-A86F-89E402C2B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>
            <a:extLst>
              <a:ext uri="{FF2B5EF4-FFF2-40B4-BE49-F238E27FC236}">
                <a16:creationId xmlns:a16="http://schemas.microsoft.com/office/drawing/2014/main" id="{CF347087-2148-4765-A644-2EF9176FD6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65482F-D2BD-4FA5-8FA9-E44AB00F6475}"/>
              </a:ext>
            </a:extLst>
          </p:cNvPr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  <p:grpSp>
        <p:nvGrpSpPr>
          <p:cNvPr id="85" name="组合 84"/>
          <p:cNvGrpSpPr/>
          <p:nvPr userDrawn="1"/>
        </p:nvGrpSpPr>
        <p:grpSpPr>
          <a:xfrm>
            <a:off x="694004" y="6394741"/>
            <a:ext cx="1931864" cy="235412"/>
            <a:chOff x="10272478" y="6308389"/>
            <a:chExt cx="1629576" cy="198576"/>
          </a:xfrm>
        </p:grpSpPr>
        <p:grpSp>
          <p:nvGrpSpPr>
            <p:cNvPr id="86" name="组合 85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101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35296"/>
                <a:ext cx="331665" cy="499207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108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9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04" name="组合 103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105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6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7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87" name="组合 86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99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0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97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8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94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6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92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74466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801394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8846679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19408701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074108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3834895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12583941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61913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63842361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06187796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3763062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30968669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4050805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96545773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39240505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322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52443720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84689732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62183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01101412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79993377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96569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08203972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69009700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95703"/>
      </p:ext>
    </p:extLst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382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p14="http://schemas.microsoft.com/office/powerpoint/2010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8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91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91" r:id="rId3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919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453CE20-6C14-4C4C-84F7-26422658A810}"/>
              </a:ext>
            </a:extLst>
          </p:cNvPr>
          <p:cNvSpPr txBox="1">
            <a:spLocks/>
          </p:cNvSpPr>
          <p:nvPr/>
        </p:nvSpPr>
        <p:spPr>
          <a:xfrm>
            <a:off x="803276" y="4286889"/>
            <a:ext cx="10585448" cy="892503"/>
          </a:xfrm>
          <a:prstGeom prst="rect">
            <a:avLst/>
          </a:prstGeom>
        </p:spPr>
        <p:txBody>
          <a:bodyPr tIns="0" bIns="0" anchor="ctr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Alien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内核的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x86_64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移植与</a:t>
            </a: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vDSO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引入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31FADC7-207E-7B4E-8BBD-42F82FE1F818}"/>
              </a:ext>
            </a:extLst>
          </p:cNvPr>
          <p:cNvSpPr txBox="1">
            <a:spLocks/>
          </p:cNvSpPr>
          <p:nvPr/>
        </p:nvSpPr>
        <p:spPr>
          <a:xfrm>
            <a:off x="803276" y="4972427"/>
            <a:ext cx="10585448" cy="508452"/>
          </a:xfrm>
          <a:prstGeom prst="rect">
            <a:avLst/>
          </a:prstGeom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Template for Thesis Defense in Beijing Institute of Technology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文本占位符 34">
            <a:extLst>
              <a:ext uri="{FF2B5EF4-FFF2-40B4-BE49-F238E27FC236}">
                <a16:creationId xmlns:a16="http://schemas.microsoft.com/office/drawing/2014/main" id="{863F15CD-989D-B145-8B27-B543A0C87DAD}"/>
              </a:ext>
            </a:extLst>
          </p:cNvPr>
          <p:cNvSpPr txBox="1">
            <a:spLocks/>
          </p:cNvSpPr>
          <p:nvPr/>
        </p:nvSpPr>
        <p:spPr>
          <a:xfrm>
            <a:off x="803275" y="5500576"/>
            <a:ext cx="10585450" cy="595123"/>
          </a:xfrm>
          <a:prstGeom prst="rect">
            <a:avLst/>
          </a:prstGeom>
        </p:spPr>
        <p:txBody>
          <a:bodyPr lIns="72000" tIns="0" rIns="72000" bIns="0"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答辩人：</a:t>
            </a:r>
            <a:r>
              <a:rPr lang="zh-CN" alt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胡嘉晨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      导　师：</a:t>
            </a:r>
            <a:r>
              <a:rPr lang="zh-CN" alt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陆慧梅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     时间：</a:t>
            </a:r>
            <a:fld id="{FAA7561E-A48D-4E03-84F4-488CDA95D192}" type="datetime1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2026/5/23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18409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AD86A-EF14-8DD2-7B8F-F80ADBF9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A0E3444-EF54-2F67-C189-575EFD69F19A}"/>
              </a:ext>
            </a:extLst>
          </p:cNvPr>
          <p:cNvSpPr txBox="1"/>
          <p:nvPr/>
        </p:nvSpPr>
        <p:spPr>
          <a:xfrm>
            <a:off x="776378" y="1673522"/>
            <a:ext cx="10498347" cy="2865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答辩版论文查重：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0%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（待定，现在是盲审版结果）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盲审评阅结果：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（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81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），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（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89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）</a:t>
            </a:r>
            <a:endParaRPr lang="en-US" altLang="zh-CN" sz="2200" dirty="0">
              <a:solidFill>
                <a:prstClr val="black"/>
              </a:solidFill>
              <a:latin typeface="微软雅黑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不申请评优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D79677ED-005C-9C95-BA81-E79DF7E9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论文情况</a:t>
            </a:r>
          </a:p>
        </p:txBody>
      </p:sp>
    </p:spTree>
    <p:extLst>
      <p:ext uri="{BB962C8B-B14F-4D97-AF65-F5344CB8AC3E}">
        <p14:creationId xmlns:p14="http://schemas.microsoft.com/office/powerpoint/2010/main" val="19827502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F022EDC2-0163-4D59-8AEE-B77C7B56ACDC}"/>
              </a:ext>
            </a:extLst>
          </p:cNvPr>
          <p:cNvGrpSpPr/>
          <p:nvPr/>
        </p:nvGrpSpPr>
        <p:grpSpPr>
          <a:xfrm>
            <a:off x="6195556" y="794349"/>
            <a:ext cx="2254167" cy="1089209"/>
            <a:chOff x="5337036" y="1031947"/>
            <a:chExt cx="2254167" cy="1089209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9C81708-2DD4-42D2-8E80-8ABAEF83EBE2}"/>
                </a:ext>
              </a:extLst>
            </p:cNvPr>
            <p:cNvSpPr txBox="1"/>
            <p:nvPr/>
          </p:nvSpPr>
          <p:spPr>
            <a:xfrm>
              <a:off x="5337036" y="1031947"/>
              <a:ext cx="615874" cy="1089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kumimoji="0" lang="zh-CN" altLang="en-US" sz="5400" b="1" i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5C5D337B-57EC-400D-BC7A-F1EF82A84720}"/>
                </a:ext>
              </a:extLst>
            </p:cNvPr>
            <p:cNvGrpSpPr/>
            <p:nvPr/>
          </p:nvGrpSpPr>
          <p:grpSpPr>
            <a:xfrm>
              <a:off x="6384010" y="1248904"/>
              <a:ext cx="1207193" cy="797491"/>
              <a:chOff x="6384011" y="1247332"/>
              <a:chExt cx="1207193" cy="790542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A740C2E-C38D-4F96-A002-B3F79BAE1788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820738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绪论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CA0DF6C-F8E1-46CD-840C-DFE27F91D659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1207062" cy="264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ea"/>
                    <a:sym typeface="+mn-lt"/>
                  </a:rPr>
                  <a:t>Introduction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F9E3ED5-E505-453B-A89D-2EA83CC5BC39}"/>
              </a:ext>
            </a:extLst>
          </p:cNvPr>
          <p:cNvGrpSpPr/>
          <p:nvPr/>
        </p:nvGrpSpPr>
        <p:grpSpPr>
          <a:xfrm>
            <a:off x="6195556" y="4838508"/>
            <a:ext cx="3275279" cy="1098506"/>
            <a:chOff x="5337036" y="1031947"/>
            <a:chExt cx="3275279" cy="1098506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21B0BAD-FF0C-45F5-AC06-04605D027D58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0C3F2E44-81D1-4A88-8996-8AD8E73C1E80}"/>
                </a:ext>
              </a:extLst>
            </p:cNvPr>
            <p:cNvGrpSpPr/>
            <p:nvPr/>
          </p:nvGrpSpPr>
          <p:grpSpPr>
            <a:xfrm>
              <a:off x="6384010" y="1248904"/>
              <a:ext cx="2228305" cy="797491"/>
              <a:chOff x="6384011" y="1247332"/>
              <a:chExt cx="2228305" cy="790542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75B273F-6ABE-4AF7-8C0C-AA24DBBF2AA9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2051844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总结与展望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632C253-4FE6-4709-87B3-C18FA7038DD8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2228174" cy="264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ea"/>
                    <a:sym typeface="+mn-lt"/>
                  </a:rPr>
                  <a:t>Summary and Outlook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E300563-CF9C-4E5F-98A6-A489FEF59EBB}"/>
              </a:ext>
            </a:extLst>
          </p:cNvPr>
          <p:cNvGrpSpPr/>
          <p:nvPr/>
        </p:nvGrpSpPr>
        <p:grpSpPr>
          <a:xfrm>
            <a:off x="6195556" y="2142402"/>
            <a:ext cx="3817094" cy="1098506"/>
            <a:chOff x="5337036" y="1031947"/>
            <a:chExt cx="3817094" cy="1098506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93C7166-B910-44BC-9A1A-11B7DFB2D36D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B659A6B8-5979-4C40-B01D-250DCE134000}"/>
                </a:ext>
              </a:extLst>
            </p:cNvPr>
            <p:cNvGrpSpPr/>
            <p:nvPr/>
          </p:nvGrpSpPr>
          <p:grpSpPr>
            <a:xfrm>
              <a:off x="6384010" y="1248904"/>
              <a:ext cx="2770120" cy="797491"/>
              <a:chOff x="6384011" y="1247332"/>
              <a:chExt cx="2770120" cy="790542"/>
            </a:xfrm>
          </p:grpSpPr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CF46444-6738-4E06-AA31-F49884B01C20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2051844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设计与实现</a:t>
                </a: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5401AAD-A138-42AD-AFE0-A9635F662C46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2769989" cy="264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dirty="0">
                    <a:solidFill>
                      <a:srgbClr val="FFFFFF">
                        <a:lumMod val="75000"/>
                      </a:srgbClr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+mn-ea"/>
                    <a:sym typeface="+mn-lt"/>
                  </a:rPr>
                  <a:t>Design and Implementation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604B901-DEF0-4DA5-8081-584EDB1B10EB}"/>
              </a:ext>
            </a:extLst>
          </p:cNvPr>
          <p:cNvGrpSpPr/>
          <p:nvPr/>
        </p:nvGrpSpPr>
        <p:grpSpPr>
          <a:xfrm>
            <a:off x="6195556" y="3490455"/>
            <a:ext cx="3098818" cy="1098506"/>
            <a:chOff x="5337036" y="1031947"/>
            <a:chExt cx="3098818" cy="1098506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93BA0B9-4FDA-4DEE-A82A-8733841DB5D6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39E73199-5063-4C49-B0F2-EB4D0DE1A904}"/>
                </a:ext>
              </a:extLst>
            </p:cNvPr>
            <p:cNvGrpSpPr/>
            <p:nvPr/>
          </p:nvGrpSpPr>
          <p:grpSpPr>
            <a:xfrm>
              <a:off x="6384010" y="1248904"/>
              <a:ext cx="2051844" cy="797491"/>
              <a:chOff x="6384011" y="1247332"/>
              <a:chExt cx="2051844" cy="790542"/>
            </a:xfrm>
          </p:grpSpPr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AF4F4A3-E3E5-4ACB-B7C5-0D9279E93E0F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2051844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测试与分析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A9F0505-2260-4EBA-9C18-F0E4167E158E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1963679" cy="264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dirty="0">
                    <a:solidFill>
                      <a:srgbClr val="FFFFFF">
                        <a:lumMod val="75000"/>
                      </a:srgbClr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+mn-ea"/>
                    <a:sym typeface="+mn-lt"/>
                  </a:rPr>
                  <a:t>Testing and Analysis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9463570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第一部分 ▷▷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绪论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面临问题</a:t>
            </a:r>
            <a:endParaRPr lang="en-US" altLang="zh-CN" dirty="0"/>
          </a:p>
          <a:p>
            <a:r>
              <a:rPr lang="zh-CN" altLang="en-US" dirty="0"/>
              <a:t>现有工作</a:t>
            </a:r>
            <a:endParaRPr lang="en-US" altLang="zh-CN" dirty="0"/>
          </a:p>
          <a:p>
            <a:r>
              <a:rPr lang="zh-CN" altLang="en-US" dirty="0"/>
              <a:t>研究内容与意义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58408840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FD54-2AD4-88EA-2795-89CD1754F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D647A042-35DB-F89C-DF38-1BC844C6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内核面临的问题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D20332-854D-F996-8529-F8A2B7C7F3CF}"/>
              </a:ext>
            </a:extLst>
          </p:cNvPr>
          <p:cNvSpPr txBox="1"/>
          <p:nvPr/>
        </p:nvSpPr>
        <p:spPr>
          <a:xfrm>
            <a:off x="1173494" y="2368113"/>
            <a:ext cx="4617706" cy="2761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传统宏内核将文件系统、驱动、网络等模块运行在同一特权空间，高度耦合。</a:t>
            </a:r>
            <a:endParaRPr lang="en-US" altLang="zh-CN" sz="2000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  <a:p>
            <a:pPr marL="342900" marR="0" lvl="0" indent="-3429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单</a:t>
            </a: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处漏洞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可影响整个系统，造成崩溃或权限泄露。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安全补丁治标不治本，内核复杂度导致攻击面不断膨胀。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BBA41E-3FD0-FB00-FC14-628AA4B3D878}"/>
              </a:ext>
            </a:extLst>
          </p:cNvPr>
          <p:cNvSpPr txBox="1"/>
          <p:nvPr/>
        </p:nvSpPr>
        <p:spPr>
          <a:xfrm>
            <a:off x="6096000" y="2514904"/>
            <a:ext cx="4881886" cy="23616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微内核将大部分服务剥离至用户态，通过消息传递通信，天然隔离强、可信基小。</a:t>
            </a:r>
            <a:endParaRPr lang="en-US" altLang="zh-CN" sz="2000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  <a:p>
            <a:pPr marL="342900" marR="0" lvl="0" indent="-3429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频繁上下文切换带来显著性能损耗</a:t>
            </a:r>
            <a:endParaRPr lang="en-US" altLang="zh-CN" sz="2000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  <a:p>
            <a:pPr marL="342900" marR="0" lvl="0" indent="-3429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现有庞大内核生态实施全盘重构代价极高，难以直接落地。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0F92E8-05AC-4AE3-95EE-1C039BEEFD1C}"/>
              </a:ext>
            </a:extLst>
          </p:cNvPr>
          <p:cNvSpPr txBox="1"/>
          <p:nvPr/>
        </p:nvSpPr>
        <p:spPr>
          <a:xfrm>
            <a:off x="1954814" y="1312179"/>
            <a:ext cx="3055065" cy="619744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宏内核耦合风险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FDBB2C1-7320-ABDC-015A-6545D9F7EA25}"/>
              </a:ext>
            </a:extLst>
          </p:cNvPr>
          <p:cNvSpPr txBox="1"/>
          <p:nvPr/>
        </p:nvSpPr>
        <p:spPr>
          <a:xfrm>
            <a:off x="6854521" y="1312179"/>
            <a:ext cx="3629025" cy="619744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微内核的取舍需求</a:t>
            </a:r>
          </a:p>
        </p:txBody>
      </p:sp>
    </p:spTree>
    <p:extLst>
      <p:ext uri="{BB962C8B-B14F-4D97-AF65-F5344CB8AC3E}">
        <p14:creationId xmlns:p14="http://schemas.microsoft.com/office/powerpoint/2010/main" val="75925141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ADA3-039A-585A-AD14-BF64FB13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1320A1AB-F346-6041-EF1B-B957744D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现有工作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14B81B4-7960-BB0D-F6C6-55FE68802A30}"/>
              </a:ext>
            </a:extLst>
          </p:cNvPr>
          <p:cNvSpPr txBox="1"/>
          <p:nvPr/>
        </p:nvSpPr>
        <p:spPr>
          <a:xfrm>
            <a:off x="266700" y="962025"/>
            <a:ext cx="4791075" cy="5343525"/>
          </a:xfrm>
          <a:prstGeom prst="rect">
            <a:avLst/>
          </a:prstGeom>
          <a:noFill/>
        </p:spPr>
        <p:txBody>
          <a:bodyPr wrap="square" lIns="0" rtlCol="0">
            <a:normAutofit fontScale="92500"/>
          </a:bodyPr>
          <a:lstStyle/>
          <a:p>
            <a:pPr marL="0" marR="0" lvl="0" indent="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AlienOS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选择在宏内核和微内核之间折中，通过整体设计让全部模块在内核态工作，同时相互隔离。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85750" marR="0" lvl="0" indent="-28575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划分独立“故障域”</a:t>
            </a:r>
            <a:r>
              <a:rPr lang="en-US" altLang="zh-CN" sz="1600" spc="100" dirty="0">
                <a:solidFill>
                  <a:prstClr val="black"/>
                </a:solidFill>
                <a:latin typeface="微软雅黑"/>
                <a:ea typeface="微软雅黑"/>
              </a:rPr>
              <a:t>,</a:t>
            </a:r>
            <a:r>
              <a:rPr lang="zh-CN" altLang="en-US" sz="1600" spc="100" dirty="0">
                <a:solidFill>
                  <a:prstClr val="black"/>
                </a:solidFill>
                <a:latin typeface="微软雅黑"/>
                <a:ea typeface="微软雅黑"/>
              </a:rPr>
              <a:t>确定域边界，内核动态加载域并自动设置错误捕获和回滚。</a:t>
            </a:r>
            <a:endParaRPr lang="en-US" altLang="zh-CN" sz="1600" spc="100" dirty="0">
              <a:solidFill>
                <a:prstClr val="black"/>
              </a:solidFill>
              <a:latin typeface="微软雅黑"/>
              <a:ea typeface="微软雅黑"/>
            </a:endParaRPr>
          </a:p>
          <a:p>
            <a:pPr marL="285750" marR="0" lvl="0" indent="-28575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域间通过显式接口与共享堆协作。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85750" marR="0" lvl="0" indent="-28575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单域失效不影响其余部分，并支持域的热更新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85750" marR="0" lvl="0" indent="-28575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已在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RISC-V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上初步验证。</a:t>
            </a:r>
            <a:endParaRPr kumimoji="0" lang="en-US" altLang="zh-CN" sz="16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R="0" lvl="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tabLst/>
              <a:defRPr/>
            </a:pP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Rust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的所有权与借用机制从编译期杜绝悬垂指针和数据竞争。</a:t>
            </a:r>
          </a:p>
          <a:p>
            <a:pPr marL="285750" marR="0" lvl="0" indent="-28575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TCB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（可信计算基）封装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unsafe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代码，域强制使用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safe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代码，通过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Rust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保证安全。</a:t>
            </a:r>
          </a:p>
          <a:p>
            <a:pPr marL="285750" marR="0" lvl="0" indent="-28575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域间传递对象时，所有权转移由编译器强制施行，移交方自动丧失访问权。</a:t>
            </a:r>
          </a:p>
          <a:p>
            <a:pPr marL="285750" marR="0" lvl="0" indent="-28575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错误捕获和回滚通过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Rust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unwind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策略和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Drop trait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实现</a:t>
            </a:r>
          </a:p>
          <a:p>
            <a:pPr marL="285750" marR="0" lvl="0" indent="-28575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endParaRPr kumimoji="0" lang="zh-CN" altLang="en-US" sz="16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1677C3-5DF4-8902-20F0-3B53807F4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740" y="1035843"/>
            <a:ext cx="7220260" cy="519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49946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D2B7-E111-0893-66FF-E72B4BFA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C4354BA-C0C4-691C-A3F0-8FF47734A701}"/>
              </a:ext>
            </a:extLst>
          </p:cNvPr>
          <p:cNvSpPr txBox="1"/>
          <p:nvPr/>
        </p:nvSpPr>
        <p:spPr>
          <a:xfrm>
            <a:off x="776378" y="1673522"/>
            <a:ext cx="10498347" cy="284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架构生态成熟，且具备用户态中断等先进硬件特性。移植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Alien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至此平台，可验证域隔离设计在复杂真实环境下的可行性，打破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RISC-V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单架构限制，为构建多架构隔离内核提供实现参考与工程经验。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系统调用是高频性能瓶颈。将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vDSO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引入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Alien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，通过映射只读代码页使用户态直接获取时间，大幅降低延迟，同时保留域隔离与回退系统调用路径，为后续协作调度等优化预留扩展接口，兼顾安全与性能。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E2DA7DCD-D25F-A771-D46E-48E5EDD0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研究工作与意义</a:t>
            </a:r>
          </a:p>
        </p:txBody>
      </p:sp>
    </p:spTree>
    <p:extLst>
      <p:ext uri="{BB962C8B-B14F-4D97-AF65-F5344CB8AC3E}">
        <p14:creationId xmlns:p14="http://schemas.microsoft.com/office/powerpoint/2010/main" val="220339364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第二部分 ▷▷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设计与实现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平台无关初始化路径</a:t>
            </a:r>
            <a:endParaRPr lang="en-US" altLang="zh-CN" dirty="0"/>
          </a:p>
          <a:p>
            <a:r>
              <a:rPr lang="en-US" altLang="zh-CN" dirty="0"/>
              <a:t>x86_64</a:t>
            </a:r>
            <a:r>
              <a:rPr lang="zh-CN" altLang="en-US" dirty="0"/>
              <a:t>移植实现</a:t>
            </a:r>
            <a:endParaRPr lang="en-US" altLang="zh-CN" dirty="0"/>
          </a:p>
          <a:p>
            <a:r>
              <a:rPr lang="en-US" altLang="zh-CN" dirty="0" err="1"/>
              <a:t>vDSO</a:t>
            </a:r>
            <a:r>
              <a:rPr lang="zh-CN" altLang="en-US" dirty="0"/>
              <a:t>构建与装载</a:t>
            </a:r>
            <a:endParaRPr lang="en-US" altLang="zh-CN" dirty="0"/>
          </a:p>
          <a:p>
            <a:r>
              <a:rPr lang="zh-CN" altLang="en-US" dirty="0"/>
              <a:t>运行时刷新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77270850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DF7E-F481-C302-41AA-C067510E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4ABB856-7BFD-15DF-73D8-F3815B014F1A}"/>
              </a:ext>
            </a:extLst>
          </p:cNvPr>
          <p:cNvSpPr txBox="1"/>
          <p:nvPr/>
        </p:nvSpPr>
        <p:spPr>
          <a:xfrm>
            <a:off x="728754" y="1463972"/>
            <a:ext cx="6186396" cy="4170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移植工作主要围绕四个方面展开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引导层约定统一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boot_info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接口传递内存布局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内存层定义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VSpace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trait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封装页表映射、查址与切换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中断层采用汇编入口配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Rust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分发函数两层结构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设备层对外仅暴露统一设备列表，隐藏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ACPI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FDT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差异。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R="0" lvl="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上层加载逻辑仅依赖抽象接口，无需感知寄存器或页表层级。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F09A9BD5-3C73-1AE5-B9AB-3A8F1582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平台无关初始化路径</a:t>
            </a:r>
          </a:p>
        </p:txBody>
      </p:sp>
    </p:spTree>
    <p:extLst>
      <p:ext uri="{BB962C8B-B14F-4D97-AF65-F5344CB8AC3E}">
        <p14:creationId xmlns:p14="http://schemas.microsoft.com/office/powerpoint/2010/main" val="182785539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85E8-2970-C9E3-2CD7-6CC3D1FF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800745AE-46B2-9E64-DB6F-A56A669D4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x86_64</a:t>
            </a:r>
            <a:r>
              <a:rPr lang="zh-CN" altLang="en-US" dirty="0"/>
              <a:t>移植</a:t>
            </a:r>
            <a:r>
              <a:rPr lang="en-US" altLang="zh-CN" dirty="0"/>
              <a:t>——</a:t>
            </a:r>
            <a:r>
              <a:rPr lang="zh-CN" altLang="en-US" dirty="0"/>
              <a:t>引导与内存管理</a:t>
            </a:r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E70B5D23-DC73-9C04-AC90-C886D1FD5C13}"/>
              </a:ext>
            </a:extLst>
          </p:cNvPr>
          <p:cNvSpPr/>
          <p:nvPr/>
        </p:nvSpPr>
        <p:spPr>
          <a:xfrm>
            <a:off x="674412" y="1626013"/>
            <a:ext cx="5724000" cy="3736561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60C2FC47-FE44-C452-944C-F50BF3AD91DB}"/>
              </a:ext>
            </a:extLst>
          </p:cNvPr>
          <p:cNvSpPr/>
          <p:nvPr/>
        </p:nvSpPr>
        <p:spPr>
          <a:xfrm>
            <a:off x="5822046" y="1924050"/>
            <a:ext cx="5724000" cy="3649852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4"/>
                </a:gs>
              </a:gsLst>
              <a:lin ang="9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A6239A-D1C9-B774-AE44-4996400FAF91}"/>
              </a:ext>
            </a:extLst>
          </p:cNvPr>
          <p:cNvSpPr txBox="1"/>
          <p:nvPr/>
        </p:nvSpPr>
        <p:spPr>
          <a:xfrm>
            <a:off x="6665053" y="2892143"/>
            <a:ext cx="4880993" cy="23608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x86_64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四级页表与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RISC-V Sv39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三级页表各自实现同一组页表项操作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trait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。上层通过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VSpace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抽象管理映射与权限，切换页表时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x86_64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写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CR3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物理地址，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RISC-V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写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satp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，调用方无需关心差异。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5623DA-9B4C-74B3-D081-F3240D6811D4}"/>
              </a:ext>
            </a:extLst>
          </p:cNvPr>
          <p:cNvSpPr txBox="1"/>
          <p:nvPr/>
        </p:nvSpPr>
        <p:spPr>
          <a:xfrm>
            <a:off x="6798695" y="2279850"/>
            <a:ext cx="3231129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跨架构页表统一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06AED1-94B3-D118-E8B0-A1F3BCEE410E}"/>
              </a:ext>
            </a:extLst>
          </p:cNvPr>
          <p:cNvSpPr txBox="1"/>
          <p:nvPr/>
        </p:nvSpPr>
        <p:spPr>
          <a:xfrm>
            <a:off x="407771" y="2719151"/>
            <a:ext cx="5013991" cy="23608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342900" marR="0" lvl="0" indent="-34290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按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Multiboot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规范启动，汇编加载早期页表并配置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CR0/CR4/EFER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进入长模式，转入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Rust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主函数。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342900" marR="0" lvl="0" indent="-34290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初始化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percpu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与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FPU/SSE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，主核关闭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8259A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、检测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x2APIC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模式完成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Local APIC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编程。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266BCD-1335-41A6-5BBF-B9B246EC3D89}"/>
              </a:ext>
            </a:extLst>
          </p:cNvPr>
          <p:cNvSpPr txBox="1"/>
          <p:nvPr/>
        </p:nvSpPr>
        <p:spPr>
          <a:xfrm>
            <a:off x="1587516" y="1919788"/>
            <a:ext cx="3904343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引导与早期初始化</a:t>
            </a:r>
          </a:p>
        </p:txBody>
      </p:sp>
    </p:spTree>
    <p:extLst>
      <p:ext uri="{BB962C8B-B14F-4D97-AF65-F5344CB8AC3E}">
        <p14:creationId xmlns:p14="http://schemas.microsoft.com/office/powerpoint/2010/main" val="256988317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81303-B4B6-132F-17B2-3EA929ED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893300B-1A16-FC5D-7084-F026DFAF9AC5}"/>
              </a:ext>
            </a:extLst>
          </p:cNvPr>
          <p:cNvSpPr/>
          <p:nvPr/>
        </p:nvSpPr>
        <p:spPr>
          <a:xfrm>
            <a:off x="6275511" y="1514306"/>
            <a:ext cx="5176713" cy="3829390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1F335240-A4DB-69B0-1D3C-EA565C86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x86_64</a:t>
            </a:r>
            <a:r>
              <a:rPr lang="zh-CN" altLang="en-US" dirty="0"/>
              <a:t>移植</a:t>
            </a:r>
            <a:r>
              <a:rPr lang="en-US" altLang="zh-CN" dirty="0"/>
              <a:t>——</a:t>
            </a:r>
            <a:r>
              <a:rPr lang="zh-CN" altLang="en-US" dirty="0"/>
              <a:t>中断适配与设备探测</a:t>
            </a:r>
          </a:p>
        </p:txBody>
      </p:sp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956BDAA1-367A-FE8E-82D8-8BBC8174985A}"/>
              </a:ext>
            </a:extLst>
          </p:cNvPr>
          <p:cNvSpPr/>
          <p:nvPr/>
        </p:nvSpPr>
        <p:spPr>
          <a:xfrm flipV="1">
            <a:off x="6275511" y="1514303"/>
            <a:ext cx="1190868" cy="1190868"/>
          </a:xfrm>
          <a:prstGeom prst="rtTriangle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DED164-D0DB-8C65-0383-EB18A9F5D555}"/>
              </a:ext>
            </a:extLst>
          </p:cNvPr>
          <p:cNvSpPr/>
          <p:nvPr/>
        </p:nvSpPr>
        <p:spPr>
          <a:xfrm>
            <a:off x="606426" y="1514305"/>
            <a:ext cx="5176714" cy="3829391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4" name="直角三角形 23">
            <a:extLst>
              <a:ext uri="{FF2B5EF4-FFF2-40B4-BE49-F238E27FC236}">
                <a16:creationId xmlns:a16="http://schemas.microsoft.com/office/drawing/2014/main" id="{11E4C587-E604-8679-FA15-8399972A8022}"/>
              </a:ext>
            </a:extLst>
          </p:cNvPr>
          <p:cNvSpPr/>
          <p:nvPr/>
        </p:nvSpPr>
        <p:spPr>
          <a:xfrm flipV="1">
            <a:off x="606426" y="1514303"/>
            <a:ext cx="1190868" cy="1190868"/>
          </a:xfrm>
          <a:prstGeom prst="rtTriangle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A3854D5-29CF-06BC-574F-1A2B20F32725}"/>
              </a:ext>
            </a:extLst>
          </p:cNvPr>
          <p:cNvSpPr txBox="1"/>
          <p:nvPr/>
        </p:nvSpPr>
        <p:spPr>
          <a:xfrm>
            <a:off x="1116064" y="1914044"/>
            <a:ext cx="4443820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trap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</a:t>
            </a:r>
            <a:r>
              <a:rPr kumimoji="0" lang="en-US" altLang="zh-CN" sz="2800" b="1" i="0" u="none" strike="noStrike" kern="1200" cap="none" spc="300" normalizeH="0" baseline="0" noProof="0" dirty="0" err="1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syscall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通路</a:t>
            </a:r>
            <a:endParaRPr kumimoji="0" lang="en-US" altLang="zh-CN" sz="2800" b="1" i="0" u="none" strike="noStrike" kern="1200" cap="none" spc="30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8E15AF8-8857-63FF-3FD8-6626711DE58C}"/>
              </a:ext>
            </a:extLst>
          </p:cNvPr>
          <p:cNvSpPr txBox="1"/>
          <p:nvPr/>
        </p:nvSpPr>
        <p:spPr>
          <a:xfrm>
            <a:off x="916441" y="2710063"/>
            <a:ext cx="4556684" cy="2124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IDT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设置中断向量，按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CS.DPL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分流内核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用户路径，用户态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swapgs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并换栈换页表。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syscall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LSTAR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指向跳板页，利用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percpu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镜像暂存用户栈，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sysretq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返回，高地址映射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percpu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镜像保证跨空间访问。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9FAAC3C-3945-8FA4-9172-1957C32B0634}"/>
              </a:ext>
            </a:extLst>
          </p:cNvPr>
          <p:cNvSpPr txBox="1"/>
          <p:nvPr/>
        </p:nvSpPr>
        <p:spPr>
          <a:xfrm>
            <a:off x="6764636" y="1914044"/>
            <a:ext cx="4311300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ACPI/PCI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与域加载</a:t>
            </a:r>
            <a:endParaRPr kumimoji="0" lang="en-US" altLang="zh-CN" sz="2800" b="1" i="0" u="none" strike="noStrike" kern="1200" cap="none" spc="30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5BACDF1-EFAE-0A02-A58C-BB82CDA95C03}"/>
              </a:ext>
            </a:extLst>
          </p:cNvPr>
          <p:cNvSpPr txBox="1"/>
          <p:nvPr/>
        </p:nvSpPr>
        <p:spPr>
          <a:xfrm>
            <a:off x="6585525" y="2710063"/>
            <a:ext cx="4556684" cy="1764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以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RSDP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解析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SDT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获取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MADT/MCFG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等表，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PCI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优先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ECAM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扫描，缺失回退默认基址。域加载分层：先注册架构无关通用域，再按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x86_64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特有列表加载驱动域，架构差异仅体现在域列表层。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D70A0B6-8EE8-67F9-0307-6F7E872B4E49}"/>
              </a:ext>
            </a:extLst>
          </p:cNvPr>
          <p:cNvGrpSpPr/>
          <p:nvPr/>
        </p:nvGrpSpPr>
        <p:grpSpPr>
          <a:xfrm>
            <a:off x="6444234" y="1681295"/>
            <a:ext cx="360000" cy="360000"/>
            <a:chOff x="7296152" y="2228854"/>
            <a:chExt cx="479426" cy="481013"/>
          </a:xfrm>
          <a:solidFill>
            <a:schemeClr val="bg1"/>
          </a:solidFill>
        </p:grpSpPr>
        <p:sp>
          <p:nvSpPr>
            <p:cNvPr id="31" name="Freeform 109">
              <a:extLst>
                <a:ext uri="{FF2B5EF4-FFF2-40B4-BE49-F238E27FC236}">
                  <a16:creationId xmlns:a16="http://schemas.microsoft.com/office/drawing/2014/main" id="{DB4FF252-0F31-65FD-119A-53277C046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7303" y="2228854"/>
              <a:ext cx="168275" cy="168275"/>
            </a:xfrm>
            <a:custGeom>
              <a:avLst/>
              <a:gdLst>
                <a:gd name="T0" fmla="*/ 2 w 45"/>
                <a:gd name="T1" fmla="*/ 45 h 45"/>
                <a:gd name="T2" fmla="*/ 32 w 45"/>
                <a:gd name="T3" fmla="*/ 45 h 45"/>
                <a:gd name="T4" fmla="*/ 34 w 45"/>
                <a:gd name="T5" fmla="*/ 43 h 45"/>
                <a:gd name="T6" fmla="*/ 32 w 45"/>
                <a:gd name="T7" fmla="*/ 41 h 45"/>
                <a:gd name="T8" fmla="*/ 8 w 45"/>
                <a:gd name="T9" fmla="*/ 41 h 45"/>
                <a:gd name="T10" fmla="*/ 44 w 45"/>
                <a:gd name="T11" fmla="*/ 4 h 45"/>
                <a:gd name="T12" fmla="*/ 44 w 45"/>
                <a:gd name="T13" fmla="*/ 1 h 45"/>
                <a:gd name="T14" fmla="*/ 41 w 45"/>
                <a:gd name="T15" fmla="*/ 1 h 45"/>
                <a:gd name="T16" fmla="*/ 4 w 45"/>
                <a:gd name="T17" fmla="*/ 38 h 45"/>
                <a:gd name="T18" fmla="*/ 4 w 45"/>
                <a:gd name="T19" fmla="*/ 13 h 45"/>
                <a:gd name="T20" fmla="*/ 2 w 45"/>
                <a:gd name="T21" fmla="*/ 11 h 45"/>
                <a:gd name="T22" fmla="*/ 0 w 45"/>
                <a:gd name="T23" fmla="*/ 13 h 45"/>
                <a:gd name="T24" fmla="*/ 0 w 45"/>
                <a:gd name="T25" fmla="*/ 43 h 45"/>
                <a:gd name="T26" fmla="*/ 2 w 45"/>
                <a:gd name="T2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" h="45">
                  <a:moveTo>
                    <a:pt x="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3"/>
                    <a:pt x="45" y="2"/>
                    <a:pt x="44" y="1"/>
                  </a:cubicBezTo>
                  <a:cubicBezTo>
                    <a:pt x="43" y="0"/>
                    <a:pt x="42" y="0"/>
                    <a:pt x="41" y="1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2"/>
                    <a:pt x="3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5" name="Freeform 110">
              <a:extLst>
                <a:ext uri="{FF2B5EF4-FFF2-40B4-BE49-F238E27FC236}">
                  <a16:creationId xmlns:a16="http://schemas.microsoft.com/office/drawing/2014/main" id="{B9114EC5-1E98-5F42-73E4-3EF8C5A66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6152" y="2540004"/>
              <a:ext cx="168275" cy="169863"/>
            </a:xfrm>
            <a:custGeom>
              <a:avLst/>
              <a:gdLst>
                <a:gd name="T0" fmla="*/ 43 w 45"/>
                <a:gd name="T1" fmla="*/ 0 h 45"/>
                <a:gd name="T2" fmla="*/ 13 w 45"/>
                <a:gd name="T3" fmla="*/ 0 h 45"/>
                <a:gd name="T4" fmla="*/ 11 w 45"/>
                <a:gd name="T5" fmla="*/ 2 h 45"/>
                <a:gd name="T6" fmla="*/ 13 w 45"/>
                <a:gd name="T7" fmla="*/ 5 h 45"/>
                <a:gd name="T8" fmla="*/ 37 w 45"/>
                <a:gd name="T9" fmla="*/ 5 h 45"/>
                <a:gd name="T10" fmla="*/ 1 w 45"/>
                <a:gd name="T11" fmla="*/ 41 h 45"/>
                <a:gd name="T12" fmla="*/ 0 w 45"/>
                <a:gd name="T13" fmla="*/ 43 h 45"/>
                <a:gd name="T14" fmla="*/ 1 w 45"/>
                <a:gd name="T15" fmla="*/ 45 h 45"/>
                <a:gd name="T16" fmla="*/ 4 w 45"/>
                <a:gd name="T17" fmla="*/ 45 h 45"/>
                <a:gd name="T18" fmla="*/ 41 w 45"/>
                <a:gd name="T19" fmla="*/ 8 h 45"/>
                <a:gd name="T20" fmla="*/ 41 w 45"/>
                <a:gd name="T21" fmla="*/ 32 h 45"/>
                <a:gd name="T22" fmla="*/ 43 w 45"/>
                <a:gd name="T23" fmla="*/ 34 h 45"/>
                <a:gd name="T24" fmla="*/ 45 w 45"/>
                <a:gd name="T25" fmla="*/ 32 h 45"/>
                <a:gd name="T26" fmla="*/ 45 w 45"/>
                <a:gd name="T27" fmla="*/ 2 h 45"/>
                <a:gd name="T28" fmla="*/ 43 w 45"/>
                <a:gd name="T2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2" y="45"/>
                    <a:pt x="3" y="45"/>
                    <a:pt x="4" y="45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3"/>
                    <a:pt x="42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6" name="Freeform 111">
              <a:extLst>
                <a:ext uri="{FF2B5EF4-FFF2-40B4-BE49-F238E27FC236}">
                  <a16:creationId xmlns:a16="http://schemas.microsoft.com/office/drawing/2014/main" id="{D7911138-6123-AC6F-9237-8F2FF7B17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7303" y="2540004"/>
              <a:ext cx="168275" cy="169863"/>
            </a:xfrm>
            <a:custGeom>
              <a:avLst/>
              <a:gdLst>
                <a:gd name="T0" fmla="*/ 8 w 45"/>
                <a:gd name="T1" fmla="*/ 5 h 45"/>
                <a:gd name="T2" fmla="*/ 32 w 45"/>
                <a:gd name="T3" fmla="*/ 5 h 45"/>
                <a:gd name="T4" fmla="*/ 34 w 45"/>
                <a:gd name="T5" fmla="*/ 2 h 45"/>
                <a:gd name="T6" fmla="*/ 32 w 45"/>
                <a:gd name="T7" fmla="*/ 0 h 45"/>
                <a:gd name="T8" fmla="*/ 2 w 45"/>
                <a:gd name="T9" fmla="*/ 0 h 45"/>
                <a:gd name="T10" fmla="*/ 0 w 45"/>
                <a:gd name="T11" fmla="*/ 2 h 45"/>
                <a:gd name="T12" fmla="*/ 0 w 45"/>
                <a:gd name="T13" fmla="*/ 32 h 45"/>
                <a:gd name="T14" fmla="*/ 2 w 45"/>
                <a:gd name="T15" fmla="*/ 34 h 45"/>
                <a:gd name="T16" fmla="*/ 4 w 45"/>
                <a:gd name="T17" fmla="*/ 32 h 45"/>
                <a:gd name="T18" fmla="*/ 4 w 45"/>
                <a:gd name="T19" fmla="*/ 8 h 45"/>
                <a:gd name="T20" fmla="*/ 41 w 45"/>
                <a:gd name="T21" fmla="*/ 45 h 45"/>
                <a:gd name="T22" fmla="*/ 43 w 45"/>
                <a:gd name="T23" fmla="*/ 45 h 45"/>
                <a:gd name="T24" fmla="*/ 44 w 45"/>
                <a:gd name="T25" fmla="*/ 45 h 45"/>
                <a:gd name="T26" fmla="*/ 44 w 45"/>
                <a:gd name="T27" fmla="*/ 41 h 45"/>
                <a:gd name="T28" fmla="*/ 8 w 45"/>
                <a:gd name="T2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2" y="45"/>
                    <a:pt x="43" y="45"/>
                  </a:cubicBezTo>
                  <a:cubicBezTo>
                    <a:pt x="43" y="45"/>
                    <a:pt x="44" y="45"/>
                    <a:pt x="44" y="45"/>
                  </a:cubicBezTo>
                  <a:cubicBezTo>
                    <a:pt x="45" y="44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7" name="Freeform 112">
              <a:extLst>
                <a:ext uri="{FF2B5EF4-FFF2-40B4-BE49-F238E27FC236}">
                  <a16:creationId xmlns:a16="http://schemas.microsoft.com/office/drawing/2014/main" id="{15874F35-74F3-4DA4-6A7F-02C36D3E6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6152" y="2228854"/>
              <a:ext cx="168275" cy="168275"/>
            </a:xfrm>
            <a:custGeom>
              <a:avLst/>
              <a:gdLst>
                <a:gd name="T0" fmla="*/ 43 w 45"/>
                <a:gd name="T1" fmla="*/ 11 h 45"/>
                <a:gd name="T2" fmla="*/ 41 w 45"/>
                <a:gd name="T3" fmla="*/ 13 h 45"/>
                <a:gd name="T4" fmla="*/ 41 w 45"/>
                <a:gd name="T5" fmla="*/ 38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2 w 45"/>
                <a:gd name="T19" fmla="*/ 41 h 45"/>
                <a:gd name="T20" fmla="*/ 11 w 45"/>
                <a:gd name="T21" fmla="*/ 43 h 45"/>
                <a:gd name="T22" fmla="*/ 13 w 45"/>
                <a:gd name="T23" fmla="*/ 45 h 45"/>
                <a:gd name="T24" fmla="*/ 43 w 45"/>
                <a:gd name="T25" fmla="*/ 45 h 45"/>
                <a:gd name="T26" fmla="*/ 45 w 45"/>
                <a:gd name="T27" fmla="*/ 43 h 45"/>
                <a:gd name="T28" fmla="*/ 45 w 45"/>
                <a:gd name="T29" fmla="*/ 13 h 45"/>
                <a:gd name="T30" fmla="*/ 43 w 45"/>
                <a:gd name="T31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2" y="11"/>
                    <a:pt x="41" y="12"/>
                    <a:pt x="41" y="13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2" y="41"/>
                    <a:pt x="12" y="41"/>
                  </a:cubicBezTo>
                  <a:cubicBezTo>
                    <a:pt x="11" y="42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F12E7EB-953F-E984-1485-C8F4F4196118}"/>
              </a:ext>
            </a:extLst>
          </p:cNvPr>
          <p:cNvGrpSpPr/>
          <p:nvPr/>
        </p:nvGrpSpPr>
        <p:grpSpPr>
          <a:xfrm>
            <a:off x="777648" y="1681295"/>
            <a:ext cx="360000" cy="360000"/>
            <a:chOff x="6334127" y="2228854"/>
            <a:chExt cx="481013" cy="481013"/>
          </a:xfrm>
          <a:solidFill>
            <a:schemeClr val="bg1"/>
          </a:solidFill>
        </p:grpSpPr>
        <p:sp>
          <p:nvSpPr>
            <p:cNvPr id="49" name="Freeform 113">
              <a:extLst>
                <a:ext uri="{FF2B5EF4-FFF2-40B4-BE49-F238E27FC236}">
                  <a16:creationId xmlns:a16="http://schemas.microsoft.com/office/drawing/2014/main" id="{18DA0D95-B7D0-4328-18A8-D5432DA20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0" name="Freeform 114">
              <a:extLst>
                <a:ext uri="{FF2B5EF4-FFF2-40B4-BE49-F238E27FC236}">
                  <a16:creationId xmlns:a16="http://schemas.microsoft.com/office/drawing/2014/main" id="{CEE7F6E5-3D74-4F96-020A-73867B74C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1" name="Freeform 115">
              <a:extLst>
                <a:ext uri="{FF2B5EF4-FFF2-40B4-BE49-F238E27FC236}">
                  <a16:creationId xmlns:a16="http://schemas.microsoft.com/office/drawing/2014/main" id="{B708FC50-D3D1-631E-5C22-C1EB53CCE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2" name="Freeform 116">
              <a:extLst>
                <a:ext uri="{FF2B5EF4-FFF2-40B4-BE49-F238E27FC236}">
                  <a16:creationId xmlns:a16="http://schemas.microsoft.com/office/drawing/2014/main" id="{22C6D487-C810-FBB7-E24D-3C2014813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882368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9EFE8-C0E2-29F5-DFCA-012CBBC6B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F5EF780-54DD-DE85-D731-F95F8CFBF972}"/>
              </a:ext>
            </a:extLst>
          </p:cNvPr>
          <p:cNvSpPr/>
          <p:nvPr/>
        </p:nvSpPr>
        <p:spPr>
          <a:xfrm>
            <a:off x="6083300" y="1333141"/>
            <a:ext cx="5435600" cy="4389376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935E0ACF-3ED7-D311-BB90-645CEBDE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vDSO</a:t>
            </a:r>
            <a:r>
              <a:rPr lang="zh-CN" altLang="en-US" dirty="0"/>
              <a:t>构建与内核装载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8B1B0B-C6B0-15E0-9A3F-36F6A633605B}"/>
              </a:ext>
            </a:extLst>
          </p:cNvPr>
          <p:cNvSpPr/>
          <p:nvPr/>
        </p:nvSpPr>
        <p:spPr>
          <a:xfrm>
            <a:off x="660400" y="1333141"/>
            <a:ext cx="5435600" cy="4389376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A4EFFD05-DFAF-7371-D843-FA79E51CBC52}"/>
              </a:ext>
            </a:extLst>
          </p:cNvPr>
          <p:cNvSpPr/>
          <p:nvPr/>
        </p:nvSpPr>
        <p:spPr>
          <a:xfrm rot="5400000">
            <a:off x="6051370" y="3430202"/>
            <a:ext cx="292707" cy="1951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5B1652-03AE-2467-18F8-A93005C43E0A}"/>
              </a:ext>
            </a:extLst>
          </p:cNvPr>
          <p:cNvSpPr txBox="1"/>
          <p:nvPr/>
        </p:nvSpPr>
        <p:spPr>
          <a:xfrm>
            <a:off x="6674789" y="1745927"/>
            <a:ext cx="3510609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内核装载与映射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2C3947B-42CB-A32B-E754-FBF5EAC62A06}"/>
              </a:ext>
            </a:extLst>
          </p:cNvPr>
          <p:cNvCxnSpPr>
            <a:cxnSpLocks/>
          </p:cNvCxnSpPr>
          <p:nvPr/>
        </p:nvCxnSpPr>
        <p:spPr>
          <a:xfrm>
            <a:off x="6718439" y="2524184"/>
            <a:ext cx="559638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A37E17D-4240-ADDE-A074-52300872D509}"/>
              </a:ext>
            </a:extLst>
          </p:cNvPr>
          <p:cNvSpPr txBox="1"/>
          <p:nvPr/>
        </p:nvSpPr>
        <p:spPr>
          <a:xfrm>
            <a:off x="6295293" y="2852672"/>
            <a:ext cx="5039456" cy="2529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内核实现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API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库提供的</a:t>
            </a: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MemIf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接口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valloc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预留在目标地址空间预留虚存区域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ppage_alloc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分配物理页并封装为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Arc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自动回收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map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建立映射并设置只读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可执行权限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首次加载时调用</a:t>
            </a: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map_so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解析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ELF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、拷贝段数据、完成重定位，后续为其他进程映射时直接复用已加载物理页。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CCF8757-E0D1-DECF-E75E-72BC63D71EC7}"/>
              </a:ext>
            </a:extLst>
          </p:cNvPr>
          <p:cNvSpPr txBox="1"/>
          <p:nvPr/>
        </p:nvSpPr>
        <p:spPr>
          <a:xfrm>
            <a:off x="1137294" y="1745927"/>
            <a:ext cx="3625205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构建与产物生成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89DC80-DB0A-7D9C-3FD3-A64F06CD0019}"/>
              </a:ext>
            </a:extLst>
          </p:cNvPr>
          <p:cNvSpPr txBox="1"/>
          <p:nvPr/>
        </p:nvSpPr>
        <p:spPr>
          <a:xfrm>
            <a:off x="1137295" y="2890713"/>
            <a:ext cx="4572000" cy="3245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spc="300" dirty="0" err="1">
                <a:solidFill>
                  <a:prstClr val="white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vdso_helper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9DCC8DB-CE24-799E-3D5F-91D11EDFCE0A}"/>
              </a:ext>
            </a:extLst>
          </p:cNvPr>
          <p:cNvCxnSpPr>
            <a:cxnSpLocks/>
          </p:cNvCxnSpPr>
          <p:nvPr/>
        </p:nvCxnSpPr>
        <p:spPr>
          <a:xfrm>
            <a:off x="1193644" y="2524184"/>
            <a:ext cx="55963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2E2F220-55C2-CF56-9912-CF99B6BEDE5F}"/>
              </a:ext>
            </a:extLst>
          </p:cNvPr>
          <p:cNvSpPr txBox="1"/>
          <p:nvPr/>
        </p:nvSpPr>
        <p:spPr>
          <a:xfrm>
            <a:off x="1137295" y="3297444"/>
            <a:ext cx="4572000" cy="608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提供</a:t>
            </a: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vvar_data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!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宏声明共享区字段，自动生成访问代码，省去手写偏移计算。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D4B48FF-654F-0740-C921-2C77D9AF095A}"/>
              </a:ext>
            </a:extLst>
          </p:cNvPr>
          <p:cNvSpPr txBox="1"/>
          <p:nvPr/>
        </p:nvSpPr>
        <p:spPr>
          <a:xfrm>
            <a:off x="1137295" y="4206653"/>
            <a:ext cx="4572000" cy="3245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build_vdso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BB19287-4C47-D50F-88EE-5B337CA19257}"/>
              </a:ext>
            </a:extLst>
          </p:cNvPr>
          <p:cNvSpPr txBox="1"/>
          <p:nvPr/>
        </p:nvSpPr>
        <p:spPr>
          <a:xfrm>
            <a:off x="1137295" y="4613384"/>
            <a:ext cx="4572000" cy="928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将</a:t>
            </a: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vdso_impl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编译为位置无关的动态库，同时解析符号表生成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API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库，记录各函数的偏移地址。</a:t>
            </a:r>
          </a:p>
        </p:txBody>
      </p:sp>
    </p:spTree>
    <p:extLst>
      <p:ext uri="{BB962C8B-B14F-4D97-AF65-F5344CB8AC3E}">
        <p14:creationId xmlns:p14="http://schemas.microsoft.com/office/powerpoint/2010/main" val="37862949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61D3F-4D98-ED39-49C3-D8B6C825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F6326-6398-D97E-9ECE-5EB54854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运行时刷新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E3FE11-51A7-0552-2682-439B8B76BA7E}"/>
              </a:ext>
            </a:extLst>
          </p:cNvPr>
          <p:cNvSpPr/>
          <p:nvPr/>
        </p:nvSpPr>
        <p:spPr>
          <a:xfrm>
            <a:off x="660400" y="1026788"/>
            <a:ext cx="10858500" cy="5003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E9464C-38DA-79D6-D37C-E4D4955B552E}"/>
              </a:ext>
            </a:extLst>
          </p:cNvPr>
          <p:cNvSpPr txBox="1"/>
          <p:nvPr/>
        </p:nvSpPr>
        <p:spPr>
          <a:xfrm>
            <a:off x="939764" y="1187549"/>
            <a:ext cx="4079911" cy="2845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内核在时钟中断中以写者身份刷新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vVAR</a:t>
            </a:r>
            <a:endParaRPr lang="en-US" altLang="zh-CN" spc="3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将版本号置奇数表示“写入中”</a:t>
            </a:r>
            <a:endParaRPr kumimoji="0" lang="en-US" altLang="zh-CN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更新时间快照并执行内存屏障</a:t>
            </a:r>
            <a:endParaRPr kumimoji="0" lang="en-US" altLang="zh-CN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置偶数表示完成</a:t>
            </a:r>
            <a:endParaRPr kumimoji="0" lang="en-US" altLang="zh-CN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用户态读者循环读取版本号，仅当前后一致且为偶数时才认定读到一致快照，否则自旋重试。</a:t>
            </a:r>
          </a:p>
        </p:txBody>
      </p:sp>
    </p:spTree>
    <p:extLst>
      <p:ext uri="{BB962C8B-B14F-4D97-AF65-F5344CB8AC3E}">
        <p14:creationId xmlns:p14="http://schemas.microsoft.com/office/powerpoint/2010/main" val="50560749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第三部分 ▷▷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测试与分析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测试设计</a:t>
            </a:r>
            <a:endParaRPr lang="en-US" altLang="zh-CN" dirty="0"/>
          </a:p>
          <a:p>
            <a:r>
              <a:rPr lang="zh-CN" altLang="en-US" dirty="0"/>
              <a:t>功能测试结果</a:t>
            </a:r>
            <a:endParaRPr lang="en-US" altLang="zh-CN" dirty="0"/>
          </a:p>
          <a:p>
            <a:r>
              <a:rPr lang="zh-CN" altLang="en-US" dirty="0"/>
              <a:t>性能测试结果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27804518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1861-EE0A-C3D1-E143-DE1FB52B7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6B9D306C-5A58-D868-2E9A-1DC6725E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测试设计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085683-EA22-4C24-E1D3-504CD48FC36F}"/>
              </a:ext>
            </a:extLst>
          </p:cNvPr>
          <p:cNvSpPr/>
          <p:nvPr/>
        </p:nvSpPr>
        <p:spPr>
          <a:xfrm>
            <a:off x="650875" y="2062369"/>
            <a:ext cx="5246913" cy="39288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50DFD3-74B6-C168-5C37-F6E1A097FA82}"/>
              </a:ext>
            </a:extLst>
          </p:cNvPr>
          <p:cNvSpPr txBox="1"/>
          <p:nvPr/>
        </p:nvSpPr>
        <p:spPr>
          <a:xfrm>
            <a:off x="1127124" y="1217305"/>
            <a:ext cx="10090604" cy="3569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测试设计分为功能测试和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vDSO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性能测试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A9F8C86-AFD6-16BA-5A86-B5DEC2BF7F19}"/>
              </a:ext>
            </a:extLst>
          </p:cNvPr>
          <p:cNvSpPr/>
          <p:nvPr/>
        </p:nvSpPr>
        <p:spPr>
          <a:xfrm>
            <a:off x="2747773" y="2284805"/>
            <a:ext cx="1020741" cy="10207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BAFEA0-7D32-B761-4FBF-77A82A165E7F}"/>
              </a:ext>
            </a:extLst>
          </p:cNvPr>
          <p:cNvSpPr txBox="1"/>
          <p:nvPr/>
        </p:nvSpPr>
        <p:spPr>
          <a:xfrm>
            <a:off x="1946274" y="3428946"/>
            <a:ext cx="2656114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功能测试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228A160-D62A-CCB2-86BB-28285C85B5FB}"/>
              </a:ext>
            </a:extLst>
          </p:cNvPr>
          <p:cNvSpPr txBox="1"/>
          <p:nvPr/>
        </p:nvSpPr>
        <p:spPr>
          <a:xfrm>
            <a:off x="964746" y="4421015"/>
            <a:ext cx="4619170" cy="14046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lvl="0" indent="-34290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zh-CN" spc="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vDSO</a:t>
            </a:r>
            <a:r>
              <a:rPr lang="zh-CN" altLang="en-US" spc="3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与</a:t>
            </a:r>
            <a:r>
              <a:rPr lang="en-US" altLang="zh-CN" spc="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syscall</a:t>
            </a:r>
            <a:r>
              <a:rPr lang="zh-CN" altLang="en-US" spc="3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时间比较</a:t>
            </a:r>
            <a:endParaRPr lang="en-US" altLang="zh-CN" spc="3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marL="342900" lvl="0" indent="-34290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zh-CN" spc="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syscall_all</a:t>
            </a:r>
            <a:r>
              <a:rPr lang="zh-CN" altLang="en-US" spc="3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测试程序（覆盖</a:t>
            </a:r>
            <a:r>
              <a:rPr lang="en-US" altLang="zh-CN" spc="3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7</a:t>
            </a:r>
            <a:r>
              <a:rPr lang="zh-CN" altLang="en-US" spc="3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类系统调用）</a:t>
            </a:r>
            <a:endParaRPr lang="en-US" altLang="zh-CN" spc="3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marL="342900" lvl="0" indent="-34290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zh-CN" altLang="en-US" spc="3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进入交互</a:t>
            </a:r>
            <a:r>
              <a:rPr lang="en-US" altLang="zh-CN" spc="3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shell</a:t>
            </a:r>
            <a:endParaRPr lang="zh-CN" altLang="en-US" spc="3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B2D5F65-2199-897F-20C4-4D21CE90ABEC}"/>
              </a:ext>
            </a:extLst>
          </p:cNvPr>
          <p:cNvSpPr/>
          <p:nvPr/>
        </p:nvSpPr>
        <p:spPr>
          <a:xfrm>
            <a:off x="6275163" y="2062369"/>
            <a:ext cx="5246911" cy="39288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2450FF5-DE2E-430F-C953-141F1B0FD3DD}"/>
              </a:ext>
            </a:extLst>
          </p:cNvPr>
          <p:cNvSpPr/>
          <p:nvPr/>
        </p:nvSpPr>
        <p:spPr>
          <a:xfrm>
            <a:off x="8392716" y="2284805"/>
            <a:ext cx="1020741" cy="10207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4F3AD76-E7B3-4D22-8759-DF3852F21980}"/>
              </a:ext>
            </a:extLst>
          </p:cNvPr>
          <p:cNvSpPr txBox="1"/>
          <p:nvPr/>
        </p:nvSpPr>
        <p:spPr>
          <a:xfrm>
            <a:off x="7459436" y="3428946"/>
            <a:ext cx="2878364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300" normalizeH="0" baseline="0" noProof="0" dirty="0" err="1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性能测试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2F438B6-C7FB-A5F2-AFDA-F0301F8A110A}"/>
              </a:ext>
            </a:extLst>
          </p:cNvPr>
          <p:cNvSpPr txBox="1"/>
          <p:nvPr/>
        </p:nvSpPr>
        <p:spPr>
          <a:xfrm>
            <a:off x="6608084" y="4396112"/>
            <a:ext cx="4619170" cy="10447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/>
              <a:t>窗口法批量调用分摊计时开销，预热</a:t>
            </a:r>
            <a:r>
              <a:rPr lang="en-US" altLang="zh-CN" dirty="0"/>
              <a:t>64</a:t>
            </a:r>
            <a:r>
              <a:rPr lang="zh-CN" altLang="en-US" dirty="0"/>
              <a:t>次稳定缓存，</a:t>
            </a:r>
            <a:r>
              <a:rPr lang="en-US" altLang="zh-CN" dirty="0" err="1"/>
              <a:t>black_box</a:t>
            </a:r>
            <a:r>
              <a:rPr lang="zh-CN" altLang="en-US" dirty="0"/>
              <a:t>防优化，每组重复</a:t>
            </a:r>
            <a:r>
              <a:rPr lang="en-US" altLang="zh-CN" dirty="0"/>
              <a:t>5</a:t>
            </a:r>
            <a:r>
              <a:rPr lang="zh-CN" altLang="en-US" dirty="0"/>
              <a:t>次，单核运行排除干扰。</a:t>
            </a:r>
            <a:endParaRPr lang="zh-CN" altLang="en-US" spc="300" dirty="0">
              <a:solidFill>
                <a:prstClr val="black">
                  <a:lumMod val="85000"/>
                  <a:lumOff val="15000"/>
                </a:prstClr>
              </a:solidFill>
              <a:latin typeface="Century Gothic" panose="020B0502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4772FBE-13E8-DDC4-F608-EC56097D5A59}"/>
              </a:ext>
            </a:extLst>
          </p:cNvPr>
          <p:cNvGrpSpPr/>
          <p:nvPr/>
        </p:nvGrpSpPr>
        <p:grpSpPr>
          <a:xfrm>
            <a:off x="8662580" y="2548807"/>
            <a:ext cx="481013" cy="454026"/>
            <a:chOff x="1528763" y="4175125"/>
            <a:chExt cx="481013" cy="454026"/>
          </a:xfrm>
          <a:solidFill>
            <a:schemeClr val="bg1"/>
          </a:solidFill>
        </p:grpSpPr>
        <p:sp>
          <p:nvSpPr>
            <p:cNvPr id="40" name="Freeform 82">
              <a:extLst>
                <a:ext uri="{FF2B5EF4-FFF2-40B4-BE49-F238E27FC236}">
                  <a16:creationId xmlns:a16="http://schemas.microsoft.com/office/drawing/2014/main" id="{7FCF335F-5D37-5246-EB96-E480ABCE3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75" y="4175125"/>
              <a:ext cx="330200" cy="398463"/>
            </a:xfrm>
            <a:custGeom>
              <a:avLst/>
              <a:gdLst>
                <a:gd name="T0" fmla="*/ 4 w 88"/>
                <a:gd name="T1" fmla="*/ 46 h 106"/>
                <a:gd name="T2" fmla="*/ 42 w 88"/>
                <a:gd name="T3" fmla="*/ 8 h 106"/>
                <a:gd name="T4" fmla="*/ 42 w 88"/>
                <a:gd name="T5" fmla="*/ 104 h 106"/>
                <a:gd name="T6" fmla="*/ 44 w 88"/>
                <a:gd name="T7" fmla="*/ 106 h 106"/>
                <a:gd name="T8" fmla="*/ 46 w 88"/>
                <a:gd name="T9" fmla="*/ 104 h 106"/>
                <a:gd name="T10" fmla="*/ 46 w 88"/>
                <a:gd name="T11" fmla="*/ 8 h 106"/>
                <a:gd name="T12" fmla="*/ 84 w 88"/>
                <a:gd name="T13" fmla="*/ 46 h 106"/>
                <a:gd name="T14" fmla="*/ 88 w 88"/>
                <a:gd name="T15" fmla="*/ 46 h 106"/>
                <a:gd name="T16" fmla="*/ 88 w 88"/>
                <a:gd name="T17" fmla="*/ 43 h 106"/>
                <a:gd name="T18" fmla="*/ 46 w 88"/>
                <a:gd name="T19" fmla="*/ 1 h 106"/>
                <a:gd name="T20" fmla="*/ 42 w 88"/>
                <a:gd name="T21" fmla="*/ 1 h 106"/>
                <a:gd name="T22" fmla="*/ 0 w 88"/>
                <a:gd name="T23" fmla="*/ 43 h 106"/>
                <a:gd name="T24" fmla="*/ 0 w 88"/>
                <a:gd name="T25" fmla="*/ 46 h 106"/>
                <a:gd name="T26" fmla="*/ 4 w 88"/>
                <a:gd name="T27" fmla="*/ 4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106">
                  <a:moveTo>
                    <a:pt x="4" y="46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5"/>
                    <a:pt x="43" y="106"/>
                    <a:pt x="44" y="106"/>
                  </a:cubicBezTo>
                  <a:cubicBezTo>
                    <a:pt x="45" y="106"/>
                    <a:pt x="46" y="105"/>
                    <a:pt x="46" y="104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5" y="47"/>
                    <a:pt x="87" y="47"/>
                    <a:pt x="88" y="46"/>
                  </a:cubicBezTo>
                  <a:cubicBezTo>
                    <a:pt x="88" y="45"/>
                    <a:pt x="88" y="44"/>
                    <a:pt x="88" y="43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5" y="0"/>
                    <a:pt x="43" y="0"/>
                    <a:pt x="42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5"/>
                    <a:pt x="0" y="46"/>
                  </a:cubicBezTo>
                  <a:cubicBezTo>
                    <a:pt x="1" y="47"/>
                    <a:pt x="3" y="47"/>
                    <a:pt x="4" y="4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1" name="Freeform 83">
              <a:extLst>
                <a:ext uri="{FF2B5EF4-FFF2-40B4-BE49-F238E27FC236}">
                  <a16:creationId xmlns:a16="http://schemas.microsoft.com/office/drawing/2014/main" id="{254946E4-7FD3-D530-B313-174E400A6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3" y="4557713"/>
              <a:ext cx="481013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29060D5-0D7A-5C21-2810-649CDBC5F42C}"/>
              </a:ext>
            </a:extLst>
          </p:cNvPr>
          <p:cNvGrpSpPr/>
          <p:nvPr/>
        </p:nvGrpSpPr>
        <p:grpSpPr>
          <a:xfrm>
            <a:off x="3018431" y="2600412"/>
            <a:ext cx="479425" cy="454026"/>
            <a:chOff x="568325" y="4175125"/>
            <a:chExt cx="479425" cy="454026"/>
          </a:xfrm>
          <a:solidFill>
            <a:schemeClr val="bg1"/>
          </a:solidFill>
        </p:grpSpPr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DD18DF98-2626-FD7C-876B-0689B5974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38" y="4175125"/>
              <a:ext cx="330200" cy="398463"/>
            </a:xfrm>
            <a:custGeom>
              <a:avLst/>
              <a:gdLst>
                <a:gd name="T0" fmla="*/ 42 w 88"/>
                <a:gd name="T1" fmla="*/ 105 h 106"/>
                <a:gd name="T2" fmla="*/ 46 w 88"/>
                <a:gd name="T3" fmla="*/ 105 h 106"/>
                <a:gd name="T4" fmla="*/ 88 w 88"/>
                <a:gd name="T5" fmla="*/ 63 h 106"/>
                <a:gd name="T6" fmla="*/ 88 w 88"/>
                <a:gd name="T7" fmla="*/ 62 h 106"/>
                <a:gd name="T8" fmla="*/ 88 w 88"/>
                <a:gd name="T9" fmla="*/ 60 h 106"/>
                <a:gd name="T10" fmla="*/ 84 w 88"/>
                <a:gd name="T11" fmla="*/ 60 h 106"/>
                <a:gd name="T12" fmla="*/ 46 w 88"/>
                <a:gd name="T13" fmla="*/ 98 h 106"/>
                <a:gd name="T14" fmla="*/ 46 w 88"/>
                <a:gd name="T15" fmla="*/ 3 h 106"/>
                <a:gd name="T16" fmla="*/ 44 w 88"/>
                <a:gd name="T17" fmla="*/ 0 h 106"/>
                <a:gd name="T18" fmla="*/ 42 w 88"/>
                <a:gd name="T19" fmla="*/ 3 h 106"/>
                <a:gd name="T20" fmla="*/ 42 w 88"/>
                <a:gd name="T21" fmla="*/ 98 h 106"/>
                <a:gd name="T22" fmla="*/ 4 w 88"/>
                <a:gd name="T23" fmla="*/ 60 h 106"/>
                <a:gd name="T24" fmla="*/ 2 w 88"/>
                <a:gd name="T25" fmla="*/ 60 h 106"/>
                <a:gd name="T26" fmla="*/ 0 w 88"/>
                <a:gd name="T27" fmla="*/ 60 h 106"/>
                <a:gd name="T28" fmla="*/ 0 w 88"/>
                <a:gd name="T29" fmla="*/ 62 h 106"/>
                <a:gd name="T30" fmla="*/ 0 w 88"/>
                <a:gd name="T31" fmla="*/ 63 h 106"/>
                <a:gd name="T32" fmla="*/ 42 w 88"/>
                <a:gd name="T33" fmla="*/ 10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106">
                  <a:moveTo>
                    <a:pt x="42" y="105"/>
                  </a:moveTo>
                  <a:cubicBezTo>
                    <a:pt x="43" y="106"/>
                    <a:pt x="45" y="106"/>
                    <a:pt x="46" y="105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88" y="63"/>
                    <a:pt x="88" y="62"/>
                    <a:pt x="88" y="62"/>
                  </a:cubicBezTo>
                  <a:cubicBezTo>
                    <a:pt x="88" y="61"/>
                    <a:pt x="88" y="61"/>
                    <a:pt x="88" y="60"/>
                  </a:cubicBezTo>
                  <a:cubicBezTo>
                    <a:pt x="87" y="59"/>
                    <a:pt x="85" y="59"/>
                    <a:pt x="84" y="60"/>
                  </a:cubicBezTo>
                  <a:cubicBezTo>
                    <a:pt x="46" y="98"/>
                    <a:pt x="46" y="98"/>
                    <a:pt x="46" y="98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43" y="0"/>
                    <a:pt x="42" y="1"/>
                    <a:pt x="42" y="3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3" y="60"/>
                    <a:pt x="3" y="60"/>
                    <a:pt x="2" y="60"/>
                  </a:cubicBezTo>
                  <a:cubicBezTo>
                    <a:pt x="1" y="60"/>
                    <a:pt x="1" y="60"/>
                    <a:pt x="0" y="60"/>
                  </a:cubicBezTo>
                  <a:cubicBezTo>
                    <a:pt x="0" y="61"/>
                    <a:pt x="0" y="61"/>
                    <a:pt x="0" y="62"/>
                  </a:cubicBezTo>
                  <a:cubicBezTo>
                    <a:pt x="0" y="62"/>
                    <a:pt x="0" y="63"/>
                    <a:pt x="0" y="63"/>
                  </a:cubicBezTo>
                  <a:lnTo>
                    <a:pt x="42" y="10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4" name="Freeform 85">
              <a:extLst>
                <a:ext uri="{FF2B5EF4-FFF2-40B4-BE49-F238E27FC236}">
                  <a16:creationId xmlns:a16="http://schemas.microsoft.com/office/drawing/2014/main" id="{4B298F49-DEDC-AAB2-AAED-62CA9B84B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325" y="4557713"/>
              <a:ext cx="479425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331644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7876-6AB3-4F13-E214-B10A6C1E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2F2EE-0AFA-B7C6-0B0F-B4164328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功能测试结果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F3A2747-2934-8CB1-094D-E9BE28C75141}"/>
              </a:ext>
            </a:extLst>
          </p:cNvPr>
          <p:cNvGrpSpPr/>
          <p:nvPr/>
        </p:nvGrpSpPr>
        <p:grpSpPr>
          <a:xfrm>
            <a:off x="442913" y="1920212"/>
            <a:ext cx="11306175" cy="3224349"/>
            <a:chOff x="1407886" y="2946399"/>
            <a:chExt cx="3715657" cy="322434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6AAFE4B-803C-6D8D-87E2-59063A278F10}"/>
                </a:ext>
              </a:extLst>
            </p:cNvPr>
            <p:cNvSpPr/>
            <p:nvPr/>
          </p:nvSpPr>
          <p:spPr>
            <a:xfrm>
              <a:off x="1407886" y="2946399"/>
              <a:ext cx="3715657" cy="31786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6661505-B2D4-6A57-3A01-21FA918FCFD7}"/>
                </a:ext>
              </a:extLst>
            </p:cNvPr>
            <p:cNvSpPr/>
            <p:nvPr/>
          </p:nvSpPr>
          <p:spPr>
            <a:xfrm>
              <a:off x="1407886" y="6125029"/>
              <a:ext cx="3715657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E24C7D7C-99BC-915F-0A28-9B48D64045E1}"/>
              </a:ext>
            </a:extLst>
          </p:cNvPr>
          <p:cNvSpPr txBox="1"/>
          <p:nvPr/>
        </p:nvSpPr>
        <p:spPr>
          <a:xfrm>
            <a:off x="1155737" y="2980228"/>
            <a:ext cx="4698963" cy="1782916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pc="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右侧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图展示了系统从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Multiboot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引导成功，完成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个域注册加载，用户态测试程序全部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PASS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，最终进入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Alien:/#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交互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shell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。初步验证功能正确。</a:t>
            </a:r>
          </a:p>
        </p:txBody>
      </p:sp>
      <p:sp>
        <p:nvSpPr>
          <p:cNvPr id="18" name="矩形: 圆角 93">
            <a:extLst>
              <a:ext uri="{FF2B5EF4-FFF2-40B4-BE49-F238E27FC236}">
                <a16:creationId xmlns:a16="http://schemas.microsoft.com/office/drawing/2014/main" id="{7DB90B7E-C79D-522F-2F59-9E2D5ABC265F}"/>
              </a:ext>
            </a:extLst>
          </p:cNvPr>
          <p:cNvSpPr/>
          <p:nvPr/>
        </p:nvSpPr>
        <p:spPr>
          <a:xfrm>
            <a:off x="1233716" y="2563093"/>
            <a:ext cx="3032502" cy="54375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/>
                <a:ea typeface="微软雅黑"/>
                <a:sym typeface="Wingdings 3" panose="05040102010807070707" pitchFamily="18" charset="2"/>
              </a:rPr>
              <a:t>输出节选片段</a:t>
            </a:r>
            <a:r>
              <a:rPr kumimoji="0" lang="zh-CN" altLang="en-US" sz="24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Wingdings 3" panose="05040102010807070707" pitchFamily="18" charset="2"/>
              </a:rPr>
              <a:t>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802F33-61BE-82C6-2E9F-B6D914C23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722" y="2374411"/>
            <a:ext cx="7856365" cy="65722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37831E-5F32-477B-9BFF-33F5B3692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76" y="3165336"/>
            <a:ext cx="2412593" cy="222772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0EF568-4C97-908F-AEB8-375682669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944" y="1063170"/>
            <a:ext cx="4004546" cy="106356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378505677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F6CC2-E512-7394-A898-41FC2AEE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CA690-7CE2-E48A-58F4-FE9EDD94B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性能测试结果</a:t>
            </a:r>
          </a:p>
        </p:txBody>
      </p:sp>
      <p:graphicFrame>
        <p:nvGraphicFramePr>
          <p:cNvPr id="121" name="表格 120">
            <a:extLst>
              <a:ext uri="{FF2B5EF4-FFF2-40B4-BE49-F238E27FC236}">
                <a16:creationId xmlns:a16="http://schemas.microsoft.com/office/drawing/2014/main" id="{9CFAA7CC-C745-A191-45FB-3D7F97538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458201"/>
              </p:ext>
            </p:extLst>
          </p:nvPr>
        </p:nvGraphicFramePr>
        <p:xfrm>
          <a:off x="1344244" y="1349013"/>
          <a:ext cx="6256705" cy="462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8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701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样本数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vDSO</a:t>
                      </a:r>
                      <a:r>
                        <a:rPr lang="zh-CN" alt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平均</a:t>
                      </a:r>
                      <a:r>
                        <a:rPr lang="en-US" altLang="zh-CN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ns)</a:t>
                      </a:r>
                    </a:p>
                  </a:txBody>
                  <a:tcPr marL="121920" marR="121920" marT="76200" marB="76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raw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syscall</a:t>
                      </a:r>
                      <a:r>
                        <a:rPr lang="zh-CN" alt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平均</a:t>
                      </a:r>
                      <a:r>
                        <a:rPr lang="en-US" altLang="zh-CN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ns)</a:t>
                      </a:r>
                    </a:p>
                  </a:txBody>
                  <a:tcPr marL="121920" marR="121920" marT="76200" marB="76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加速比</a:t>
                      </a:r>
                    </a:p>
                  </a:txBody>
                  <a:tcPr marL="121920" marR="121920" marT="76200" marB="76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64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1327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38860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29.3x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128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511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35357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69.2x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256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363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37914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104.5x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512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282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36551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129.6x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1024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286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45534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159.2x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22571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1B3F39D-67F8-2269-D773-7EFFE4A4DF3C}"/>
              </a:ext>
            </a:extLst>
          </p:cNvPr>
          <p:cNvSpPr txBox="1"/>
          <p:nvPr/>
        </p:nvSpPr>
        <p:spPr>
          <a:xfrm>
            <a:off x="8209330" y="2180128"/>
            <a:ext cx="2990851" cy="3449147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pc="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/>
              <a:t>左图显示，</a:t>
            </a:r>
            <a:r>
              <a:rPr lang="en-US" altLang="zh-CN" dirty="0" err="1"/>
              <a:t>vDSO</a:t>
            </a:r>
            <a:r>
              <a:rPr lang="zh-CN" altLang="en-US" dirty="0"/>
              <a:t>比传统系统调用快两个数量级。以</a:t>
            </a:r>
            <a:r>
              <a:rPr lang="en-US" altLang="zh-CN" dirty="0"/>
              <a:t>1024</a:t>
            </a:r>
            <a:r>
              <a:rPr lang="zh-CN" altLang="en-US" dirty="0"/>
              <a:t>次测试为例，</a:t>
            </a:r>
            <a:r>
              <a:rPr lang="en-US" altLang="zh-CN" dirty="0" err="1"/>
              <a:t>vDSO</a:t>
            </a:r>
            <a:r>
              <a:rPr lang="zh-CN" altLang="en-US" dirty="0"/>
              <a:t>仅需</a:t>
            </a:r>
            <a:r>
              <a:rPr lang="en-US" altLang="zh-CN" dirty="0"/>
              <a:t>286</a:t>
            </a:r>
            <a:r>
              <a:rPr lang="zh-CN" altLang="en-US" dirty="0"/>
              <a:t>纳秒，而系统调用需要</a:t>
            </a:r>
            <a:r>
              <a:rPr lang="en-US" altLang="zh-CN" dirty="0"/>
              <a:t>45534</a:t>
            </a:r>
            <a:r>
              <a:rPr lang="zh-CN" altLang="en-US" dirty="0"/>
              <a:t>纳秒，加速近</a:t>
            </a:r>
            <a:r>
              <a:rPr lang="en-US" altLang="zh-CN" dirty="0"/>
              <a:t>160</a:t>
            </a:r>
            <a:r>
              <a:rPr lang="zh-CN" altLang="en-US" dirty="0"/>
              <a:t>倍，开销降低</a:t>
            </a:r>
            <a:r>
              <a:rPr lang="en-US" altLang="zh-CN" dirty="0"/>
              <a:t>99%</a:t>
            </a:r>
            <a:r>
              <a:rPr lang="zh-CN" altLang="en-US" dirty="0"/>
              <a:t>以上。</a:t>
            </a:r>
            <a:endParaRPr kumimoji="0" lang="zh-CN" altLang="en-US" sz="18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909321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第四部分 ▷▷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总结与展望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lang="en-US" altLang="zh-CN" dirty="0"/>
          </a:p>
          <a:p>
            <a:r>
              <a:rPr lang="zh-CN" altLang="en-US" dirty="0"/>
              <a:t>未来的改进方向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070842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D51D7-C53E-A4CC-82D7-19BFD47C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E88155A1-1067-F0A3-622A-730619A7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一段文字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325120FE-4E96-AD8A-A8F6-701E727A8285}"/>
              </a:ext>
            </a:extLst>
          </p:cNvPr>
          <p:cNvSpPr txBox="1">
            <a:spLocks/>
          </p:cNvSpPr>
          <p:nvPr/>
        </p:nvSpPr>
        <p:spPr>
          <a:xfrm>
            <a:off x="1539631" y="1466851"/>
            <a:ext cx="9100038" cy="40862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本工作针对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Alien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内核仅支持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RISC-V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平台且高频系统调用开销高的问题，完成了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全链路移植与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集成，实现了引导、内存管理、中断适配及设备探测，提炼了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VSpace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Trap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分发等跨架构抽象，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使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clock_gettime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延迟降至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286ns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，加速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159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倍。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后续需要进一步进行：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将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vsched2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协作调度融入域生命周期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引入用户态中断以缩短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I/O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延迟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在真实物理硬件上完成部署与长期验证</a:t>
            </a:r>
          </a:p>
        </p:txBody>
      </p:sp>
      <p:sp>
        <p:nvSpPr>
          <p:cNvPr id="12" name="半闭框 11">
            <a:extLst>
              <a:ext uri="{FF2B5EF4-FFF2-40B4-BE49-F238E27FC236}">
                <a16:creationId xmlns:a16="http://schemas.microsoft.com/office/drawing/2014/main" id="{C581E25D-96A2-EF1C-353E-C9B4C3C7B50F}"/>
              </a:ext>
            </a:extLst>
          </p:cNvPr>
          <p:cNvSpPr/>
          <p:nvPr/>
        </p:nvSpPr>
        <p:spPr>
          <a:xfrm>
            <a:off x="1058985" y="1304926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半闭框 12">
            <a:extLst>
              <a:ext uri="{FF2B5EF4-FFF2-40B4-BE49-F238E27FC236}">
                <a16:creationId xmlns:a16="http://schemas.microsoft.com/office/drawing/2014/main" id="{91D2F8C0-02A1-7406-BC13-2D2D86150731}"/>
              </a:ext>
            </a:extLst>
          </p:cNvPr>
          <p:cNvSpPr/>
          <p:nvPr/>
        </p:nvSpPr>
        <p:spPr>
          <a:xfrm flipH="1" flipV="1">
            <a:off x="10652369" y="5481134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094484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453CE20-6C14-4C4C-84F7-26422658A810}"/>
              </a:ext>
            </a:extLst>
          </p:cNvPr>
          <p:cNvSpPr txBox="1">
            <a:spLocks/>
          </p:cNvSpPr>
          <p:nvPr/>
        </p:nvSpPr>
        <p:spPr>
          <a:xfrm>
            <a:off x="803276" y="4611630"/>
            <a:ext cx="10585448" cy="892503"/>
          </a:xfrm>
          <a:prstGeom prst="rect">
            <a:avLst/>
          </a:prstGeom>
        </p:spPr>
        <p:txBody>
          <a:bodyPr tIns="0" bIns="0" anchor="ctr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感谢老师的悉心指导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31FADC7-207E-7B4E-8BBD-42F82FE1F818}"/>
              </a:ext>
            </a:extLst>
          </p:cNvPr>
          <p:cNvSpPr txBox="1">
            <a:spLocks/>
          </p:cNvSpPr>
          <p:nvPr/>
        </p:nvSpPr>
        <p:spPr>
          <a:xfrm>
            <a:off x="803276" y="5297168"/>
            <a:ext cx="10585448" cy="508452"/>
          </a:xfrm>
          <a:prstGeom prst="rect">
            <a:avLst/>
          </a:prstGeom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34084798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封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2654</TotalTime>
  <Words>1334</Words>
  <Application>Microsoft Office PowerPoint</Application>
  <PresentationFormat>宽屏</PresentationFormat>
  <Paragraphs>162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quote-cjk-patch</vt:lpstr>
      <vt:lpstr>等线</vt:lpstr>
      <vt:lpstr>微软雅黑</vt:lpstr>
      <vt:lpstr>微软雅黑 Light</vt:lpstr>
      <vt:lpstr>Arial</vt:lpstr>
      <vt:lpstr>Century Gothic</vt:lpstr>
      <vt:lpstr>Wingdings</vt:lpstr>
      <vt:lpstr>封6​​</vt:lpstr>
      <vt:lpstr>目6​​</vt:lpstr>
      <vt:lpstr>内页​​</vt:lpstr>
      <vt:lpstr>PowerPoint 演示文稿</vt:lpstr>
      <vt:lpstr>论文情况</vt:lpstr>
      <vt:lpstr>PowerPoint 演示文稿</vt:lpstr>
      <vt:lpstr>PowerPoint 演示文稿</vt:lpstr>
      <vt:lpstr>内核面临的问题</vt:lpstr>
      <vt:lpstr>现有工作</vt:lpstr>
      <vt:lpstr>研究工作与意义</vt:lpstr>
      <vt:lpstr>PowerPoint 演示文稿</vt:lpstr>
      <vt:lpstr>平台无关初始化路径</vt:lpstr>
      <vt:lpstr>x86_64移植——引导与内存管理</vt:lpstr>
      <vt:lpstr>x86_64移植——中断适配与设备探测</vt:lpstr>
      <vt:lpstr>vDSO构建与内核装载</vt:lpstr>
      <vt:lpstr>运行时刷新</vt:lpstr>
      <vt:lpstr>PowerPoint 演示文稿</vt:lpstr>
      <vt:lpstr>测试设计</vt:lpstr>
      <vt:lpstr>功能测试结果</vt:lpstr>
      <vt:lpstr>性能测试结果</vt:lpstr>
      <vt:lpstr>PowerPoint 演示文稿</vt:lpstr>
      <vt:lpstr>一段文字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h</dc:creator>
  <cp:lastModifiedBy>jc h</cp:lastModifiedBy>
  <cp:revision>181</cp:revision>
  <dcterms:created xsi:type="dcterms:W3CDTF">2026-05-22T15:55:10Z</dcterms:created>
  <dcterms:modified xsi:type="dcterms:W3CDTF">2026-05-25T01:07:14Z</dcterms:modified>
</cp:coreProperties>
</file>
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63" r:id="rId2"/>
    <p:sldMasterId id="2147483666" r:id="rId3"/>
  </p:sldMasterIdLst>
  <p:notesMasterIdLst>
    <p:notesMasterId r:id="rId26"/>
  </p:notesMasterIdLst>
  <p:sldIdLst>
    <p:sldId id="1838" r:id="rId4"/>
    <p:sldId id="3147" r:id="rId5"/>
    <p:sldId id="2164" r:id="rId6"/>
    <p:sldId id="2165" r:id="rId7"/>
    <p:sldId id="3133" r:id="rId8"/>
    <p:sldId id="3134" r:id="rId9"/>
    <p:sldId id="3135" r:id="rId10"/>
    <p:sldId id="2166" r:id="rId11"/>
    <p:sldId id="3136" r:id="rId12"/>
    <p:sldId id="3151" r:id="rId13"/>
    <p:sldId id="3152" r:id="rId14"/>
    <p:sldId id="3153" r:id="rId15"/>
    <p:sldId id="3154" r:id="rId16"/>
    <p:sldId id="3140" r:id="rId17"/>
    <p:sldId id="3141" r:id="rId18"/>
    <p:sldId id="2167" r:id="rId19"/>
    <p:sldId id="3143" r:id="rId20"/>
    <p:sldId id="3144" r:id="rId21"/>
    <p:sldId id="3145" r:id="rId22"/>
    <p:sldId id="2168" r:id="rId23"/>
    <p:sldId id="3146" r:id="rId24"/>
    <p:sldId id="1839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8DCE6FC-EE29-453D-99F8-71FC1C2897E7}">
          <p14:sldIdLst>
            <p14:sldId id="1838"/>
            <p14:sldId id="3147"/>
            <p14:sldId id="2164"/>
            <p14:sldId id="2165"/>
            <p14:sldId id="3133"/>
            <p14:sldId id="3134"/>
            <p14:sldId id="3135"/>
            <p14:sldId id="2166"/>
            <p14:sldId id="3136"/>
            <p14:sldId id="3151"/>
            <p14:sldId id="3152"/>
            <p14:sldId id="3153"/>
            <p14:sldId id="3154"/>
            <p14:sldId id="3140"/>
            <p14:sldId id="3141"/>
            <p14:sldId id="2167"/>
            <p14:sldId id="3143"/>
            <p14:sldId id="3144"/>
            <p14:sldId id="3145"/>
            <p14:sldId id="2168"/>
            <p14:sldId id="3146"/>
            <p14:sldId id="183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4660"/>
  </p:normalViewPr>
  <p:slideViewPr>
    <p:cSldViewPr snapToGrid="0">
      <p:cViewPr varScale="1">
        <p:scale>
          <a:sx n="80" d="100"/>
          <a:sy n="80" d="100"/>
        </p:scale>
        <p:origin x="76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CCE74-EAF3-4673-B3D1-7DAF4AE924DE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A4951-8EDB-4B70-90FA-D9BA998251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235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6691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EB51B-0BA7-8411-06C8-948808518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2F6636-17D4-9BC6-4E4F-557CEE755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0941EE-5FA8-2868-6B8E-1BE45512E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C98612-CC0B-CEB2-1FF1-76F38F14AA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1711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1721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5E0327-7505-46D6-B9D9-ADE53B78703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027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C0402-FF4A-C732-081D-C09AAFE89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642E98-7686-41F5-9D4D-EA2D582A1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B71264-AFD3-898F-EB87-4F9C97FBD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91DD59-C318-2B12-7AE7-53936CB1B6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062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F7CCC-C3EA-A781-BED7-A43874AE8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37F973-8FD9-1A04-376E-9764E58185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89FA5C-164B-32F0-1383-1F13E89EF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8B200E-AE13-8128-4E74-45E7E99AEE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6788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6EBBD-22A7-3DCE-68E0-F473873AD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596697-4F72-264C-7ECF-6396CA498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EFE86-82FD-F1F4-BA74-484B328AB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C22A2E-70EB-2555-911B-84B6D8C0E6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2037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5E0327-7505-46D6-B9D9-ADE53B78703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9090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FC132-1AE4-73C0-D98C-532BF722F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2B6A56C-77BA-D8EF-5BD7-43B96F374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9CD69C-2A11-E22A-1AF5-4F9213505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CAE2A7-2360-FC6F-F9CE-B7A9194143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18262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A822A-48D5-2292-A6BD-6F379BF78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D8C04C-BC0D-3FA5-736C-5FE98737D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FDDB10-1448-F795-5071-D918AEF01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B1894F-23D4-6F00-71FB-F1B7FE69CD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84037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2AF00-AEEC-1213-4D05-F5CAC180C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C9E483-AEEB-A2F4-FDBE-B7E13133B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9E6FA7-B012-731D-CAF1-BA9FFDB19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9FF372-658D-4D60-E56B-CD724865D1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00424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38C3E-0E56-F1CE-6F9B-26319F1E7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03D606-365F-66CF-BB05-F87BE444D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CF0C1E-B3DF-502C-C258-6D8DB7E65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29BD64-F1E7-3E29-1C15-8888060532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49364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2A65F-A94F-A308-3DA9-485048612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D3E45B-9C68-1970-D3B9-AECFAC483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2FC88D1-B5D5-AFC0-E5EF-8510FD0C2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8BCDF5-C116-361D-CCD4-967910AD6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24458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E6CDC-58C5-CC5F-8042-9ECCB70CA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68A8FA-C643-BF5E-8308-5C55504A7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F8C666-DA52-0BD4-D447-20ED88B70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1A4F23-EBB8-30DC-7F6C-6CBC7D31AE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04567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36862-B8C7-2D6C-9A09-63263A84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865DA9-5A43-736B-2D71-E4F71E6E0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65BB84-C881-C70A-F547-935D360C1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ED955B-7996-99CD-CA6C-1B93873C6C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04575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5E0327-7505-46D6-B9D9-ADE53B78703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17397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0A742-E89E-3832-33B7-CA95D11B3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CDC602-E31E-E229-627F-C1ACAD59A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55EF3D-E309-55F3-3B72-4224D618B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97B883-17B4-692D-032C-808BF01883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3698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B9D8C-04B0-8862-DB0A-DFD180146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23E240E-6EC8-0FB6-39C2-1F10F63E4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7261CE-493F-D46D-D2D7-FEBAF261E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693FBD-A78E-4E9C-E1B1-EF0981AA6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79144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0C8B7-F278-4A7E-4DB9-EDA5D3A7A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804140-E845-DB0D-E79E-BFCDFB953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800D515-5BC3-CED5-7A2A-4BE5A7316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66FE6A-B677-BE43-4140-9E6578D5BB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70977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5E0327-7505-46D6-B9D9-ADE53B78703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07404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F303E-38BA-0FD1-27DC-79EF4A7B0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338178-08A3-D6FF-3208-270DE6736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DBAC43-1E5F-264F-9511-BF9B76301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25C2BB-94DA-600D-DCAA-DD149356B4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17429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0937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24"/>
            <a:ext cx="12193057" cy="3633531"/>
          </a:xfrm>
          <a:prstGeom prst="rect">
            <a:avLst/>
          </a:prstGeom>
        </p:spPr>
      </p:pic>
      <p:sp>
        <p:nvSpPr>
          <p:cNvPr id="37" name="任意形状 36">
            <a:extLst>
              <a:ext uri="{FF2B5EF4-FFF2-40B4-BE49-F238E27FC236}">
                <a16:creationId xmlns:a16="http://schemas.microsoft.com/office/drawing/2014/main" id="{094E4669-55C5-874C-A68C-6E431CC09A50}"/>
              </a:ext>
            </a:extLst>
          </p:cNvPr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52274E9-6CD8-164F-A448-48D8BF6118A2}"/>
              </a:ext>
            </a:extLst>
          </p:cNvPr>
          <p:cNvSpPr/>
          <p:nvPr userDrawn="1"/>
        </p:nvSpPr>
        <p:spPr>
          <a:xfrm>
            <a:off x="0" y="0"/>
            <a:ext cx="12192000" cy="1632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2191" y="3048198"/>
            <a:ext cx="1193467" cy="1192626"/>
          </a:xfrm>
          <a:prstGeom prst="rect">
            <a:avLst/>
          </a:prstGeom>
        </p:spPr>
      </p:pic>
      <p:sp>
        <p:nvSpPr>
          <p:cNvPr id="43" name="文本框 42"/>
          <p:cNvSpPr txBox="1"/>
          <p:nvPr userDrawn="1"/>
        </p:nvSpPr>
        <p:spPr>
          <a:xfrm>
            <a:off x="150844" y="617414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BIT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|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SINCE 1940</a:t>
            </a:r>
            <a:endParaRPr kumimoji="0" lang="zh-CN" altLang="en-US" sz="1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10272478" y="6396638"/>
            <a:ext cx="1629576" cy="198576"/>
            <a:chOff x="10272478" y="6308389"/>
            <a:chExt cx="1629576" cy="198576"/>
          </a:xfrm>
        </p:grpSpPr>
        <p:grpSp>
          <p:nvGrpSpPr>
            <p:cNvPr id="32" name="组合 31"/>
            <p:cNvGrpSpPr/>
            <p:nvPr userDrawn="1"/>
          </p:nvGrpSpPr>
          <p:grpSpPr>
            <a:xfrm>
              <a:off x="11216726" y="6310650"/>
              <a:ext cx="685328" cy="194486"/>
              <a:chOff x="2373567" y="1096524"/>
              <a:chExt cx="2578404" cy="731714"/>
            </a:xfrm>
          </p:grpSpPr>
          <p:sp>
            <p:nvSpPr>
              <p:cNvPr id="7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6" y="1229886"/>
                <a:ext cx="331665" cy="499208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8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7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33" name="组合 32"/>
            <p:cNvGrpSpPr/>
            <p:nvPr userDrawn="1"/>
          </p:nvGrpSpPr>
          <p:grpSpPr>
            <a:xfrm>
              <a:off x="10272478" y="6308389"/>
              <a:ext cx="716480" cy="198576"/>
              <a:chOff x="2372715" y="161759"/>
              <a:chExt cx="2695608" cy="747103"/>
            </a:xfrm>
          </p:grpSpPr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7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7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6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38" name="组合 37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39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0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89098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063" r="32938"/>
          <a:stretch/>
        </p:blipFill>
        <p:spPr>
          <a:xfrm>
            <a:off x="0" y="0"/>
            <a:ext cx="3914775" cy="685799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79F2EAE9-B638-4AA2-8264-4D37EBBEE86D}"/>
              </a:ext>
            </a:extLst>
          </p:cNvPr>
          <p:cNvSpPr/>
          <p:nvPr userDrawn="1"/>
        </p:nvSpPr>
        <p:spPr>
          <a:xfrm>
            <a:off x="0" y="1"/>
            <a:ext cx="3914775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FF6BFE1-1DD5-454F-BE20-A55DAB22A652}"/>
              </a:ext>
            </a:extLst>
          </p:cNvPr>
          <p:cNvSpPr/>
          <p:nvPr userDrawn="1"/>
        </p:nvSpPr>
        <p:spPr>
          <a:xfrm>
            <a:off x="0" y="0"/>
            <a:ext cx="3914774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14117E2-1B64-4454-AB72-FC04D0614552}"/>
              </a:ext>
            </a:extLst>
          </p:cNvPr>
          <p:cNvCxnSpPr>
            <a:cxnSpLocks/>
          </p:cNvCxnSpPr>
          <p:nvPr userDrawn="1"/>
        </p:nvCxnSpPr>
        <p:spPr>
          <a:xfrm>
            <a:off x="396045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C6CB049-19D4-44DA-8BA3-2A55CACC560A}"/>
              </a:ext>
            </a:extLst>
          </p:cNvPr>
          <p:cNvGrpSpPr/>
          <p:nvPr userDrawn="1"/>
        </p:nvGrpSpPr>
        <p:grpSpPr>
          <a:xfrm>
            <a:off x="3961505" y="2797003"/>
            <a:ext cx="122686" cy="1263995"/>
            <a:chOff x="4630742" y="2258287"/>
            <a:chExt cx="122686" cy="1263995"/>
          </a:xfrm>
          <a:solidFill>
            <a:schemeClr val="accent4"/>
          </a:solidFill>
        </p:grpSpPr>
        <p:sp>
          <p:nvSpPr>
            <p:cNvPr id="22" name="等腰三角形 21">
              <a:extLst>
                <a:ext uri="{FF2B5EF4-FFF2-40B4-BE49-F238E27FC236}">
                  <a16:creationId xmlns:a16="http://schemas.microsoft.com/office/drawing/2014/main" id="{8AAB1992-5EF7-487C-AD2A-01E2865C7E72}"/>
                </a:ext>
              </a:extLst>
            </p:cNvPr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E8C48E93-E5B1-4737-8427-44C095BEBB9E}"/>
                </a:ext>
              </a:extLst>
            </p:cNvPr>
            <p:cNvCxnSpPr>
              <a:cxnSpLocks/>
            </p:cNvCxnSpPr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88499905-D7C1-4B31-8F42-54B3A36F0B1E}"/>
              </a:ext>
            </a:extLst>
          </p:cNvPr>
          <p:cNvCxnSpPr>
            <a:cxnSpLocks/>
          </p:cNvCxnSpPr>
          <p:nvPr userDrawn="1"/>
        </p:nvCxnSpPr>
        <p:spPr>
          <a:xfrm>
            <a:off x="1053541" y="2793542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F1DFE5ED-5D7B-4B26-99EA-A40BED7DC14E}"/>
              </a:ext>
            </a:extLst>
          </p:cNvPr>
          <p:cNvSpPr/>
          <p:nvPr userDrawn="1"/>
        </p:nvSpPr>
        <p:spPr>
          <a:xfrm>
            <a:off x="846867" y="2752385"/>
            <a:ext cx="21362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目录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DD1A83F-A1E9-43D7-9CDC-7AC02BED1EE5}"/>
              </a:ext>
            </a:extLst>
          </p:cNvPr>
          <p:cNvSpPr/>
          <p:nvPr userDrawn="1"/>
        </p:nvSpPr>
        <p:spPr>
          <a:xfrm>
            <a:off x="963806" y="3595872"/>
            <a:ext cx="1906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CONTENTS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3E103341-A23F-42AF-90B6-8B36EF542949}"/>
              </a:ext>
            </a:extLst>
          </p:cNvPr>
          <p:cNvCxnSpPr>
            <a:cxnSpLocks/>
          </p:cNvCxnSpPr>
          <p:nvPr userDrawn="1"/>
        </p:nvCxnSpPr>
        <p:spPr>
          <a:xfrm>
            <a:off x="1053541" y="4060998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4854" y="2218510"/>
            <a:ext cx="1715719" cy="4802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5912" b="16285"/>
          <a:stretch/>
        </p:blipFill>
        <p:spPr>
          <a:xfrm>
            <a:off x="7258050" y="1942165"/>
            <a:ext cx="4949784" cy="4933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250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6-2">
    <p:bg>
      <p:bgPr>
        <a:gradFill>
          <a:gsLst>
            <a:gs pos="25000">
              <a:schemeClr val="accent1">
                <a:alpha val="0"/>
              </a:schemeClr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EDD8B33-19AA-4632-BE4B-A5744CEC2C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3725" y="493231"/>
            <a:ext cx="5251028" cy="5254131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1BADEE0-5304-4D64-BC33-E82C8C71DF4D}"/>
              </a:ext>
            </a:extLst>
          </p:cNvPr>
          <p:cNvSpPr/>
          <p:nvPr userDrawn="1"/>
        </p:nvSpPr>
        <p:spPr>
          <a:xfrm>
            <a:off x="6943725" y="0"/>
            <a:ext cx="5248273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93E9B806-B3B5-4857-9763-985BB906449B}"/>
              </a:ext>
            </a:extLst>
          </p:cNvPr>
          <p:cNvSpPr/>
          <p:nvPr userDrawn="1"/>
        </p:nvSpPr>
        <p:spPr>
          <a:xfrm>
            <a:off x="660400" y="6054314"/>
            <a:ext cx="2014538" cy="1438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98EFC2AF-0299-489A-9F1D-9F6AA1D1AE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第几部分 ▶</a:t>
            </a:r>
          </a:p>
        </p:txBody>
      </p:sp>
      <p:sp>
        <p:nvSpPr>
          <p:cNvPr id="122" name="文本占位符 15">
            <a:extLst>
              <a:ext uri="{FF2B5EF4-FFF2-40B4-BE49-F238E27FC236}">
                <a16:creationId xmlns:a16="http://schemas.microsoft.com/office/drawing/2014/main" id="{9F0152B4-A135-47ED-A86F-89E402C2B1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420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</a:p>
        </p:txBody>
      </p:sp>
      <p:sp>
        <p:nvSpPr>
          <p:cNvPr id="123" name="文本占位符 15">
            <a:extLst>
              <a:ext uri="{FF2B5EF4-FFF2-40B4-BE49-F238E27FC236}">
                <a16:creationId xmlns:a16="http://schemas.microsoft.com/office/drawing/2014/main" id="{CF347087-2148-4765-A644-2EF9176FD6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</a:p>
          <a:p>
            <a:pPr lvl="0"/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65482F-D2BD-4FA5-8FA9-E44AB00F6475}"/>
              </a:ext>
            </a:extLst>
          </p:cNvPr>
          <p:cNvSpPr/>
          <p:nvPr userDrawn="1"/>
        </p:nvSpPr>
        <p:spPr>
          <a:xfrm>
            <a:off x="0" y="6167300"/>
            <a:ext cx="12192000" cy="690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pic>
        <p:nvPicPr>
          <p:cNvPr id="143" name="图片 14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3766" y="6386257"/>
            <a:ext cx="1257421" cy="276480"/>
          </a:xfrm>
          <a:prstGeom prst="rect">
            <a:avLst/>
          </a:prstGeom>
        </p:spPr>
      </p:pic>
      <p:grpSp>
        <p:nvGrpSpPr>
          <p:cNvPr id="85" name="组合 84"/>
          <p:cNvGrpSpPr/>
          <p:nvPr userDrawn="1"/>
        </p:nvGrpSpPr>
        <p:grpSpPr>
          <a:xfrm>
            <a:off x="694004" y="6394741"/>
            <a:ext cx="1931864" cy="235412"/>
            <a:chOff x="10272478" y="6308389"/>
            <a:chExt cx="1629576" cy="198576"/>
          </a:xfrm>
        </p:grpSpPr>
        <p:grpSp>
          <p:nvGrpSpPr>
            <p:cNvPr id="86" name="组合 85"/>
            <p:cNvGrpSpPr/>
            <p:nvPr userDrawn="1"/>
          </p:nvGrpSpPr>
          <p:grpSpPr>
            <a:xfrm>
              <a:off x="11216726" y="6310650"/>
              <a:ext cx="685328" cy="194486"/>
              <a:chOff x="2373567" y="1096524"/>
              <a:chExt cx="2578404" cy="731714"/>
            </a:xfrm>
          </p:grpSpPr>
          <p:sp>
            <p:nvSpPr>
              <p:cNvPr id="101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2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6" y="1235296"/>
                <a:ext cx="331665" cy="499207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108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9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104" name="组合 103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105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6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7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87" name="组合 86"/>
            <p:cNvGrpSpPr/>
            <p:nvPr userDrawn="1"/>
          </p:nvGrpSpPr>
          <p:grpSpPr>
            <a:xfrm>
              <a:off x="10272478" y="6308389"/>
              <a:ext cx="716480" cy="198576"/>
              <a:chOff x="2372715" y="161759"/>
              <a:chExt cx="2695608" cy="747103"/>
            </a:xfrm>
          </p:grpSpPr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99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00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97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8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90" name="组合 8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94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5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6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91" name="组合 90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92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3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774466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9801394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8846679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7" name="标题 11">
            <a:extLst>
              <a:ext uri="{FF2B5EF4-FFF2-40B4-BE49-F238E27FC236}">
                <a16:creationId xmlns:a16="http://schemas.microsoft.com/office/drawing/2014/main" id="{F740B2F3-F46E-47AE-8C0D-F561C0D5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19408701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074108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>
              <a:extLst>
                <a:ext uri="{FF2B5EF4-FFF2-40B4-BE49-F238E27FC236}">
                  <a16:creationId xmlns:a16="http://schemas.microsoft.com/office/drawing/2014/main" id="{77A3E9FF-E8D6-4864-AD9A-BC3E704158E7}"/>
                </a:ext>
              </a:extLst>
            </p:cNvPr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>
              <a:extLst>
                <a:ext uri="{FF2B5EF4-FFF2-40B4-BE49-F238E27FC236}">
                  <a16:creationId xmlns:a16="http://schemas.microsoft.com/office/drawing/2014/main" id="{0B39D90D-B980-4ADB-95FB-F043B008E76D}"/>
                </a:ext>
              </a:extLst>
            </p:cNvPr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538348956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75E756C-98CD-4DE4-BB41-9C72D0D6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12583941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761913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>
            <a:extLst>
              <a:ext uri="{FF2B5EF4-FFF2-40B4-BE49-F238E27FC236}">
                <a16:creationId xmlns:a16="http://schemas.microsoft.com/office/drawing/2014/main" id="{234BC7E1-028A-4463-99ED-1994A3ADEC14}"/>
              </a:ext>
            </a:extLst>
          </p:cNvPr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1BC6857-420C-4F20-ABBF-78DDE1D9F36B}"/>
              </a:ext>
            </a:extLst>
          </p:cNvPr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63842361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06187796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3763062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1">
            <a:extLst>
              <a:ext uri="{FF2B5EF4-FFF2-40B4-BE49-F238E27FC236}">
                <a16:creationId xmlns:a16="http://schemas.microsoft.com/office/drawing/2014/main" id="{B751A2AD-C679-48C2-AFF3-1AB781A3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30968669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4050805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>
              <a:extLst>
                <a:ext uri="{FF2B5EF4-FFF2-40B4-BE49-F238E27FC236}">
                  <a16:creationId xmlns:a16="http://schemas.microsoft.com/office/drawing/2014/main" id="{5065A524-15E6-4769-B9ED-7868E19ADB1E}"/>
                </a:ext>
              </a:extLst>
            </p:cNvPr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096545773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0F4148E-045B-44EE-8A4E-88B14DCC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39240505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5322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252443720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9" name="标题 11">
            <a:extLst>
              <a:ext uri="{FF2B5EF4-FFF2-40B4-BE49-F238E27FC236}">
                <a16:creationId xmlns:a16="http://schemas.microsoft.com/office/drawing/2014/main" id="{0D0682F6-A194-4FB3-8EF2-674B6164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84689732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362183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901101412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4" name="标题 11">
            <a:extLst>
              <a:ext uri="{FF2B5EF4-FFF2-40B4-BE49-F238E27FC236}">
                <a16:creationId xmlns:a16="http://schemas.microsoft.com/office/drawing/2014/main" id="{FDDD1B7B-042D-4B1B-81C1-5A7085CD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79993377"/>
      </p:ext>
    </p:extLst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96569"/>
      </p:ext>
    </p:extLst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08203972"/>
      </p:ext>
    </p:extLst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2" name="标题 11">
            <a:extLst>
              <a:ext uri="{FF2B5EF4-FFF2-40B4-BE49-F238E27FC236}">
                <a16:creationId xmlns:a16="http://schemas.microsoft.com/office/drawing/2014/main" id="{A87381B5-231A-44CC-994D-B480CB6C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69009700"/>
      </p:ext>
    </p:extLst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695703"/>
      </p:ext>
    </p:extLst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382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 xmlns:p14="http://schemas.microsoft.com/office/powerpoint/2010/main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7.xml"/><Relationship Id="rId21" Type="http://schemas.openxmlformats.org/officeDocument/2006/relationships/slideLayout" Target="../slideLayouts/slideLayout25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21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2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2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23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080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2026/5/27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8918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91" r:id="rId3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7D9317-7C4B-477D-9FCD-CD5482370328}" type="datetimeFigureOut">
              <a:rPr lang="zh-CN" altLang="en-US"/>
              <a:pPr>
                <a:defRPr/>
              </a:pPr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919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A453CE20-6C14-4C4C-84F7-26422658A810}"/>
              </a:ext>
            </a:extLst>
          </p:cNvPr>
          <p:cNvSpPr txBox="1">
            <a:spLocks/>
          </p:cNvSpPr>
          <p:nvPr/>
        </p:nvSpPr>
        <p:spPr>
          <a:xfrm>
            <a:off x="803276" y="4286889"/>
            <a:ext cx="10585448" cy="892503"/>
          </a:xfrm>
          <a:prstGeom prst="rect">
            <a:avLst/>
          </a:prstGeom>
        </p:spPr>
        <p:txBody>
          <a:bodyPr tIns="0" bIns="0" anchor="ctr" anchorCtr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Alien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内核的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x86_64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移植与</a:t>
            </a:r>
            <a:r>
              <a:rPr kumimoji="0" lang="en-US" altLang="zh-CN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vDSO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引入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831FADC7-207E-7B4E-8BBD-42F82FE1F818}"/>
              </a:ext>
            </a:extLst>
          </p:cNvPr>
          <p:cNvSpPr txBox="1">
            <a:spLocks/>
          </p:cNvSpPr>
          <p:nvPr/>
        </p:nvSpPr>
        <p:spPr>
          <a:xfrm>
            <a:off x="803276" y="4972427"/>
            <a:ext cx="10585448" cy="508452"/>
          </a:xfrm>
          <a:prstGeom prst="rect">
            <a:avLst/>
          </a:prstGeom>
        </p:spPr>
        <p:txBody>
          <a:bodyPr anchor="ctr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Porting Alien's x86_64 Kernel and Introducing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vDSO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文本占位符 34">
            <a:extLst>
              <a:ext uri="{FF2B5EF4-FFF2-40B4-BE49-F238E27FC236}">
                <a16:creationId xmlns:a16="http://schemas.microsoft.com/office/drawing/2014/main" id="{863F15CD-989D-B145-8B27-B543A0C87DAD}"/>
              </a:ext>
            </a:extLst>
          </p:cNvPr>
          <p:cNvSpPr txBox="1">
            <a:spLocks/>
          </p:cNvSpPr>
          <p:nvPr/>
        </p:nvSpPr>
        <p:spPr>
          <a:xfrm>
            <a:off x="803275" y="5500576"/>
            <a:ext cx="10585450" cy="595123"/>
          </a:xfrm>
          <a:prstGeom prst="rect">
            <a:avLst/>
          </a:prstGeom>
        </p:spPr>
        <p:txBody>
          <a:bodyPr lIns="72000" tIns="0" rIns="72000" bIns="0" anchor="ctr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答辩人：</a:t>
            </a:r>
            <a:r>
              <a:rPr lang="zh-CN" alt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胡嘉晨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      导　师：</a:t>
            </a:r>
            <a:r>
              <a:rPr lang="zh-CN" altLang="en-US" sz="18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</a:rPr>
              <a:t>陆慧梅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     时间：</a:t>
            </a:r>
            <a:fld id="{FAA7561E-A48D-4E03-84F4-488CDA95D192}" type="datetime1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90000"/>
                </a:lnSpc>
                <a:spcBef>
                  <a:spcPts val="1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2026/5/27</a:t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5184098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AD86A-EF14-8DD2-7B8F-F80ADBF91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A0E3444-EF54-2F67-C189-575EFD69F19A}"/>
              </a:ext>
            </a:extLst>
          </p:cNvPr>
          <p:cNvSpPr txBox="1"/>
          <p:nvPr/>
        </p:nvSpPr>
        <p:spPr>
          <a:xfrm>
            <a:off x="776378" y="1673522"/>
            <a:ext cx="10498347" cy="2865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答辩版论文查重：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0.1%</a:t>
            </a:r>
          </a:p>
          <a:p>
            <a:pPr marL="342900" marR="0" lvl="0" indent="-34290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lang="zh-CN" altLang="en-US" sz="2200" dirty="0">
                <a:solidFill>
                  <a:prstClr val="black"/>
                </a:solidFill>
                <a:latin typeface="微软雅黑"/>
                <a:ea typeface="微软雅黑" panose="020B0503020204020204" pitchFamily="34" charset="-122"/>
              </a:rPr>
              <a:t>盲审评阅结果：</a:t>
            </a:r>
            <a:r>
              <a:rPr lang="en-US" altLang="zh-CN" sz="2200" dirty="0">
                <a:solidFill>
                  <a:prstClr val="black"/>
                </a:solidFill>
                <a:latin typeface="微软雅黑"/>
                <a:ea typeface="微软雅黑" panose="020B0503020204020204" pitchFamily="34" charset="-122"/>
              </a:rPr>
              <a:t>A</a:t>
            </a:r>
            <a:r>
              <a:rPr lang="zh-CN" altLang="en-US" sz="2200" dirty="0">
                <a:solidFill>
                  <a:prstClr val="black"/>
                </a:solidFill>
                <a:latin typeface="微软雅黑"/>
                <a:ea typeface="微软雅黑" panose="020B0503020204020204" pitchFamily="34" charset="-122"/>
              </a:rPr>
              <a:t>（</a:t>
            </a:r>
            <a:r>
              <a:rPr lang="en-US" altLang="zh-CN" sz="2200" dirty="0">
                <a:solidFill>
                  <a:prstClr val="black"/>
                </a:solidFill>
                <a:latin typeface="微软雅黑"/>
                <a:ea typeface="微软雅黑" panose="020B0503020204020204" pitchFamily="34" charset="-122"/>
              </a:rPr>
              <a:t>81</a:t>
            </a:r>
            <a:r>
              <a:rPr lang="zh-CN" altLang="en-US" sz="2200" dirty="0">
                <a:solidFill>
                  <a:prstClr val="black"/>
                </a:solidFill>
                <a:latin typeface="微软雅黑"/>
                <a:ea typeface="微软雅黑" panose="020B0503020204020204" pitchFamily="34" charset="-122"/>
              </a:rPr>
              <a:t>），</a:t>
            </a:r>
            <a:r>
              <a:rPr lang="en-US" altLang="zh-CN" sz="2200" dirty="0">
                <a:solidFill>
                  <a:prstClr val="black"/>
                </a:solidFill>
                <a:latin typeface="微软雅黑"/>
                <a:ea typeface="微软雅黑" panose="020B0503020204020204" pitchFamily="34" charset="-122"/>
              </a:rPr>
              <a:t>A</a:t>
            </a:r>
            <a:r>
              <a:rPr lang="zh-CN" altLang="en-US" sz="2200" dirty="0">
                <a:solidFill>
                  <a:prstClr val="black"/>
                </a:solidFill>
                <a:latin typeface="微软雅黑"/>
                <a:ea typeface="微软雅黑" panose="020B0503020204020204" pitchFamily="34" charset="-122"/>
              </a:rPr>
              <a:t>（</a:t>
            </a:r>
            <a:r>
              <a:rPr lang="en-US" altLang="zh-CN" sz="2200" dirty="0">
                <a:solidFill>
                  <a:prstClr val="black"/>
                </a:solidFill>
                <a:latin typeface="微软雅黑"/>
                <a:ea typeface="微软雅黑" panose="020B0503020204020204" pitchFamily="34" charset="-122"/>
              </a:rPr>
              <a:t>89</a:t>
            </a:r>
            <a:r>
              <a:rPr lang="zh-CN" altLang="en-US" sz="2200" dirty="0">
                <a:solidFill>
                  <a:prstClr val="black"/>
                </a:solidFill>
                <a:latin typeface="微软雅黑"/>
                <a:ea typeface="微软雅黑" panose="020B0503020204020204" pitchFamily="34" charset="-122"/>
              </a:rPr>
              <a:t>）</a:t>
            </a:r>
            <a:endParaRPr lang="en-US" altLang="zh-CN" sz="2200" dirty="0">
              <a:solidFill>
                <a:prstClr val="black"/>
              </a:solidFill>
              <a:latin typeface="微软雅黑"/>
              <a:ea typeface="微软雅黑" panose="020B0503020204020204" pitchFamily="34" charset="-122"/>
            </a:endParaRPr>
          </a:p>
          <a:p>
            <a:pPr marL="342900" marR="0" lvl="0" indent="-34290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不申请评优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D79677ED-005C-9C95-BA81-E79DF7E95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论文情况</a:t>
            </a:r>
          </a:p>
        </p:txBody>
      </p:sp>
    </p:spTree>
    <p:extLst>
      <p:ext uri="{BB962C8B-B14F-4D97-AF65-F5344CB8AC3E}">
        <p14:creationId xmlns:p14="http://schemas.microsoft.com/office/powerpoint/2010/main" val="198275020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F022EDC2-0163-4D59-8AEE-B77C7B56ACDC}"/>
              </a:ext>
            </a:extLst>
          </p:cNvPr>
          <p:cNvGrpSpPr/>
          <p:nvPr/>
        </p:nvGrpSpPr>
        <p:grpSpPr>
          <a:xfrm>
            <a:off x="6195556" y="794349"/>
            <a:ext cx="2254167" cy="1089209"/>
            <a:chOff x="5337036" y="1031947"/>
            <a:chExt cx="2254167" cy="1089209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49C81708-2DD4-42D2-8E80-8ABAEF83EBE2}"/>
                </a:ext>
              </a:extLst>
            </p:cNvPr>
            <p:cNvSpPr txBox="1"/>
            <p:nvPr/>
          </p:nvSpPr>
          <p:spPr>
            <a:xfrm>
              <a:off x="5337036" y="1031947"/>
              <a:ext cx="615874" cy="1089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A13F0B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1</a:t>
              </a:r>
              <a:endParaRPr kumimoji="0" lang="zh-CN" altLang="en-US" sz="5400" b="1" i="1" u="none" strike="noStrike" kern="1200" cap="none" spc="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5C5D337B-57EC-400D-BC7A-F1EF82A84720}"/>
                </a:ext>
              </a:extLst>
            </p:cNvPr>
            <p:cNvGrpSpPr/>
            <p:nvPr/>
          </p:nvGrpSpPr>
          <p:grpSpPr>
            <a:xfrm>
              <a:off x="6384010" y="1248904"/>
              <a:ext cx="1207193" cy="797491"/>
              <a:chOff x="6384011" y="1247332"/>
              <a:chExt cx="1207193" cy="790542"/>
            </a:xfrm>
          </p:grpSpPr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DA740C2E-C38D-4F96-A002-B3F79BAE1788}"/>
                  </a:ext>
                </a:extLst>
              </p:cNvPr>
              <p:cNvSpPr txBox="1"/>
              <p:nvPr/>
            </p:nvSpPr>
            <p:spPr>
              <a:xfrm>
                <a:off x="6384011" y="1247332"/>
                <a:ext cx="820738" cy="5361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绪论</a:t>
                </a:r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CA0DF6C-F8E1-46CD-840C-DFE27F91D659}"/>
                  </a:ext>
                </a:extLst>
              </p:cNvPr>
              <p:cNvSpPr txBox="1"/>
              <p:nvPr/>
            </p:nvSpPr>
            <p:spPr>
              <a:xfrm>
                <a:off x="6384142" y="1773078"/>
                <a:ext cx="1207062" cy="264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ea"/>
                    <a:sym typeface="+mn-lt"/>
                  </a:rPr>
                  <a:t>Introduction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9F9E3ED5-E505-453B-A89D-2EA83CC5BC39}"/>
              </a:ext>
            </a:extLst>
          </p:cNvPr>
          <p:cNvGrpSpPr/>
          <p:nvPr/>
        </p:nvGrpSpPr>
        <p:grpSpPr>
          <a:xfrm>
            <a:off x="6195556" y="4838508"/>
            <a:ext cx="3275279" cy="1098506"/>
            <a:chOff x="5337036" y="1031947"/>
            <a:chExt cx="3275279" cy="1098506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621B0BAD-FF0C-45F5-AC06-04605D027D58}"/>
                </a:ext>
              </a:extLst>
            </p:cNvPr>
            <p:cNvSpPr txBox="1"/>
            <p:nvPr/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A13F0B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4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0C3F2E44-81D1-4A88-8996-8AD8E73C1E80}"/>
                </a:ext>
              </a:extLst>
            </p:cNvPr>
            <p:cNvGrpSpPr/>
            <p:nvPr/>
          </p:nvGrpSpPr>
          <p:grpSpPr>
            <a:xfrm>
              <a:off x="6384010" y="1248904"/>
              <a:ext cx="2228305" cy="797491"/>
              <a:chOff x="6384011" y="1247332"/>
              <a:chExt cx="2228305" cy="790542"/>
            </a:xfrm>
          </p:grpSpPr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A75B273F-6ABE-4AF7-8C0C-AA24DBBF2AA9}"/>
                  </a:ext>
                </a:extLst>
              </p:cNvPr>
              <p:cNvSpPr txBox="1"/>
              <p:nvPr/>
            </p:nvSpPr>
            <p:spPr>
              <a:xfrm>
                <a:off x="6384011" y="1247332"/>
                <a:ext cx="2051844" cy="5361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3200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总结与展望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D632C253-4FE6-4709-87B3-C18FA7038DD8}"/>
                  </a:ext>
                </a:extLst>
              </p:cNvPr>
              <p:cNvSpPr txBox="1"/>
              <p:nvPr/>
            </p:nvSpPr>
            <p:spPr>
              <a:xfrm>
                <a:off x="6384142" y="1773078"/>
                <a:ext cx="2228174" cy="264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>
                        <a:lumMod val="75000"/>
                      </a:srgbClr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ea"/>
                    <a:sym typeface="+mn-lt"/>
                  </a:rPr>
                  <a:t>Summary and Outlook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BE300563-CF9C-4E5F-98A6-A489FEF59EBB}"/>
              </a:ext>
            </a:extLst>
          </p:cNvPr>
          <p:cNvGrpSpPr/>
          <p:nvPr/>
        </p:nvGrpSpPr>
        <p:grpSpPr>
          <a:xfrm>
            <a:off x="6195556" y="2142402"/>
            <a:ext cx="3817094" cy="1098506"/>
            <a:chOff x="5337036" y="1031947"/>
            <a:chExt cx="3817094" cy="1098506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C93C7166-B910-44BC-9A1A-11B7DFB2D36D}"/>
                </a:ext>
              </a:extLst>
            </p:cNvPr>
            <p:cNvSpPr txBox="1"/>
            <p:nvPr/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A13F0B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B659A6B8-5979-4C40-B01D-250DCE134000}"/>
                </a:ext>
              </a:extLst>
            </p:cNvPr>
            <p:cNvGrpSpPr/>
            <p:nvPr/>
          </p:nvGrpSpPr>
          <p:grpSpPr>
            <a:xfrm>
              <a:off x="6384010" y="1248904"/>
              <a:ext cx="2770120" cy="797491"/>
              <a:chOff x="6384011" y="1247332"/>
              <a:chExt cx="2770120" cy="790542"/>
            </a:xfrm>
          </p:grpSpPr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6CF46444-6738-4E06-AA31-F49884B01C20}"/>
                  </a:ext>
                </a:extLst>
              </p:cNvPr>
              <p:cNvSpPr txBox="1"/>
              <p:nvPr/>
            </p:nvSpPr>
            <p:spPr>
              <a:xfrm>
                <a:off x="6384011" y="1247332"/>
                <a:ext cx="2051844" cy="5361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设计与实现</a:t>
                </a: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15401AAD-A138-42AD-AFE0-A9635F662C46}"/>
                  </a:ext>
                </a:extLst>
              </p:cNvPr>
              <p:cNvSpPr txBox="1"/>
              <p:nvPr/>
            </p:nvSpPr>
            <p:spPr>
              <a:xfrm>
                <a:off x="6384142" y="1773078"/>
                <a:ext cx="2769989" cy="264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1600" dirty="0">
                    <a:solidFill>
                      <a:srgbClr val="FFFFFF">
                        <a:lumMod val="75000"/>
                      </a:srgbClr>
                    </a:solidFill>
                    <a:latin typeface="Century Gothic" panose="020B0502020202020204" pitchFamily="34" charset="0"/>
                    <a:ea typeface="微软雅黑" panose="020B0503020204020204" pitchFamily="34" charset="-122"/>
                    <a:cs typeface="+mn-ea"/>
                    <a:sym typeface="+mn-lt"/>
                  </a:rPr>
                  <a:t>Design and Implementation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8604B901-DEF0-4DA5-8081-584EDB1B10EB}"/>
              </a:ext>
            </a:extLst>
          </p:cNvPr>
          <p:cNvGrpSpPr/>
          <p:nvPr/>
        </p:nvGrpSpPr>
        <p:grpSpPr>
          <a:xfrm>
            <a:off x="6195556" y="3490455"/>
            <a:ext cx="3098818" cy="1098506"/>
            <a:chOff x="5337036" y="1031947"/>
            <a:chExt cx="3098818" cy="1098506"/>
          </a:xfrm>
        </p:grpSpPr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F93BA0B9-4FDA-4DEE-A82A-8733841DB5D6}"/>
                </a:ext>
              </a:extLst>
            </p:cNvPr>
            <p:cNvSpPr txBox="1"/>
            <p:nvPr/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A13F0B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39E73199-5063-4C49-B0F2-EB4D0DE1A904}"/>
                </a:ext>
              </a:extLst>
            </p:cNvPr>
            <p:cNvGrpSpPr/>
            <p:nvPr/>
          </p:nvGrpSpPr>
          <p:grpSpPr>
            <a:xfrm>
              <a:off x="6384010" y="1248904"/>
              <a:ext cx="2051844" cy="797491"/>
              <a:chOff x="6384011" y="1247332"/>
              <a:chExt cx="2051844" cy="790542"/>
            </a:xfrm>
          </p:grpSpPr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EAF4F4A3-E3E5-4ACB-B7C5-0D9279E93E0F}"/>
                  </a:ext>
                </a:extLst>
              </p:cNvPr>
              <p:cNvSpPr txBox="1"/>
              <p:nvPr/>
            </p:nvSpPr>
            <p:spPr>
              <a:xfrm>
                <a:off x="6384011" y="1247332"/>
                <a:ext cx="2051844" cy="5361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3200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测试与分析</a:t>
                </a:r>
                <a:endPara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FA9F0505-2260-4EBA-9C18-F0E4167E158E}"/>
                  </a:ext>
                </a:extLst>
              </p:cNvPr>
              <p:cNvSpPr txBox="1"/>
              <p:nvPr/>
            </p:nvSpPr>
            <p:spPr>
              <a:xfrm>
                <a:off x="6384142" y="1773078"/>
                <a:ext cx="1963679" cy="264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0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1600" dirty="0">
                    <a:solidFill>
                      <a:srgbClr val="FFFFFF">
                        <a:lumMod val="75000"/>
                      </a:srgbClr>
                    </a:solidFill>
                    <a:latin typeface="Century Gothic" panose="020B0502020202020204" pitchFamily="34" charset="0"/>
                    <a:ea typeface="微软雅黑" panose="020B0503020204020204" pitchFamily="34" charset="-122"/>
                    <a:cs typeface="+mn-ea"/>
                    <a:sym typeface="+mn-lt"/>
                  </a:rPr>
                  <a:t>Testing and Analysis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94635709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B7D2D181-0346-43D2-9F2E-5DAF7DD81B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第一部分 ▷▷</a:t>
            </a:r>
            <a:endParaRPr lang="zh-CN" altLang="en-US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9112ECF1-1F56-49D7-B987-8479EEBCD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绪论</a:t>
            </a:r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32977950-DB53-4173-9011-DCA663AD83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面临问题</a:t>
            </a:r>
            <a:endParaRPr lang="en-US" altLang="zh-CN" dirty="0"/>
          </a:p>
          <a:p>
            <a:r>
              <a:rPr lang="zh-CN" altLang="en-US" dirty="0"/>
              <a:t>现有工作</a:t>
            </a:r>
            <a:endParaRPr lang="en-US" altLang="zh-CN" dirty="0"/>
          </a:p>
          <a:p>
            <a:r>
              <a:rPr lang="zh-CN" altLang="en-US" dirty="0"/>
              <a:t>研究内容与意义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01ADD8D0-8287-4921-9177-230EA04F2C62}"/>
              </a:ext>
            </a:extLst>
          </p:cNvPr>
          <p:cNvSpPr/>
          <p:nvPr/>
        </p:nvSpPr>
        <p:spPr>
          <a:xfrm flipV="1">
            <a:off x="660399" y="3428999"/>
            <a:ext cx="447765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  <a:gd name="connsiteX0" fmla="*/ 511261 w 511261"/>
              <a:gd name="connsiteY0" fmla="*/ 193259 h 193259"/>
              <a:gd name="connsiteX1" fmla="*/ 232301 w 511261"/>
              <a:gd name="connsiteY1" fmla="*/ 0 h 193259"/>
              <a:gd name="connsiteX2" fmla="*/ 229919 w 511261"/>
              <a:gd name="connsiteY2" fmla="*/ 193259 h 193259"/>
              <a:gd name="connsiteX3" fmla="*/ 0 w 511261"/>
              <a:gd name="connsiteY3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261" h="193259">
                <a:moveTo>
                  <a:pt x="511261" y="193259"/>
                </a:move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370C460-24EB-4B65-9712-35D099499EFA}"/>
              </a:ext>
            </a:extLst>
          </p:cNvPr>
          <p:cNvCxnSpPr>
            <a:cxnSpLocks/>
            <a:stCxn id="17" idx="0"/>
          </p:cNvCxnSpPr>
          <p:nvPr/>
        </p:nvCxnSpPr>
        <p:spPr>
          <a:xfrm>
            <a:off x="1108164" y="3428999"/>
            <a:ext cx="5165636" cy="0"/>
          </a:xfrm>
          <a:prstGeom prst="lin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584088402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CFD54-2AD4-88EA-2795-89CD1754F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D647A042-35DB-F89C-DF38-1BC844C66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内核面临的问题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D20332-854D-F996-8529-F8A2B7C7F3CF}"/>
              </a:ext>
            </a:extLst>
          </p:cNvPr>
          <p:cNvSpPr txBox="1"/>
          <p:nvPr/>
        </p:nvSpPr>
        <p:spPr>
          <a:xfrm>
            <a:off x="1173494" y="2777688"/>
            <a:ext cx="4617706" cy="23616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宏内核将文件系统、驱动、网络等</a:t>
            </a:r>
            <a:r>
              <a:rPr lang="zh-CN" altLang="en-US" sz="2000" spc="300" dirty="0">
                <a:solidFill>
                  <a:srgbClr val="000000">
                    <a:lumMod val="85000"/>
                    <a:lumOff val="15000"/>
                  </a:srgbClr>
                </a:solidFill>
              </a:rPr>
              <a:t>模块高度耦合在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同一特权空间。</a:t>
            </a:r>
            <a:endParaRPr lang="en-US" altLang="zh-CN" sz="2000" spc="300" dirty="0"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</a:endParaRPr>
          </a:p>
          <a:p>
            <a:pPr marL="342900" marR="0" lvl="0" indent="-34290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单</a:t>
            </a:r>
            <a:r>
              <a:rPr lang="zh-CN" altLang="en-US" sz="2000" spc="30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处漏洞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可影响整个系统，造成崩溃或权限泄露。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34290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安全补丁治标不治本，内核复杂度导致攻击面不断膨胀。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CBBA41E-3FD0-FB00-FC14-628AA4B3D878}"/>
              </a:ext>
            </a:extLst>
          </p:cNvPr>
          <p:cNvSpPr txBox="1"/>
          <p:nvPr/>
        </p:nvSpPr>
        <p:spPr>
          <a:xfrm>
            <a:off x="6096000" y="2777688"/>
            <a:ext cx="4881886" cy="23616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微内核将多数服务移出内核，使用消息机制通信，天然隔离性强、可信基小，便于验证。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34290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频繁上下文切换带来性能损耗。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34290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对现有内核进行重构代价极高，难以直接落地。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B0F92E8-05AC-4AE3-95EE-1C039BEEFD1C}"/>
              </a:ext>
            </a:extLst>
          </p:cNvPr>
          <p:cNvSpPr txBox="1"/>
          <p:nvPr/>
        </p:nvSpPr>
        <p:spPr>
          <a:xfrm>
            <a:off x="1954814" y="1721754"/>
            <a:ext cx="3055065" cy="619744"/>
          </a:xfrm>
          <a:prstGeom prst="roundRect">
            <a:avLst/>
          </a:prstGeom>
          <a:solidFill>
            <a:schemeClr val="accent1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宏内核耦合风险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FDBB2C1-7320-ABDC-015A-6545D9F7EA25}"/>
              </a:ext>
            </a:extLst>
          </p:cNvPr>
          <p:cNvSpPr txBox="1"/>
          <p:nvPr/>
        </p:nvSpPr>
        <p:spPr>
          <a:xfrm>
            <a:off x="6854521" y="1721754"/>
            <a:ext cx="3629025" cy="619744"/>
          </a:xfrm>
          <a:prstGeom prst="roundRect">
            <a:avLst/>
          </a:prstGeom>
          <a:solidFill>
            <a:schemeClr val="accent4"/>
          </a:solidFill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微内核的取舍需求</a:t>
            </a:r>
          </a:p>
        </p:txBody>
      </p:sp>
    </p:spTree>
    <p:extLst>
      <p:ext uri="{BB962C8B-B14F-4D97-AF65-F5344CB8AC3E}">
        <p14:creationId xmlns:p14="http://schemas.microsoft.com/office/powerpoint/2010/main" val="759251417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5ADA3-039A-585A-AD14-BF64FB13B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1320A1AB-F346-6041-EF1B-B957744DC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现有工作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14B81B4-7960-BB0D-F6C6-55FE68802A30}"/>
              </a:ext>
            </a:extLst>
          </p:cNvPr>
          <p:cNvSpPr txBox="1"/>
          <p:nvPr/>
        </p:nvSpPr>
        <p:spPr>
          <a:xfrm>
            <a:off x="266700" y="962025"/>
            <a:ext cx="4791075" cy="5343525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pPr marL="0" marR="0" lvl="0" indent="0" defTabSz="914400" rtl="0" eaLnBrk="1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Alien</a:t>
            </a:r>
            <a:r>
              <a:rPr kumimoji="0" lang="zh-CN" altLang="en-US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选择宏内核与微内核的折中路线，通过</a:t>
            </a:r>
            <a:r>
              <a:rPr kumimoji="0" lang="en-US" altLang="zh-CN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Rust</a:t>
            </a:r>
            <a:r>
              <a:rPr kumimoji="0" lang="zh-CN" altLang="en-US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语言实现安全设计</a:t>
            </a:r>
            <a:r>
              <a:rPr lang="zh-CN" altLang="en-US" spc="100" dirty="0">
                <a:solidFill>
                  <a:prstClr val="black"/>
                </a:solidFill>
                <a:latin typeface="+mn-ea"/>
              </a:rPr>
              <a:t>：</a:t>
            </a:r>
            <a:endParaRPr lang="en-US" altLang="zh-CN" spc="100" dirty="0">
              <a:solidFill>
                <a:prstClr val="black"/>
              </a:solidFill>
              <a:latin typeface="+mn-ea"/>
            </a:endParaRPr>
          </a:p>
          <a:p>
            <a:pPr marL="342900" marR="0" lvl="0" indent="-342900" defTabSz="914400" rtl="0" eaLnBrk="1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kumimoji="0" lang="zh-CN" altLang="en-US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模块均运行在内核态，但划分为相互隔离的故障域，单域失效不影响其余部分。</a:t>
            </a:r>
            <a:endParaRPr kumimoji="0" lang="en-US" altLang="zh-CN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342900" indent="-34290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altLang="zh-CN" spc="100" dirty="0">
                <a:solidFill>
                  <a:prstClr val="black"/>
                </a:solidFill>
                <a:latin typeface="+mn-ea"/>
              </a:rPr>
              <a:t>TCB</a:t>
            </a:r>
            <a:r>
              <a:rPr lang="zh-CN" altLang="en-US" spc="100" dirty="0">
                <a:solidFill>
                  <a:prstClr val="black"/>
                </a:solidFill>
                <a:latin typeface="+mn-ea"/>
              </a:rPr>
              <a:t>封装</a:t>
            </a:r>
            <a:r>
              <a:rPr lang="en-US" altLang="zh-CN" spc="100" dirty="0">
                <a:solidFill>
                  <a:prstClr val="black"/>
                </a:solidFill>
                <a:latin typeface="+mn-ea"/>
              </a:rPr>
              <a:t>unsafe</a:t>
            </a:r>
            <a:r>
              <a:rPr lang="zh-CN" altLang="en-US" spc="100" dirty="0">
                <a:solidFill>
                  <a:prstClr val="black"/>
                </a:solidFill>
                <a:latin typeface="+mn-ea"/>
              </a:rPr>
              <a:t>代码，域强制使用</a:t>
            </a:r>
            <a:r>
              <a:rPr lang="en-US" altLang="zh-CN" spc="100" dirty="0">
                <a:solidFill>
                  <a:prstClr val="black"/>
                </a:solidFill>
                <a:latin typeface="+mn-ea"/>
              </a:rPr>
              <a:t>safe Rust</a:t>
            </a:r>
            <a:endParaRPr kumimoji="0" lang="en-US" altLang="zh-CN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342900" indent="-34290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+mj-lt"/>
              <a:buAutoNum type="arabicPeriod"/>
              <a:defRPr/>
            </a:pPr>
            <a:r>
              <a:rPr lang="zh-CN" altLang="en-US" spc="100" dirty="0">
                <a:solidFill>
                  <a:prstClr val="black"/>
                </a:solidFill>
                <a:latin typeface="+mn-ea"/>
              </a:rPr>
              <a:t>故障恢复基于</a:t>
            </a:r>
            <a:r>
              <a:rPr lang="en-US" altLang="zh-CN" spc="100" dirty="0">
                <a:solidFill>
                  <a:prstClr val="black"/>
                </a:solidFill>
                <a:latin typeface="+mn-ea"/>
              </a:rPr>
              <a:t>Rust</a:t>
            </a:r>
            <a:r>
              <a:rPr lang="zh-CN" altLang="en-US" spc="100" dirty="0">
                <a:solidFill>
                  <a:prstClr val="black"/>
                </a:solidFill>
                <a:latin typeface="+mn-ea"/>
              </a:rPr>
              <a:t>的</a:t>
            </a:r>
            <a:r>
              <a:rPr lang="en-US" altLang="zh-CN" spc="100" dirty="0">
                <a:solidFill>
                  <a:prstClr val="black"/>
                </a:solidFill>
                <a:latin typeface="+mn-ea"/>
              </a:rPr>
              <a:t>unwind</a:t>
            </a:r>
            <a:r>
              <a:rPr lang="zh-CN" altLang="en-US" spc="100" dirty="0">
                <a:solidFill>
                  <a:prstClr val="black"/>
                </a:solidFill>
                <a:latin typeface="+mn-ea"/>
              </a:rPr>
              <a:t>策略完成。</a:t>
            </a:r>
            <a:endParaRPr lang="en-US" altLang="zh-CN" spc="100" dirty="0">
              <a:solidFill>
                <a:prstClr val="black"/>
              </a:solidFill>
              <a:latin typeface="+mn-ea"/>
            </a:endParaRPr>
          </a:p>
          <a:p>
            <a:pPr marL="342900" indent="-34290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+mj-lt"/>
              <a:buAutoNum type="arabicPeriod"/>
              <a:defRPr/>
            </a:pPr>
            <a:r>
              <a:rPr kumimoji="0" lang="zh-CN" altLang="en-US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域间仅通过显式接口交互，无法直接访问</a:t>
            </a:r>
            <a:r>
              <a:rPr lang="zh-CN" altLang="en-US" spc="100" dirty="0">
                <a:solidFill>
                  <a:prstClr val="black"/>
                </a:solidFill>
                <a:latin typeface="+mn-ea"/>
              </a:rPr>
              <a:t>对方内存，域间对象传递由编译器保障所有权转移</a:t>
            </a:r>
            <a:r>
              <a:rPr kumimoji="0" lang="zh-CN" altLang="en-US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。</a:t>
            </a:r>
            <a:endParaRPr kumimoji="0" lang="en-US" altLang="zh-CN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/>
            </a:pPr>
            <a:r>
              <a:rPr kumimoji="0" lang="en-US" altLang="zh-CN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Alien</a:t>
            </a:r>
            <a:r>
              <a:rPr kumimoji="0" lang="zh-CN" altLang="en-US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目前已在</a:t>
            </a:r>
            <a:r>
              <a:rPr kumimoji="0" lang="en-US" altLang="zh-CN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RISC-V QEMU</a:t>
            </a:r>
            <a:r>
              <a:rPr kumimoji="0" lang="zh-CN" altLang="en-US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虚拟机和</a:t>
            </a:r>
            <a:r>
              <a:rPr lang="en-US" altLang="zh-CN" dirty="0"/>
              <a:t>VisionFive2</a:t>
            </a:r>
            <a:r>
              <a:rPr lang="zh-CN" altLang="en-US" dirty="0"/>
              <a:t>开发板上验证。</a:t>
            </a:r>
            <a:endParaRPr kumimoji="0" lang="en-US" altLang="zh-CN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B1677C3-5DF4-8902-20F0-3B53807F4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740" y="1035843"/>
            <a:ext cx="7220260" cy="519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749946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4D2B7-E111-0893-66FF-E72B4BFAA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C4354BA-C0C4-691C-A3F0-8FF47734A701}"/>
              </a:ext>
            </a:extLst>
          </p:cNvPr>
          <p:cNvSpPr txBox="1"/>
          <p:nvPr/>
        </p:nvSpPr>
        <p:spPr>
          <a:xfrm>
            <a:off x="776378" y="1673522"/>
            <a:ext cx="10498347" cy="3438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fontAlgn="base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Font typeface="Wingdings" panose="05000000000000000000" pitchFamily="2" charset="2"/>
              <a:buChar char="n"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x86_64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应用广泛，生态成熟，已支持用户态中断等硬件特性。将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Alien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移植到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QEMU </a:t>
            </a:r>
            <a:r>
              <a:rPr lang="en-US" altLang="zh-CN" sz="2200" dirty="0">
                <a:solidFill>
                  <a:prstClr val="black"/>
                </a:solidFill>
                <a:latin typeface="微软雅黑"/>
                <a:ea typeface="微软雅黑"/>
              </a:rPr>
              <a:t>x86_64</a:t>
            </a:r>
            <a:r>
              <a:rPr lang="zh-CN" altLang="en-US" sz="2200" dirty="0">
                <a:solidFill>
                  <a:prstClr val="black"/>
                </a:solidFill>
                <a:latin typeface="微软雅黑"/>
                <a:ea typeface="微软雅黑"/>
              </a:rPr>
              <a:t>虚拟机</a:t>
            </a:r>
            <a:r>
              <a:rPr lang="zh-CN" altLang="en-US" sz="2200" dirty="0">
                <a:solidFill>
                  <a:prstClr val="black"/>
                </a:solidFill>
              </a:rPr>
              <a:t>，能将此工作从</a:t>
            </a:r>
            <a:r>
              <a:rPr lang="en-US" altLang="zh-CN" sz="2200" dirty="0">
                <a:solidFill>
                  <a:prstClr val="black"/>
                </a:solidFill>
              </a:rPr>
              <a:t>RISC-V</a:t>
            </a:r>
            <a:r>
              <a:rPr lang="zh-CN" altLang="en-US" sz="2200" dirty="0">
                <a:solidFill>
                  <a:prstClr val="black"/>
                </a:solidFill>
              </a:rPr>
              <a:t>扩展到多架构，并检验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域隔离设计在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x86_64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上的可行性。</a:t>
            </a:r>
          </a:p>
          <a:p>
            <a:pPr marL="342900" marR="0" lvl="0" indent="-34290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系统调用是高频性能瓶颈。引入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vDSO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后，系统调用可以变成简单的函数调用，不需要陷入内核，从而大幅降低 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syscall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开销。同时，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vDSO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的引入也为后续内核与用户态共享调度框架做好准备。</a:t>
            </a:r>
          </a:p>
          <a:p>
            <a:pPr marL="342900" marR="0" lvl="0" indent="-34290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E2DA7DCD-D25F-A771-D46E-48E5EDD02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研究工作与意义</a:t>
            </a:r>
          </a:p>
        </p:txBody>
      </p:sp>
    </p:spTree>
    <p:extLst>
      <p:ext uri="{BB962C8B-B14F-4D97-AF65-F5344CB8AC3E}">
        <p14:creationId xmlns:p14="http://schemas.microsoft.com/office/powerpoint/2010/main" val="2203393647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B7D2D181-0346-43D2-9F2E-5DAF7DD81B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第二部分 ▷▷</a:t>
            </a:r>
            <a:endParaRPr lang="zh-CN" altLang="en-US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9112ECF1-1F56-49D7-B987-8479EEBCD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设计与实现</a:t>
            </a:r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32977950-DB53-4173-9011-DCA663AD83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平台无关初始化路径</a:t>
            </a:r>
            <a:endParaRPr lang="en-US" altLang="zh-CN" dirty="0"/>
          </a:p>
          <a:p>
            <a:r>
              <a:rPr lang="en-US" altLang="zh-CN" dirty="0"/>
              <a:t>x86_64</a:t>
            </a:r>
            <a:r>
              <a:rPr lang="zh-CN" altLang="en-US" dirty="0"/>
              <a:t>移植实现</a:t>
            </a:r>
            <a:endParaRPr lang="en-US" altLang="zh-CN" dirty="0"/>
          </a:p>
          <a:p>
            <a:r>
              <a:rPr lang="en-US" altLang="zh-CN" dirty="0" err="1"/>
              <a:t>vDSO</a:t>
            </a:r>
            <a:r>
              <a:rPr lang="zh-CN" altLang="en-US" dirty="0"/>
              <a:t>构建与装载</a:t>
            </a:r>
            <a:endParaRPr lang="en-US" altLang="zh-CN" dirty="0"/>
          </a:p>
          <a:p>
            <a:r>
              <a:rPr lang="zh-CN" altLang="en-US" dirty="0"/>
              <a:t>运行时刷新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01ADD8D0-8287-4921-9177-230EA04F2C62}"/>
              </a:ext>
            </a:extLst>
          </p:cNvPr>
          <p:cNvSpPr/>
          <p:nvPr/>
        </p:nvSpPr>
        <p:spPr>
          <a:xfrm flipV="1">
            <a:off x="660399" y="3428999"/>
            <a:ext cx="447765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  <a:gd name="connsiteX0" fmla="*/ 511261 w 511261"/>
              <a:gd name="connsiteY0" fmla="*/ 193259 h 193259"/>
              <a:gd name="connsiteX1" fmla="*/ 232301 w 511261"/>
              <a:gd name="connsiteY1" fmla="*/ 0 h 193259"/>
              <a:gd name="connsiteX2" fmla="*/ 229919 w 511261"/>
              <a:gd name="connsiteY2" fmla="*/ 193259 h 193259"/>
              <a:gd name="connsiteX3" fmla="*/ 0 w 511261"/>
              <a:gd name="connsiteY3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261" h="193259">
                <a:moveTo>
                  <a:pt x="511261" y="193259"/>
                </a:move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370C460-24EB-4B65-9712-35D099499EFA}"/>
              </a:ext>
            </a:extLst>
          </p:cNvPr>
          <p:cNvCxnSpPr>
            <a:cxnSpLocks/>
            <a:stCxn id="17" idx="0"/>
          </p:cNvCxnSpPr>
          <p:nvPr/>
        </p:nvCxnSpPr>
        <p:spPr>
          <a:xfrm>
            <a:off x="1108164" y="3428999"/>
            <a:ext cx="5165636" cy="0"/>
          </a:xfrm>
          <a:prstGeom prst="lin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772708502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FDF7E-F481-C302-41AA-C067510ED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4ABB856-7BFD-15DF-73D8-F3815B014F1A}"/>
              </a:ext>
            </a:extLst>
          </p:cNvPr>
          <p:cNvSpPr txBox="1"/>
          <p:nvPr/>
        </p:nvSpPr>
        <p:spPr>
          <a:xfrm>
            <a:off x="757329" y="2177888"/>
            <a:ext cx="6186396" cy="2840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初始化主要包含如下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4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个步骤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342900" algn="just" defTabSz="914400" rtl="0" eaLnBrk="1" fontAlgn="base" latinLnBrk="0" hangingPunct="0"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引导：各架构汇编入口进入统一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Rust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主函数</a:t>
            </a:r>
          </a:p>
          <a:p>
            <a:pPr marL="342900" marR="0" lvl="0" indent="-342900" algn="just" defTabSz="914400" rtl="0" eaLnBrk="1" fontAlgn="base" latinLnBrk="0" hangingPunct="0"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内存：抽象页表操作，建立内核地址空间，统一页帧管理</a:t>
            </a:r>
          </a:p>
          <a:p>
            <a:pPr marL="342900" marR="0" lvl="0" indent="-342900" algn="just" defTabSz="914400" rtl="0" eaLnBrk="1" fontAlgn="base" latinLnBrk="0" hangingPunct="0"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中断：初始化各架构中断向量表</a:t>
            </a:r>
          </a:p>
          <a:p>
            <a:pPr marL="342900" marR="0" lvl="0" indent="-342900" algn="just" defTabSz="914400" rtl="0" eaLnBrk="1" fontAlgn="base" latinLnBrk="0" hangingPunct="0"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设备：探测层输出统一设备列表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F09A9BD5-3C73-1AE5-B9AB-3A8F1582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平台无关初始化路径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24CB0E1-1EB8-1CBB-7A16-504DDF4D9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462" y="14457"/>
            <a:ext cx="2729938" cy="684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55394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E6307-1877-556F-E570-D608CC618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B390611-DE99-1283-38E2-BCD064995022}"/>
              </a:ext>
            </a:extLst>
          </p:cNvPr>
          <p:cNvSpPr txBox="1"/>
          <p:nvPr/>
        </p:nvSpPr>
        <p:spPr>
          <a:xfrm>
            <a:off x="728754" y="1463972"/>
            <a:ext cx="6186396" cy="3878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各架构汇编进入统一的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Rust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主函数，通过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boot_info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传递内存布局</a:t>
            </a:r>
            <a:r>
              <a:rPr lang="zh-CN" altLang="en-US" sz="2200" dirty="0">
                <a:solidFill>
                  <a:prstClr val="black"/>
                </a:solidFill>
                <a:latin typeface="微软雅黑"/>
                <a:ea typeface="微软雅黑"/>
              </a:rPr>
              <a:t>等</a:t>
            </a:r>
            <a:r>
              <a:rPr lang="en-US" altLang="zh-CN" sz="2200" dirty="0">
                <a:solidFill>
                  <a:prstClr val="black"/>
                </a:solidFill>
                <a:latin typeface="微软雅黑"/>
                <a:ea typeface="微软雅黑"/>
              </a:rPr>
              <a:t>bootloader</a:t>
            </a:r>
            <a:r>
              <a:rPr lang="zh-CN" altLang="en-US" sz="2200" dirty="0">
                <a:solidFill>
                  <a:prstClr val="black"/>
                </a:solidFill>
                <a:latin typeface="微软雅黑"/>
                <a:ea typeface="微软雅黑"/>
              </a:rPr>
              <a:t>提供的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信息。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34290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RISC-V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：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SBI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固件完成硬件初始化后直接跳转内核入口，传递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FDT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指针，无需模式切换。</a:t>
            </a:r>
          </a:p>
          <a:p>
            <a:pPr marL="342900" marR="0" lvl="0" indent="-34290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x86_64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：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Multiboot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引导后处于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32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位保护模式，需配置页表与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CR0/CR4/EFER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进入长模式，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ljmp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跳入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64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位代码。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F089CEF6-B441-1AB5-3ADB-6ED50A9D8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x86_64</a:t>
            </a:r>
            <a:r>
              <a:rPr lang="zh-CN" altLang="en-US" dirty="0"/>
              <a:t>移植</a:t>
            </a:r>
            <a:r>
              <a:rPr lang="en-US" altLang="zh-CN" dirty="0"/>
              <a:t>——</a:t>
            </a:r>
            <a:r>
              <a:rPr lang="zh-CN" altLang="en-US" dirty="0"/>
              <a:t>引导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156CD17-2430-A7BB-AC3E-947362BEA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425" y="961933"/>
            <a:ext cx="5371575" cy="525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171331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F3C44-043C-12CB-F0C4-6BFC5665A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161CB95-69C0-AA41-000B-29EFACBD7426}"/>
              </a:ext>
            </a:extLst>
          </p:cNvPr>
          <p:cNvSpPr txBox="1"/>
          <p:nvPr/>
        </p:nvSpPr>
        <p:spPr>
          <a:xfrm>
            <a:off x="728754" y="1463972"/>
            <a:ext cx="6186396" cy="3878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解析平台物理内存布局，建立统一页帧分配器，通过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VSpace</a:t>
            </a:r>
            <a:r>
              <a:rPr lang="zh-CN" altLang="en-US" sz="2200" dirty="0">
                <a:solidFill>
                  <a:prstClr val="black"/>
                </a:solidFill>
                <a:latin typeface="微软雅黑"/>
                <a:ea typeface="微软雅黑"/>
              </a:rPr>
              <a:t>接口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抽象页表操作，完成内核地址空间构建。</a:t>
            </a:r>
          </a:p>
          <a:p>
            <a:pPr marL="342900" marR="0" lvl="0" indent="-34290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RISC-V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：解析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FDT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的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/memory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节点获取可用内存区域，使用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Sv39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三级页表，通过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satp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切换地址空间。</a:t>
            </a:r>
          </a:p>
          <a:p>
            <a:pPr marL="342900" marR="0" lvl="0" indent="-34290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x86_64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：从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Multiboot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信息获取内存布局，使用四级页表，通过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CR3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切换地址空间。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9A593E80-BFD0-62EF-B668-ABFB2B802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x86_64</a:t>
            </a:r>
            <a:r>
              <a:rPr lang="zh-CN" altLang="en-US" dirty="0"/>
              <a:t>移植</a:t>
            </a:r>
            <a:r>
              <a:rPr lang="en-US" altLang="zh-CN" dirty="0"/>
              <a:t>——</a:t>
            </a:r>
            <a:r>
              <a:rPr lang="zh-CN" altLang="en-US" dirty="0"/>
              <a:t>内存管理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F15E033-76DB-26E0-F166-6215EC58D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275" y="-141506"/>
            <a:ext cx="4206219" cy="714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92415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D71BA-D536-C899-EEF2-6863A12EB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E80AC40-FA6F-FA86-C5BB-6D92249A4762}"/>
              </a:ext>
            </a:extLst>
          </p:cNvPr>
          <p:cNvSpPr txBox="1"/>
          <p:nvPr/>
        </p:nvSpPr>
        <p:spPr>
          <a:xfrm>
            <a:off x="338312" y="1463972"/>
            <a:ext cx="5860952" cy="4318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各架构设置中断入口，汇编保存上下文并根据特权级分裂，最后</a:t>
            </a:r>
            <a:r>
              <a:rPr lang="zh-CN" altLang="en-US" sz="2200" dirty="0">
                <a:solidFill>
                  <a:prstClr val="black"/>
                </a:solidFill>
                <a:latin typeface="微软雅黑"/>
                <a:ea typeface="微软雅黑"/>
              </a:rPr>
              <a:t>交给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Rust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分发函数处理。</a:t>
            </a:r>
          </a:p>
          <a:p>
            <a:pPr marL="342900" marR="0" lvl="0" indent="-34290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RISC-V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：通过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stvec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指向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trap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入口，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ecall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触发</a:t>
            </a:r>
            <a:r>
              <a:rPr lang="zh-CN" altLang="en-US" sz="2200" dirty="0">
                <a:solidFill>
                  <a:prstClr val="black"/>
                </a:solidFill>
                <a:latin typeface="微软雅黑"/>
                <a:ea typeface="微软雅黑"/>
              </a:rPr>
              <a:t>中断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后汇编统一保存寄存器，区分来源后调用分发函数。</a:t>
            </a:r>
          </a:p>
          <a:p>
            <a:pPr marL="342900" marR="0" lvl="0" indent="-342900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x86_64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：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lidt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加载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IDT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，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LSTAR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指向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syscall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入口。汇编处理错误码补齐、保存通用寄存器，</a:t>
            </a:r>
            <a:r>
              <a:rPr lang="zh-CN" altLang="en-US" sz="2200" dirty="0">
                <a:solidFill>
                  <a:prstClr val="black"/>
                </a:solidFill>
                <a:latin typeface="微软雅黑"/>
                <a:ea typeface="微软雅黑"/>
              </a:rPr>
              <a:t>根据特权级换栈</a:t>
            </a:r>
            <a:r>
              <a:rPr lang="en-US" altLang="zh-CN" sz="2200" dirty="0">
                <a:solidFill>
                  <a:prstClr val="black"/>
                </a:solidFill>
                <a:latin typeface="微软雅黑"/>
                <a:ea typeface="微软雅黑"/>
              </a:rPr>
              <a:t>/</a:t>
            </a:r>
            <a:r>
              <a:rPr lang="en-US" altLang="zh-CN" sz="2200" dirty="0" err="1">
                <a:solidFill>
                  <a:prstClr val="black"/>
                </a:solidFill>
                <a:latin typeface="微软雅黑"/>
                <a:ea typeface="微软雅黑"/>
              </a:rPr>
              <a:t>swapgs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。异常与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syscall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使用相同中断上下文。</a:t>
            </a: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06E74373-858A-7C94-F7D8-22E3D186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x86_64</a:t>
            </a:r>
            <a:r>
              <a:rPr lang="zh-CN" altLang="en-US" dirty="0"/>
              <a:t>移植</a:t>
            </a:r>
            <a:r>
              <a:rPr lang="en-US" altLang="zh-CN" dirty="0"/>
              <a:t>——</a:t>
            </a:r>
            <a:r>
              <a:rPr lang="zh-CN" altLang="en-US" dirty="0"/>
              <a:t>中断设置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1621588-07B1-3AB5-0E50-28D2304D2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264" y="399530"/>
            <a:ext cx="5654424" cy="605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697030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7E5C2-39A4-8B9C-BBA8-129825C17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0B928B8-2F9F-2CFB-AF27-8A37E5793660}"/>
              </a:ext>
            </a:extLst>
          </p:cNvPr>
          <p:cNvSpPr txBox="1"/>
          <p:nvPr/>
        </p:nvSpPr>
        <p:spPr>
          <a:xfrm>
            <a:off x="728754" y="1463972"/>
            <a:ext cx="6186396" cy="3878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平台实现各自设备发现逻辑，向上层输出统一的设备列表，供域加载时使用。</a:t>
            </a:r>
          </a:p>
          <a:p>
            <a:pPr marL="342900" marR="0" lvl="0" indent="-34290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RISC-V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：解析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FDT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设备树，获取中断控制器、</a:t>
            </a:r>
            <a:r>
              <a:rPr kumimoji="0" lang="en-US" altLang="zh-CN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virtio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等设备信息，以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MMIO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访问为主。</a:t>
            </a:r>
          </a:p>
          <a:p>
            <a:pPr marL="342900" marR="0" lvl="0" indent="-342900" algn="just" defTabSz="914400" rtl="0" eaLnBrk="1" fontAlgn="base" latinLnBrk="0" hangingPunct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006C39"/>
              </a:buClr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x86_64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：以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ACPI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作为探测入口，解析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RSDP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与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SDT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表获取中断控制器、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PCI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配置空间等，进一步通过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MCFG/ECAM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扫描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PCI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总线，兼容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PIO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与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MMIO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两种访问方式。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26F562FF-9AAF-74E1-8496-4E7366C79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x86_64</a:t>
            </a:r>
            <a:r>
              <a:rPr lang="zh-CN" altLang="zh-CN" dirty="0"/>
              <a:t>移植</a:t>
            </a:r>
            <a:r>
              <a:rPr lang="en-US" altLang="zh-CN" dirty="0"/>
              <a:t>——</a:t>
            </a:r>
            <a:r>
              <a:rPr lang="zh-CN" altLang="en-US" dirty="0"/>
              <a:t>设备探测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432A7E7-FBB8-2652-698E-4EF097319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6886" y="249067"/>
            <a:ext cx="4972091" cy="635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28989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9EFE8-C0E2-29F5-DFCA-012CBBC6B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3F5EF780-54DD-DE85-D731-F95F8CFBF972}"/>
              </a:ext>
            </a:extLst>
          </p:cNvPr>
          <p:cNvSpPr/>
          <p:nvPr/>
        </p:nvSpPr>
        <p:spPr>
          <a:xfrm>
            <a:off x="6083300" y="1333141"/>
            <a:ext cx="5435600" cy="4389376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935E0ACF-3ED7-D311-BB90-645CEBDEB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vDSO</a:t>
            </a:r>
            <a:r>
              <a:rPr lang="zh-CN" altLang="en-US" dirty="0"/>
              <a:t>构建与内核装载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8B1B0B-C6B0-15E0-9A3F-36F6A633605B}"/>
              </a:ext>
            </a:extLst>
          </p:cNvPr>
          <p:cNvSpPr/>
          <p:nvPr/>
        </p:nvSpPr>
        <p:spPr>
          <a:xfrm>
            <a:off x="660400" y="1333141"/>
            <a:ext cx="5435600" cy="4389376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4" name="等腰三角形 13">
            <a:extLst>
              <a:ext uri="{FF2B5EF4-FFF2-40B4-BE49-F238E27FC236}">
                <a16:creationId xmlns:a16="http://schemas.microsoft.com/office/drawing/2014/main" id="{A4EFFD05-DFAF-7371-D843-FA79E51CBC52}"/>
              </a:ext>
            </a:extLst>
          </p:cNvPr>
          <p:cNvSpPr/>
          <p:nvPr/>
        </p:nvSpPr>
        <p:spPr>
          <a:xfrm rot="5400000">
            <a:off x="6051370" y="3430202"/>
            <a:ext cx="292707" cy="19513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5B1652-03AE-2467-18F8-A93005C43E0A}"/>
              </a:ext>
            </a:extLst>
          </p:cNvPr>
          <p:cNvSpPr txBox="1"/>
          <p:nvPr/>
        </p:nvSpPr>
        <p:spPr>
          <a:xfrm>
            <a:off x="6674789" y="1745927"/>
            <a:ext cx="3510609" cy="5055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内核加载与映射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2C3947B-42CB-A32B-E754-FBF5EAC62A06}"/>
              </a:ext>
            </a:extLst>
          </p:cNvPr>
          <p:cNvCxnSpPr>
            <a:cxnSpLocks/>
          </p:cNvCxnSpPr>
          <p:nvPr/>
        </p:nvCxnSpPr>
        <p:spPr>
          <a:xfrm>
            <a:off x="6718439" y="2524184"/>
            <a:ext cx="559638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FA37E17D-4240-ADDE-A074-52300872D509}"/>
              </a:ext>
            </a:extLst>
          </p:cNvPr>
          <p:cNvSpPr txBox="1"/>
          <p:nvPr/>
        </p:nvSpPr>
        <p:spPr>
          <a:xfrm>
            <a:off x="6295293" y="2852672"/>
            <a:ext cx="5039456" cy="22094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914400" rtl="0" eaLnBrk="1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内核实现</a:t>
            </a: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API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库的</a:t>
            </a:r>
            <a:r>
              <a:rPr kumimoji="0" lang="en-US" altLang="zh-CN" sz="16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MemIf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接口</a:t>
            </a:r>
            <a:endParaRPr kumimoji="0" lang="en-US" altLang="zh-CN" sz="16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285750" marR="0" lvl="0" indent="-285750" algn="just" defTabSz="914400" rtl="0" eaLnBrk="1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16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valloc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预留虚存区域</a:t>
            </a:r>
            <a:endParaRPr kumimoji="0" lang="en-US" altLang="zh-CN" sz="16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285750" marR="0" lvl="0" indent="-285750" algn="just" defTabSz="914400" rtl="0" eaLnBrk="1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16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ppage_alloc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分配物理页并自动回收</a:t>
            </a:r>
            <a:endParaRPr kumimoji="0" lang="en-US" altLang="zh-CN" sz="16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285750" marR="0" lvl="0" indent="-285750" algn="just" defTabSz="914400" rtl="0" eaLnBrk="1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map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建立只读可执行映射</a:t>
            </a:r>
            <a:endParaRPr kumimoji="0" lang="en-US" altLang="zh-CN" sz="16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just" defTabSz="914400" rtl="0" eaLnBrk="1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首次加载时解析</a:t>
            </a: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ELF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完成重定位，后续进程直接复用已映射物理页。</a:t>
            </a:r>
          </a:p>
          <a:p>
            <a:pPr marL="0" marR="0" lvl="0" indent="0" algn="just" defTabSz="914400" rtl="0" eaLnBrk="1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CCF8757-E0D1-DECF-E75E-72BC63D71EC7}"/>
              </a:ext>
            </a:extLst>
          </p:cNvPr>
          <p:cNvSpPr txBox="1"/>
          <p:nvPr/>
        </p:nvSpPr>
        <p:spPr>
          <a:xfrm>
            <a:off x="1137294" y="1745927"/>
            <a:ext cx="3625205" cy="5055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spc="300" dirty="0">
                <a:solidFill>
                  <a:prstClr val="white"/>
                </a:solidFill>
                <a:latin typeface="微软雅黑"/>
                <a:ea typeface="微软雅黑"/>
              </a:rPr>
              <a:t>编译</a:t>
            </a:r>
            <a:endParaRPr kumimoji="0" lang="zh-CN" altLang="en-US" sz="2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889DC80-DB0A-7D9C-3FD3-A64F06CD0019}"/>
              </a:ext>
            </a:extLst>
          </p:cNvPr>
          <p:cNvSpPr txBox="1"/>
          <p:nvPr/>
        </p:nvSpPr>
        <p:spPr>
          <a:xfrm>
            <a:off x="1137295" y="2890713"/>
            <a:ext cx="4572000" cy="3245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spc="300" dirty="0" err="1">
                <a:solidFill>
                  <a:prstClr val="white"/>
                </a:solidFill>
                <a:latin typeface="Century Gothic" panose="020B0502020202020204" pitchFamily="34" charset="0"/>
                <a:ea typeface="微软雅黑" panose="020B0503020204020204" pitchFamily="34" charset="-122"/>
              </a:rPr>
              <a:t>vdso_helper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9DCC8DB-CE24-799E-3D5F-91D11EDFCE0A}"/>
              </a:ext>
            </a:extLst>
          </p:cNvPr>
          <p:cNvCxnSpPr>
            <a:cxnSpLocks/>
          </p:cNvCxnSpPr>
          <p:nvPr/>
        </p:nvCxnSpPr>
        <p:spPr>
          <a:xfrm>
            <a:off x="1193644" y="2524184"/>
            <a:ext cx="55963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52E2F220-55C2-CF56-9912-CF99B6BEDE5F}"/>
              </a:ext>
            </a:extLst>
          </p:cNvPr>
          <p:cNvSpPr txBox="1"/>
          <p:nvPr/>
        </p:nvSpPr>
        <p:spPr>
          <a:xfrm>
            <a:off x="1137295" y="3297444"/>
            <a:ext cx="4572000" cy="6083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914400" rtl="0" eaLnBrk="1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提供</a:t>
            </a:r>
            <a:r>
              <a:rPr kumimoji="0" lang="en-US" altLang="zh-CN" sz="1600" b="0" i="0" u="none" strike="noStrike" kern="1200" cap="none" spc="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vvar_data</a:t>
            </a: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!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宏声明共享区字段，生成访问代码，省去手写偏移计算。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D4B48FF-654F-0740-C921-2C77D9AF095A}"/>
              </a:ext>
            </a:extLst>
          </p:cNvPr>
          <p:cNvSpPr txBox="1"/>
          <p:nvPr/>
        </p:nvSpPr>
        <p:spPr>
          <a:xfrm>
            <a:off x="1137295" y="4206653"/>
            <a:ext cx="4572000" cy="3245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build_vdso</a:t>
            </a:r>
            <a:endParaRPr kumimoji="0" lang="zh-CN" altLang="en-US" sz="18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BB19287-4C47-D50F-88EE-5B337CA19257}"/>
              </a:ext>
            </a:extLst>
          </p:cNvPr>
          <p:cNvSpPr txBox="1"/>
          <p:nvPr/>
        </p:nvSpPr>
        <p:spPr>
          <a:xfrm>
            <a:off x="1137295" y="4613384"/>
            <a:ext cx="4572000" cy="928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914400" rtl="0" eaLnBrk="1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将</a:t>
            </a:r>
            <a:r>
              <a:rPr kumimoji="0" lang="en-US" altLang="zh-CN" sz="1600" b="0" i="0" u="none" strike="noStrike" kern="1200" cap="none" spc="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vDSO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实现编译为位置无关的动态库，同时解析符号表生成</a:t>
            </a:r>
            <a:r>
              <a:rPr kumimoji="0" lang="en-US" altLang="zh-CN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API</a:t>
            </a: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库，记录各函数的偏移地址。</a:t>
            </a:r>
          </a:p>
        </p:txBody>
      </p:sp>
    </p:spTree>
    <p:extLst>
      <p:ext uri="{BB962C8B-B14F-4D97-AF65-F5344CB8AC3E}">
        <p14:creationId xmlns:p14="http://schemas.microsoft.com/office/powerpoint/2010/main" val="378629492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61D3F-4D98-ED39-49C3-D8B6C825C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CF6326-6398-D97E-9ECE-5EB54854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运行时刷新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E3FE11-51A7-0552-2682-439B8B76BA7E}"/>
              </a:ext>
            </a:extLst>
          </p:cNvPr>
          <p:cNvSpPr/>
          <p:nvPr/>
        </p:nvSpPr>
        <p:spPr>
          <a:xfrm>
            <a:off x="660400" y="1026788"/>
            <a:ext cx="10858500" cy="5003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E9464C-38DA-79D6-D37C-E4D4955B552E}"/>
              </a:ext>
            </a:extLst>
          </p:cNvPr>
          <p:cNvSpPr txBox="1"/>
          <p:nvPr/>
        </p:nvSpPr>
        <p:spPr>
          <a:xfrm>
            <a:off x="939764" y="1187549"/>
            <a:ext cx="5537236" cy="39260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内核写者在时钟中断中刷新：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将版本号置为奇数，标记“正在写入”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更新时间快照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将版本号递增为偶数，标记“写入完成”</a:t>
            </a: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用户态读者：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读取版本号，记为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seq1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若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seq1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为奇数，自旋等待后重新读取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读取时间快照数据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+mj-lt"/>
              <a:buAutoNum type="arabicPeriod"/>
              <a:tabLst/>
              <a:defRPr/>
            </a:pP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读取版本号，记为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seq2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，若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seq2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与</a:t>
            </a: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seq1</a:t>
            </a:r>
            <a:r>
              <a:rPr kumimoji="0" lang="zh-CN" altLang="en-US" sz="18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相等则数据有效，否则重试</a:t>
            </a:r>
            <a:endParaRPr kumimoji="0" lang="en-US" altLang="zh-CN" sz="18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C6EE46B-F325-B294-B370-48482770D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801" y="23253"/>
            <a:ext cx="3411973" cy="658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07496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B7D2D181-0346-43D2-9F2E-5DAF7DD81B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第三部分 ▷▷</a:t>
            </a:r>
            <a:endParaRPr lang="zh-CN" altLang="en-US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9112ECF1-1F56-49D7-B987-8479EEBCD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测试与分析</a:t>
            </a:r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32977950-DB53-4173-9011-DCA663AD83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测试设计</a:t>
            </a:r>
            <a:endParaRPr lang="en-US" altLang="zh-CN" dirty="0"/>
          </a:p>
          <a:p>
            <a:r>
              <a:rPr lang="zh-CN" altLang="en-US" dirty="0"/>
              <a:t>功能测试结果</a:t>
            </a:r>
            <a:endParaRPr lang="en-US" altLang="zh-CN" dirty="0"/>
          </a:p>
          <a:p>
            <a:r>
              <a:rPr lang="zh-CN" altLang="en-US" dirty="0"/>
              <a:t>性能测试结果</a:t>
            </a: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01ADD8D0-8287-4921-9177-230EA04F2C62}"/>
              </a:ext>
            </a:extLst>
          </p:cNvPr>
          <p:cNvSpPr/>
          <p:nvPr/>
        </p:nvSpPr>
        <p:spPr>
          <a:xfrm flipV="1">
            <a:off x="660399" y="3428999"/>
            <a:ext cx="447765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  <a:gd name="connsiteX0" fmla="*/ 511261 w 511261"/>
              <a:gd name="connsiteY0" fmla="*/ 193259 h 193259"/>
              <a:gd name="connsiteX1" fmla="*/ 232301 w 511261"/>
              <a:gd name="connsiteY1" fmla="*/ 0 h 193259"/>
              <a:gd name="connsiteX2" fmla="*/ 229919 w 511261"/>
              <a:gd name="connsiteY2" fmla="*/ 193259 h 193259"/>
              <a:gd name="connsiteX3" fmla="*/ 0 w 511261"/>
              <a:gd name="connsiteY3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261" h="193259">
                <a:moveTo>
                  <a:pt x="511261" y="193259"/>
                </a:move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370C460-24EB-4B65-9712-35D099499EFA}"/>
              </a:ext>
            </a:extLst>
          </p:cNvPr>
          <p:cNvCxnSpPr>
            <a:cxnSpLocks/>
            <a:stCxn id="17" idx="0"/>
          </p:cNvCxnSpPr>
          <p:nvPr/>
        </p:nvCxnSpPr>
        <p:spPr>
          <a:xfrm>
            <a:off x="1108164" y="3428999"/>
            <a:ext cx="5165636" cy="0"/>
          </a:xfrm>
          <a:prstGeom prst="lin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727804518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91861-EE0A-C3D1-E143-DE1FB52B7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>
            <a:extLst>
              <a:ext uri="{FF2B5EF4-FFF2-40B4-BE49-F238E27FC236}">
                <a16:creationId xmlns:a16="http://schemas.microsoft.com/office/drawing/2014/main" id="{6B9D306C-5A58-D868-2E9A-1DC6725EC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测试设计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085683-EA22-4C24-E1D3-504CD48FC36F}"/>
              </a:ext>
            </a:extLst>
          </p:cNvPr>
          <p:cNvSpPr/>
          <p:nvPr/>
        </p:nvSpPr>
        <p:spPr>
          <a:xfrm>
            <a:off x="650875" y="2062369"/>
            <a:ext cx="5246913" cy="39288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150DFD3-74B6-C168-5C37-F6E1A097FA82}"/>
              </a:ext>
            </a:extLst>
          </p:cNvPr>
          <p:cNvSpPr txBox="1"/>
          <p:nvPr/>
        </p:nvSpPr>
        <p:spPr>
          <a:xfrm>
            <a:off x="1127124" y="1217305"/>
            <a:ext cx="10090604" cy="3569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测试在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QEMU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模拟器中进行，分为功能测试和</a:t>
            </a:r>
            <a:r>
              <a:rPr kumimoji="0" lang="en-US" altLang="zh-CN" sz="2000" b="0" i="0" u="none" strike="noStrike" kern="1200" cap="none" spc="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vDSO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性能测试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6A9F8C86-AFD6-16BA-5A86-B5DEC2BF7F19}"/>
              </a:ext>
            </a:extLst>
          </p:cNvPr>
          <p:cNvSpPr/>
          <p:nvPr/>
        </p:nvSpPr>
        <p:spPr>
          <a:xfrm>
            <a:off x="2747773" y="2284805"/>
            <a:ext cx="1020741" cy="102074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BAFEA0-7D32-B761-4FBF-77A82A165E7F}"/>
              </a:ext>
            </a:extLst>
          </p:cNvPr>
          <p:cNvSpPr txBox="1"/>
          <p:nvPr/>
        </p:nvSpPr>
        <p:spPr>
          <a:xfrm>
            <a:off x="1946274" y="3428946"/>
            <a:ext cx="2656114" cy="5055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功能测试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228A160-D62A-CCB2-86BB-28285C85B5FB}"/>
              </a:ext>
            </a:extLst>
          </p:cNvPr>
          <p:cNvSpPr txBox="1"/>
          <p:nvPr/>
        </p:nvSpPr>
        <p:spPr>
          <a:xfrm>
            <a:off x="964746" y="4421015"/>
            <a:ext cx="4619170" cy="10452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-34290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altLang="zh-CN" dirty="0" err="1"/>
              <a:t>vDSO</a:t>
            </a:r>
            <a:r>
              <a:rPr lang="zh-CN" altLang="en-US" dirty="0"/>
              <a:t>与</a:t>
            </a:r>
            <a:r>
              <a:rPr lang="en-US" altLang="zh-CN" dirty="0" err="1"/>
              <a:t>syscall</a:t>
            </a:r>
            <a:r>
              <a:rPr lang="zh-CN" altLang="en-US" dirty="0"/>
              <a:t>时间比较</a:t>
            </a:r>
            <a:endParaRPr lang="en-US" altLang="zh-CN" dirty="0"/>
          </a:p>
          <a:p>
            <a:pPr indent="-34290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altLang="zh-CN" dirty="0" err="1"/>
              <a:t>syscall_all</a:t>
            </a:r>
            <a:r>
              <a:rPr lang="zh-CN" altLang="en-US" dirty="0"/>
              <a:t>测试程序（覆盖</a:t>
            </a:r>
            <a:r>
              <a:rPr lang="en-US" altLang="zh-CN" dirty="0"/>
              <a:t>7</a:t>
            </a:r>
            <a:r>
              <a:rPr lang="zh-CN" altLang="en-US" dirty="0"/>
              <a:t>类系统调用）</a:t>
            </a:r>
            <a:endParaRPr lang="en-US" altLang="zh-CN" dirty="0"/>
          </a:p>
          <a:p>
            <a:pPr indent="-34290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zh-CN" altLang="en-US" dirty="0"/>
              <a:t>进入交互</a:t>
            </a:r>
            <a:r>
              <a:rPr lang="en-US" altLang="zh-CN" dirty="0"/>
              <a:t>shell</a:t>
            </a:r>
            <a:endParaRPr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B2D5F65-2199-897F-20C4-4D21CE90ABEC}"/>
              </a:ext>
            </a:extLst>
          </p:cNvPr>
          <p:cNvSpPr/>
          <p:nvPr/>
        </p:nvSpPr>
        <p:spPr>
          <a:xfrm>
            <a:off x="6275163" y="2062369"/>
            <a:ext cx="5246911" cy="392885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sx="101000" sy="101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22450FF5-DE2E-430F-C953-141F1B0FD3DD}"/>
              </a:ext>
            </a:extLst>
          </p:cNvPr>
          <p:cNvSpPr/>
          <p:nvPr/>
        </p:nvSpPr>
        <p:spPr>
          <a:xfrm>
            <a:off x="8392716" y="2284805"/>
            <a:ext cx="1020741" cy="102074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4F3AD76-E7B3-4D22-8759-DF3852F21980}"/>
              </a:ext>
            </a:extLst>
          </p:cNvPr>
          <p:cNvSpPr txBox="1"/>
          <p:nvPr/>
        </p:nvSpPr>
        <p:spPr>
          <a:xfrm>
            <a:off x="7459436" y="3428946"/>
            <a:ext cx="2878364" cy="5055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300" normalizeH="0" baseline="0" noProof="0" dirty="0" err="1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vDSO</a:t>
            </a: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性能测试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2F438B6-C7FB-A5F2-AFDA-F0301F8A110A}"/>
              </a:ext>
            </a:extLst>
          </p:cNvPr>
          <p:cNvSpPr txBox="1"/>
          <p:nvPr/>
        </p:nvSpPr>
        <p:spPr>
          <a:xfrm>
            <a:off x="6608084" y="4396112"/>
            <a:ext cx="4619170" cy="6844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/>
              <a:t>窗口批量调用分摊计时开销，预热</a:t>
            </a:r>
            <a:r>
              <a:rPr lang="en-US" altLang="zh-CN" dirty="0"/>
              <a:t>64</a:t>
            </a:r>
            <a:r>
              <a:rPr lang="zh-CN" altLang="en-US" dirty="0"/>
              <a:t>次稳定缓存，单核运行排除干扰。</a:t>
            </a:r>
            <a:endParaRPr lang="zh-CN" altLang="en-US" spc="300" dirty="0">
              <a:solidFill>
                <a:prstClr val="black">
                  <a:lumMod val="85000"/>
                  <a:lumOff val="15000"/>
                </a:prstClr>
              </a:solidFill>
              <a:latin typeface="Century Gothic" panose="020B0502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4772FBE-13E8-DDC4-F608-EC56097D5A59}"/>
              </a:ext>
            </a:extLst>
          </p:cNvPr>
          <p:cNvGrpSpPr/>
          <p:nvPr/>
        </p:nvGrpSpPr>
        <p:grpSpPr>
          <a:xfrm>
            <a:off x="8662580" y="2548807"/>
            <a:ext cx="481013" cy="454026"/>
            <a:chOff x="1528763" y="4175125"/>
            <a:chExt cx="481013" cy="454026"/>
          </a:xfrm>
          <a:solidFill>
            <a:schemeClr val="bg1"/>
          </a:solidFill>
        </p:grpSpPr>
        <p:sp>
          <p:nvSpPr>
            <p:cNvPr id="40" name="Freeform 82">
              <a:extLst>
                <a:ext uri="{FF2B5EF4-FFF2-40B4-BE49-F238E27FC236}">
                  <a16:creationId xmlns:a16="http://schemas.microsoft.com/office/drawing/2014/main" id="{7FCF335F-5D37-5246-EB96-E480ABCE3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375" y="4175125"/>
              <a:ext cx="330200" cy="398463"/>
            </a:xfrm>
            <a:custGeom>
              <a:avLst/>
              <a:gdLst>
                <a:gd name="T0" fmla="*/ 4 w 88"/>
                <a:gd name="T1" fmla="*/ 46 h 106"/>
                <a:gd name="T2" fmla="*/ 42 w 88"/>
                <a:gd name="T3" fmla="*/ 8 h 106"/>
                <a:gd name="T4" fmla="*/ 42 w 88"/>
                <a:gd name="T5" fmla="*/ 104 h 106"/>
                <a:gd name="T6" fmla="*/ 44 w 88"/>
                <a:gd name="T7" fmla="*/ 106 h 106"/>
                <a:gd name="T8" fmla="*/ 46 w 88"/>
                <a:gd name="T9" fmla="*/ 104 h 106"/>
                <a:gd name="T10" fmla="*/ 46 w 88"/>
                <a:gd name="T11" fmla="*/ 8 h 106"/>
                <a:gd name="T12" fmla="*/ 84 w 88"/>
                <a:gd name="T13" fmla="*/ 46 h 106"/>
                <a:gd name="T14" fmla="*/ 88 w 88"/>
                <a:gd name="T15" fmla="*/ 46 h 106"/>
                <a:gd name="T16" fmla="*/ 88 w 88"/>
                <a:gd name="T17" fmla="*/ 43 h 106"/>
                <a:gd name="T18" fmla="*/ 46 w 88"/>
                <a:gd name="T19" fmla="*/ 1 h 106"/>
                <a:gd name="T20" fmla="*/ 42 w 88"/>
                <a:gd name="T21" fmla="*/ 1 h 106"/>
                <a:gd name="T22" fmla="*/ 0 w 88"/>
                <a:gd name="T23" fmla="*/ 43 h 106"/>
                <a:gd name="T24" fmla="*/ 0 w 88"/>
                <a:gd name="T25" fmla="*/ 46 h 106"/>
                <a:gd name="T26" fmla="*/ 4 w 88"/>
                <a:gd name="T27" fmla="*/ 4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8" h="106">
                  <a:moveTo>
                    <a:pt x="4" y="46"/>
                  </a:moveTo>
                  <a:cubicBezTo>
                    <a:pt x="42" y="8"/>
                    <a:pt x="42" y="8"/>
                    <a:pt x="42" y="8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42" y="105"/>
                    <a:pt x="43" y="106"/>
                    <a:pt x="44" y="106"/>
                  </a:cubicBezTo>
                  <a:cubicBezTo>
                    <a:pt x="45" y="106"/>
                    <a:pt x="46" y="105"/>
                    <a:pt x="46" y="104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84" y="46"/>
                    <a:pt x="84" y="46"/>
                    <a:pt x="84" y="46"/>
                  </a:cubicBezTo>
                  <a:cubicBezTo>
                    <a:pt x="85" y="47"/>
                    <a:pt x="87" y="47"/>
                    <a:pt x="88" y="46"/>
                  </a:cubicBezTo>
                  <a:cubicBezTo>
                    <a:pt x="88" y="45"/>
                    <a:pt x="88" y="44"/>
                    <a:pt x="88" y="43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5" y="0"/>
                    <a:pt x="43" y="0"/>
                    <a:pt x="42" y="1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0" y="45"/>
                    <a:pt x="0" y="46"/>
                  </a:cubicBezTo>
                  <a:cubicBezTo>
                    <a:pt x="1" y="47"/>
                    <a:pt x="3" y="47"/>
                    <a:pt x="4" y="4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1" name="Freeform 83">
              <a:extLst>
                <a:ext uri="{FF2B5EF4-FFF2-40B4-BE49-F238E27FC236}">
                  <a16:creationId xmlns:a16="http://schemas.microsoft.com/office/drawing/2014/main" id="{254946E4-7FD3-D530-B313-174E400A6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63" y="4557713"/>
              <a:ext cx="481013" cy="71438"/>
            </a:xfrm>
            <a:custGeom>
              <a:avLst/>
              <a:gdLst>
                <a:gd name="T0" fmla="*/ 126 w 128"/>
                <a:gd name="T1" fmla="*/ 0 h 19"/>
                <a:gd name="T2" fmla="*/ 123 w 128"/>
                <a:gd name="T3" fmla="*/ 2 h 19"/>
                <a:gd name="T4" fmla="*/ 123 w 128"/>
                <a:gd name="T5" fmla="*/ 14 h 19"/>
                <a:gd name="T6" fmla="*/ 5 w 128"/>
                <a:gd name="T7" fmla="*/ 14 h 19"/>
                <a:gd name="T8" fmla="*/ 5 w 128"/>
                <a:gd name="T9" fmla="*/ 2 h 19"/>
                <a:gd name="T10" fmla="*/ 2 w 128"/>
                <a:gd name="T11" fmla="*/ 0 h 19"/>
                <a:gd name="T12" fmla="*/ 0 w 128"/>
                <a:gd name="T13" fmla="*/ 2 h 19"/>
                <a:gd name="T14" fmla="*/ 0 w 128"/>
                <a:gd name="T15" fmla="*/ 17 h 19"/>
                <a:gd name="T16" fmla="*/ 2 w 128"/>
                <a:gd name="T17" fmla="*/ 19 h 19"/>
                <a:gd name="T18" fmla="*/ 126 w 128"/>
                <a:gd name="T19" fmla="*/ 19 h 19"/>
                <a:gd name="T20" fmla="*/ 128 w 128"/>
                <a:gd name="T21" fmla="*/ 17 h 19"/>
                <a:gd name="T22" fmla="*/ 128 w 128"/>
                <a:gd name="T23" fmla="*/ 2 h 19"/>
                <a:gd name="T24" fmla="*/ 126 w 128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19">
                  <a:moveTo>
                    <a:pt x="126" y="0"/>
                  </a:moveTo>
                  <a:cubicBezTo>
                    <a:pt x="124" y="0"/>
                    <a:pt x="123" y="1"/>
                    <a:pt x="123" y="2"/>
                  </a:cubicBezTo>
                  <a:cubicBezTo>
                    <a:pt x="123" y="14"/>
                    <a:pt x="123" y="14"/>
                    <a:pt x="123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ubicBezTo>
                    <a:pt x="126" y="19"/>
                    <a:pt x="126" y="19"/>
                    <a:pt x="126" y="19"/>
                  </a:cubicBezTo>
                  <a:cubicBezTo>
                    <a:pt x="127" y="19"/>
                    <a:pt x="128" y="18"/>
                    <a:pt x="128" y="17"/>
                  </a:cubicBezTo>
                  <a:cubicBezTo>
                    <a:pt x="128" y="2"/>
                    <a:pt x="128" y="2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D29060D5-0D7A-5C21-2810-649CDBC5F42C}"/>
              </a:ext>
            </a:extLst>
          </p:cNvPr>
          <p:cNvGrpSpPr/>
          <p:nvPr/>
        </p:nvGrpSpPr>
        <p:grpSpPr>
          <a:xfrm>
            <a:off x="3018431" y="2600412"/>
            <a:ext cx="479425" cy="454026"/>
            <a:chOff x="568325" y="4175125"/>
            <a:chExt cx="479425" cy="454026"/>
          </a:xfrm>
          <a:solidFill>
            <a:schemeClr val="bg1"/>
          </a:solidFill>
        </p:grpSpPr>
        <p:sp>
          <p:nvSpPr>
            <p:cNvPr id="43" name="Freeform 84">
              <a:extLst>
                <a:ext uri="{FF2B5EF4-FFF2-40B4-BE49-F238E27FC236}">
                  <a16:creationId xmlns:a16="http://schemas.microsoft.com/office/drawing/2014/main" id="{DD18DF98-2626-FD7C-876B-0689B5974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938" y="4175125"/>
              <a:ext cx="330200" cy="398463"/>
            </a:xfrm>
            <a:custGeom>
              <a:avLst/>
              <a:gdLst>
                <a:gd name="T0" fmla="*/ 42 w 88"/>
                <a:gd name="T1" fmla="*/ 105 h 106"/>
                <a:gd name="T2" fmla="*/ 46 w 88"/>
                <a:gd name="T3" fmla="*/ 105 h 106"/>
                <a:gd name="T4" fmla="*/ 88 w 88"/>
                <a:gd name="T5" fmla="*/ 63 h 106"/>
                <a:gd name="T6" fmla="*/ 88 w 88"/>
                <a:gd name="T7" fmla="*/ 62 h 106"/>
                <a:gd name="T8" fmla="*/ 88 w 88"/>
                <a:gd name="T9" fmla="*/ 60 h 106"/>
                <a:gd name="T10" fmla="*/ 84 w 88"/>
                <a:gd name="T11" fmla="*/ 60 h 106"/>
                <a:gd name="T12" fmla="*/ 46 w 88"/>
                <a:gd name="T13" fmla="*/ 98 h 106"/>
                <a:gd name="T14" fmla="*/ 46 w 88"/>
                <a:gd name="T15" fmla="*/ 3 h 106"/>
                <a:gd name="T16" fmla="*/ 44 w 88"/>
                <a:gd name="T17" fmla="*/ 0 h 106"/>
                <a:gd name="T18" fmla="*/ 42 w 88"/>
                <a:gd name="T19" fmla="*/ 3 h 106"/>
                <a:gd name="T20" fmla="*/ 42 w 88"/>
                <a:gd name="T21" fmla="*/ 98 h 106"/>
                <a:gd name="T22" fmla="*/ 4 w 88"/>
                <a:gd name="T23" fmla="*/ 60 h 106"/>
                <a:gd name="T24" fmla="*/ 2 w 88"/>
                <a:gd name="T25" fmla="*/ 60 h 106"/>
                <a:gd name="T26" fmla="*/ 0 w 88"/>
                <a:gd name="T27" fmla="*/ 60 h 106"/>
                <a:gd name="T28" fmla="*/ 0 w 88"/>
                <a:gd name="T29" fmla="*/ 62 h 106"/>
                <a:gd name="T30" fmla="*/ 0 w 88"/>
                <a:gd name="T31" fmla="*/ 63 h 106"/>
                <a:gd name="T32" fmla="*/ 42 w 88"/>
                <a:gd name="T33" fmla="*/ 10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8" h="106">
                  <a:moveTo>
                    <a:pt x="42" y="105"/>
                  </a:moveTo>
                  <a:cubicBezTo>
                    <a:pt x="43" y="106"/>
                    <a:pt x="45" y="106"/>
                    <a:pt x="46" y="105"/>
                  </a:cubicBezTo>
                  <a:cubicBezTo>
                    <a:pt x="88" y="63"/>
                    <a:pt x="88" y="63"/>
                    <a:pt x="88" y="63"/>
                  </a:cubicBezTo>
                  <a:cubicBezTo>
                    <a:pt x="88" y="63"/>
                    <a:pt x="88" y="62"/>
                    <a:pt x="88" y="62"/>
                  </a:cubicBezTo>
                  <a:cubicBezTo>
                    <a:pt x="88" y="61"/>
                    <a:pt x="88" y="61"/>
                    <a:pt x="88" y="60"/>
                  </a:cubicBezTo>
                  <a:cubicBezTo>
                    <a:pt x="87" y="59"/>
                    <a:pt x="85" y="59"/>
                    <a:pt x="84" y="60"/>
                  </a:cubicBezTo>
                  <a:cubicBezTo>
                    <a:pt x="46" y="98"/>
                    <a:pt x="46" y="98"/>
                    <a:pt x="46" y="98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1"/>
                    <a:pt x="45" y="0"/>
                    <a:pt x="44" y="0"/>
                  </a:cubicBezTo>
                  <a:cubicBezTo>
                    <a:pt x="43" y="0"/>
                    <a:pt x="42" y="1"/>
                    <a:pt x="42" y="3"/>
                  </a:cubicBezTo>
                  <a:cubicBezTo>
                    <a:pt x="42" y="98"/>
                    <a:pt x="42" y="98"/>
                    <a:pt x="42" y="98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3" y="60"/>
                    <a:pt x="3" y="60"/>
                    <a:pt x="2" y="60"/>
                  </a:cubicBezTo>
                  <a:cubicBezTo>
                    <a:pt x="1" y="60"/>
                    <a:pt x="1" y="60"/>
                    <a:pt x="0" y="60"/>
                  </a:cubicBezTo>
                  <a:cubicBezTo>
                    <a:pt x="0" y="61"/>
                    <a:pt x="0" y="61"/>
                    <a:pt x="0" y="62"/>
                  </a:cubicBezTo>
                  <a:cubicBezTo>
                    <a:pt x="0" y="62"/>
                    <a:pt x="0" y="63"/>
                    <a:pt x="0" y="63"/>
                  </a:cubicBezTo>
                  <a:lnTo>
                    <a:pt x="42" y="105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4" name="Freeform 85">
              <a:extLst>
                <a:ext uri="{FF2B5EF4-FFF2-40B4-BE49-F238E27FC236}">
                  <a16:creationId xmlns:a16="http://schemas.microsoft.com/office/drawing/2014/main" id="{4B298F49-DEDC-AAB2-AAED-62CA9B84B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325" y="4557713"/>
              <a:ext cx="479425" cy="71438"/>
            </a:xfrm>
            <a:custGeom>
              <a:avLst/>
              <a:gdLst>
                <a:gd name="T0" fmla="*/ 126 w 128"/>
                <a:gd name="T1" fmla="*/ 0 h 19"/>
                <a:gd name="T2" fmla="*/ 123 w 128"/>
                <a:gd name="T3" fmla="*/ 2 h 19"/>
                <a:gd name="T4" fmla="*/ 123 w 128"/>
                <a:gd name="T5" fmla="*/ 14 h 19"/>
                <a:gd name="T6" fmla="*/ 5 w 128"/>
                <a:gd name="T7" fmla="*/ 14 h 19"/>
                <a:gd name="T8" fmla="*/ 5 w 128"/>
                <a:gd name="T9" fmla="*/ 2 h 19"/>
                <a:gd name="T10" fmla="*/ 2 w 128"/>
                <a:gd name="T11" fmla="*/ 0 h 19"/>
                <a:gd name="T12" fmla="*/ 0 w 128"/>
                <a:gd name="T13" fmla="*/ 2 h 19"/>
                <a:gd name="T14" fmla="*/ 0 w 128"/>
                <a:gd name="T15" fmla="*/ 17 h 19"/>
                <a:gd name="T16" fmla="*/ 2 w 128"/>
                <a:gd name="T17" fmla="*/ 19 h 19"/>
                <a:gd name="T18" fmla="*/ 126 w 128"/>
                <a:gd name="T19" fmla="*/ 19 h 19"/>
                <a:gd name="T20" fmla="*/ 128 w 128"/>
                <a:gd name="T21" fmla="*/ 17 h 19"/>
                <a:gd name="T22" fmla="*/ 128 w 128"/>
                <a:gd name="T23" fmla="*/ 2 h 19"/>
                <a:gd name="T24" fmla="*/ 126 w 128"/>
                <a:gd name="T25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8" h="19">
                  <a:moveTo>
                    <a:pt x="126" y="0"/>
                  </a:moveTo>
                  <a:cubicBezTo>
                    <a:pt x="124" y="0"/>
                    <a:pt x="123" y="1"/>
                    <a:pt x="123" y="2"/>
                  </a:cubicBezTo>
                  <a:cubicBezTo>
                    <a:pt x="123" y="14"/>
                    <a:pt x="123" y="14"/>
                    <a:pt x="123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8"/>
                    <a:pt x="1" y="19"/>
                    <a:pt x="2" y="19"/>
                  </a:cubicBezTo>
                  <a:cubicBezTo>
                    <a:pt x="126" y="19"/>
                    <a:pt x="126" y="19"/>
                    <a:pt x="126" y="19"/>
                  </a:cubicBezTo>
                  <a:cubicBezTo>
                    <a:pt x="127" y="19"/>
                    <a:pt x="128" y="18"/>
                    <a:pt x="128" y="17"/>
                  </a:cubicBezTo>
                  <a:cubicBezTo>
                    <a:pt x="128" y="2"/>
                    <a:pt x="128" y="2"/>
                    <a:pt x="128" y="2"/>
                  </a:cubicBezTo>
                  <a:cubicBezTo>
                    <a:pt x="128" y="1"/>
                    <a:pt x="127" y="0"/>
                    <a:pt x="126" y="0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3316442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97876-6AB3-4F13-E214-B10A6C1EC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D2F2EE-0AFA-B7C6-0B0F-B4164328C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功能测试结果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F3A2747-2934-8CB1-094D-E9BE28C75141}"/>
              </a:ext>
            </a:extLst>
          </p:cNvPr>
          <p:cNvGrpSpPr/>
          <p:nvPr/>
        </p:nvGrpSpPr>
        <p:grpSpPr>
          <a:xfrm>
            <a:off x="442913" y="1920212"/>
            <a:ext cx="11306175" cy="3224349"/>
            <a:chOff x="1407886" y="2946399"/>
            <a:chExt cx="3715657" cy="3224349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6AAFE4B-803C-6D8D-87E2-59063A278F10}"/>
                </a:ext>
              </a:extLst>
            </p:cNvPr>
            <p:cNvSpPr/>
            <p:nvPr/>
          </p:nvSpPr>
          <p:spPr>
            <a:xfrm>
              <a:off x="1407886" y="2946399"/>
              <a:ext cx="3715657" cy="317862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6661505-B2D4-6A57-3A01-21FA918FCFD7}"/>
                </a:ext>
              </a:extLst>
            </p:cNvPr>
            <p:cNvSpPr/>
            <p:nvPr/>
          </p:nvSpPr>
          <p:spPr>
            <a:xfrm>
              <a:off x="1407886" y="6125029"/>
              <a:ext cx="3715657" cy="457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E24C7D7C-99BC-915F-0A28-9B48D64045E1}"/>
              </a:ext>
            </a:extLst>
          </p:cNvPr>
          <p:cNvSpPr txBox="1"/>
          <p:nvPr/>
        </p:nvSpPr>
        <p:spPr>
          <a:xfrm>
            <a:off x="1155737" y="2980228"/>
            <a:ext cx="4698963" cy="1782916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pc="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just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右侧</a:t>
            </a: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3</a:t>
            </a:r>
            <a:r>
              <a:rPr kumimoji="0" lang="zh-CN" alt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图展示了系统从</a:t>
            </a: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Multiboot</a:t>
            </a:r>
            <a:r>
              <a:rPr kumimoji="0" lang="zh-CN" alt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引导成功，完成</a:t>
            </a: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26</a:t>
            </a:r>
            <a:r>
              <a:rPr kumimoji="0" lang="zh-CN" alt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个域注册加载，用户态测试程序全部</a:t>
            </a: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PASS</a:t>
            </a:r>
            <a:r>
              <a:rPr kumimoji="0" lang="zh-CN" alt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，最终进入</a:t>
            </a: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Alien:/#</a:t>
            </a:r>
            <a:r>
              <a:rPr kumimoji="0" lang="zh-CN" alt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交互</a:t>
            </a:r>
            <a:r>
              <a: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shell</a:t>
            </a:r>
            <a:r>
              <a:rPr kumimoji="0" lang="zh-CN" alt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。初步验证功能正确。</a:t>
            </a:r>
          </a:p>
        </p:txBody>
      </p:sp>
      <p:sp>
        <p:nvSpPr>
          <p:cNvPr id="18" name="矩形: 圆角 93">
            <a:extLst>
              <a:ext uri="{FF2B5EF4-FFF2-40B4-BE49-F238E27FC236}">
                <a16:creationId xmlns:a16="http://schemas.microsoft.com/office/drawing/2014/main" id="{7DB90B7E-C79D-522F-2F59-9E2D5ABC265F}"/>
              </a:ext>
            </a:extLst>
          </p:cNvPr>
          <p:cNvSpPr/>
          <p:nvPr/>
        </p:nvSpPr>
        <p:spPr>
          <a:xfrm>
            <a:off x="1233716" y="2563093"/>
            <a:ext cx="3032502" cy="543754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prstClr val="white"/>
                </a:solidFill>
                <a:latin typeface="微软雅黑"/>
                <a:ea typeface="微软雅黑"/>
                <a:sym typeface="Wingdings 3" panose="05040102010807070707" pitchFamily="18" charset="2"/>
              </a:rPr>
              <a:t>输出片段</a:t>
            </a:r>
            <a:r>
              <a:rPr kumimoji="0" lang="zh-CN" altLang="en-US" sz="2400" b="1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Wingdings 3" panose="05040102010807070707" pitchFamily="18" charset="2"/>
              </a:rPr>
              <a:t>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2802F33-61BE-82C6-2E9F-B6D914C23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722" y="2374411"/>
            <a:ext cx="7856365" cy="657225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037831E-5F32-477B-9BFF-33F5B3692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376" y="3165336"/>
            <a:ext cx="2412593" cy="2227720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40EF568-4C97-908F-AEB8-375682669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8944" y="1063170"/>
            <a:ext cx="4004546" cy="1063563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378505677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F6CC2-E512-7394-A898-41FC2AEE1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1CA690-7CE2-E48A-58F4-FE9EDD94B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性能测试结果</a:t>
            </a:r>
          </a:p>
        </p:txBody>
      </p:sp>
      <p:graphicFrame>
        <p:nvGraphicFramePr>
          <p:cNvPr id="121" name="表格 120">
            <a:extLst>
              <a:ext uri="{FF2B5EF4-FFF2-40B4-BE49-F238E27FC236}">
                <a16:creationId xmlns:a16="http://schemas.microsoft.com/office/drawing/2014/main" id="{9CFAA7CC-C745-A191-45FB-3D7F97538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458201"/>
              </p:ext>
            </p:extLst>
          </p:nvPr>
        </p:nvGraphicFramePr>
        <p:xfrm>
          <a:off x="1344244" y="1349013"/>
          <a:ext cx="6256705" cy="4623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6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8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9701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样本数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1" dirty="0" err="1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vDSO</a:t>
                      </a:r>
                      <a:r>
                        <a:rPr lang="zh-CN" altLang="en-US" b="1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平均</a:t>
                      </a:r>
                      <a:r>
                        <a:rPr lang="en-US" altLang="zh-CN" b="1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ns)</a:t>
                      </a:r>
                    </a:p>
                  </a:txBody>
                  <a:tcPr marL="121920" marR="121920" marT="76200" marB="76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raw </a:t>
                      </a:r>
                      <a:r>
                        <a:rPr lang="en-US" b="1" dirty="0" err="1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syscall</a:t>
                      </a:r>
                      <a:r>
                        <a:rPr lang="zh-CN" altLang="en-US" b="1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平均</a:t>
                      </a:r>
                      <a:r>
                        <a:rPr lang="en-US" altLang="zh-CN" b="1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</a:rPr>
                        <a:t>ns)</a:t>
                      </a:r>
                    </a:p>
                  </a:txBody>
                  <a:tcPr marL="121920" marR="121920" marT="76200" marB="76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加速比</a:t>
                      </a:r>
                    </a:p>
                  </a:txBody>
                  <a:tcPr marL="121920" marR="121920" marT="76200" marB="762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22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quote-cjk-patch"/>
                        </a:rPr>
                        <a:t>64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quote-cjk-patch"/>
                        </a:rPr>
                        <a:t>1327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quote-cjk-patch"/>
                        </a:rPr>
                        <a:t>38860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29.3x</a:t>
                      </a:r>
                    </a:p>
                  </a:txBody>
                  <a:tcPr marL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22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quote-cjk-patch"/>
                        </a:rPr>
                        <a:t>128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quote-cjk-patch"/>
                        </a:rPr>
                        <a:t>511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quote-cjk-patch"/>
                        </a:rPr>
                        <a:t>35357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69.2x</a:t>
                      </a:r>
                    </a:p>
                  </a:txBody>
                  <a:tcPr marL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22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quote-cjk-patch"/>
                        </a:rPr>
                        <a:t>256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quote-cjk-patch"/>
                        </a:rPr>
                        <a:t>363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quote-cjk-patch"/>
                        </a:rPr>
                        <a:t>37914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104.5x</a:t>
                      </a:r>
                    </a:p>
                  </a:txBody>
                  <a:tcPr marL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22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quote-cjk-patch"/>
                        </a:rPr>
                        <a:t>512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quote-cjk-patch"/>
                        </a:rPr>
                        <a:t>282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quote-cjk-patch"/>
                        </a:rPr>
                        <a:t>36551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129.6x</a:t>
                      </a:r>
                    </a:p>
                  </a:txBody>
                  <a:tcPr marL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22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quote-cjk-patch"/>
                        </a:rPr>
                        <a:t>1024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  <a:latin typeface="quote-cjk-patch"/>
                        </a:rPr>
                        <a:t>286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  <a:latin typeface="quote-cjk-patch"/>
                        </a:rPr>
                        <a:t>45534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159.2x</a:t>
                      </a:r>
                    </a:p>
                  </a:txBody>
                  <a:tcPr marL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225710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11B3F39D-67F8-2269-D773-7EFFE4A4DF3C}"/>
              </a:ext>
            </a:extLst>
          </p:cNvPr>
          <p:cNvSpPr txBox="1"/>
          <p:nvPr/>
        </p:nvSpPr>
        <p:spPr>
          <a:xfrm>
            <a:off x="8209330" y="2180128"/>
            <a:ext cx="2990851" cy="3449147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pc="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algn="just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dirty="0"/>
              <a:t>左图显示，</a:t>
            </a:r>
            <a:r>
              <a:rPr lang="en-US" altLang="zh-CN" dirty="0" err="1"/>
              <a:t>vDSO</a:t>
            </a:r>
            <a:r>
              <a:rPr lang="zh-CN" altLang="en-US" dirty="0"/>
              <a:t>比传统系统调用快两个数量级。以</a:t>
            </a:r>
            <a:r>
              <a:rPr lang="en-US" altLang="zh-CN" dirty="0"/>
              <a:t>1024</a:t>
            </a:r>
            <a:r>
              <a:rPr lang="zh-CN" altLang="en-US" dirty="0"/>
              <a:t>次测试为例，</a:t>
            </a:r>
            <a:r>
              <a:rPr lang="en-US" altLang="zh-CN" dirty="0" err="1"/>
              <a:t>vDSO</a:t>
            </a:r>
            <a:r>
              <a:rPr lang="zh-CN" altLang="en-US" dirty="0"/>
              <a:t>仅需</a:t>
            </a:r>
            <a:r>
              <a:rPr lang="en-US" altLang="zh-CN" dirty="0"/>
              <a:t>286</a:t>
            </a:r>
            <a:r>
              <a:rPr lang="zh-CN" altLang="en-US" dirty="0"/>
              <a:t>纳秒，而系统调用需要</a:t>
            </a:r>
            <a:r>
              <a:rPr lang="en-US" altLang="zh-CN" dirty="0"/>
              <a:t>45534</a:t>
            </a:r>
            <a:r>
              <a:rPr lang="zh-CN" altLang="en-US" dirty="0"/>
              <a:t>纳秒，加速近</a:t>
            </a:r>
            <a:r>
              <a:rPr lang="en-US" altLang="zh-CN" dirty="0"/>
              <a:t>160</a:t>
            </a:r>
            <a:r>
              <a:rPr lang="zh-CN" altLang="en-US" dirty="0"/>
              <a:t>倍，开销降低</a:t>
            </a:r>
            <a:r>
              <a:rPr lang="en-US" altLang="zh-CN" dirty="0"/>
              <a:t>99%</a:t>
            </a:r>
            <a:r>
              <a:rPr lang="zh-CN" altLang="en-US" dirty="0"/>
              <a:t>以上。</a:t>
            </a:r>
            <a:endParaRPr kumimoji="0" lang="zh-CN" altLang="en-US" sz="18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7909321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B7D2D181-0346-43D2-9F2E-5DAF7DD81B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第四部分 ▷▷</a:t>
            </a:r>
            <a:endParaRPr lang="zh-CN" altLang="en-US" dirty="0">
              <a:blipFill>
                <a:blip r:embed="rId3"/>
                <a:stretch>
                  <a:fillRect/>
                </a:stretch>
              </a:blipFill>
            </a:endParaRP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9112ECF1-1F56-49D7-B987-8479EEBCD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总结与展望</a:t>
            </a:r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32977950-DB53-4173-9011-DCA663AD83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  <a:endParaRPr lang="en-US" altLang="zh-CN" dirty="0"/>
          </a:p>
          <a:p>
            <a:r>
              <a:rPr lang="zh-CN" altLang="en-US" dirty="0"/>
              <a:t>未来的改进方向</a:t>
            </a: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01ADD8D0-8287-4921-9177-230EA04F2C62}"/>
              </a:ext>
            </a:extLst>
          </p:cNvPr>
          <p:cNvSpPr/>
          <p:nvPr/>
        </p:nvSpPr>
        <p:spPr>
          <a:xfrm flipV="1">
            <a:off x="660399" y="3428999"/>
            <a:ext cx="447765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  <a:gd name="connsiteX0" fmla="*/ 511261 w 511261"/>
              <a:gd name="connsiteY0" fmla="*/ 193259 h 193259"/>
              <a:gd name="connsiteX1" fmla="*/ 232301 w 511261"/>
              <a:gd name="connsiteY1" fmla="*/ 0 h 193259"/>
              <a:gd name="connsiteX2" fmla="*/ 229919 w 511261"/>
              <a:gd name="connsiteY2" fmla="*/ 193259 h 193259"/>
              <a:gd name="connsiteX3" fmla="*/ 0 w 511261"/>
              <a:gd name="connsiteY3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261" h="193259">
                <a:moveTo>
                  <a:pt x="511261" y="193259"/>
                </a:move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370C460-24EB-4B65-9712-35D099499EFA}"/>
              </a:ext>
            </a:extLst>
          </p:cNvPr>
          <p:cNvCxnSpPr>
            <a:cxnSpLocks/>
            <a:stCxn id="17" idx="0"/>
          </p:cNvCxnSpPr>
          <p:nvPr/>
        </p:nvCxnSpPr>
        <p:spPr>
          <a:xfrm>
            <a:off x="1108164" y="3428999"/>
            <a:ext cx="5165636" cy="0"/>
          </a:xfrm>
          <a:prstGeom prst="lin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7070842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D51D7-C53E-A4CC-82D7-19BFD47C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>
            <a:extLst>
              <a:ext uri="{FF2B5EF4-FFF2-40B4-BE49-F238E27FC236}">
                <a16:creationId xmlns:a16="http://schemas.microsoft.com/office/drawing/2014/main" id="{E88155A1-1067-F0A3-622A-730619A7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总结与下一步工作</a:t>
            </a:r>
          </a:p>
        </p:txBody>
      </p:sp>
      <p:sp>
        <p:nvSpPr>
          <p:cNvPr id="11" name="内容占位符 1">
            <a:extLst>
              <a:ext uri="{FF2B5EF4-FFF2-40B4-BE49-F238E27FC236}">
                <a16:creationId xmlns:a16="http://schemas.microsoft.com/office/drawing/2014/main" id="{325120FE-4E96-AD8A-A8F6-701E727A8285}"/>
              </a:ext>
            </a:extLst>
          </p:cNvPr>
          <p:cNvSpPr txBox="1">
            <a:spLocks/>
          </p:cNvSpPr>
          <p:nvPr/>
        </p:nvSpPr>
        <p:spPr>
          <a:xfrm>
            <a:off x="1539631" y="1466851"/>
            <a:ext cx="9100038" cy="408622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本工作将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Alien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内核移植到了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x86_64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平台，覆盖引导、内存管理、中断适配与设备探测等环节，并建立了一套跨架构抽象。同时引入 </a:t>
            </a:r>
            <a:r>
              <a:rPr kumimoji="0" lang="en-US" altLang="zh-CN" sz="2000" b="0" i="0" u="none" strike="noStrike" kern="1200" cap="none" spc="30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vDSO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机制，大幅降低了高频系统调用的开销。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后续可以进一步进行：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srgbClr val="000000"/>
                </a:solidFill>
                <a:latin typeface="微软雅黑"/>
                <a:ea typeface="微软雅黑"/>
              </a:rPr>
              <a:t>基于</a:t>
            </a:r>
            <a:r>
              <a:rPr lang="en-US" altLang="zh-CN" sz="2000" dirty="0" err="1">
                <a:solidFill>
                  <a:srgbClr val="000000"/>
                </a:solidFill>
                <a:latin typeface="微软雅黑"/>
                <a:ea typeface="微软雅黑"/>
              </a:rPr>
              <a:t>vDSO</a:t>
            </a:r>
            <a:r>
              <a:rPr lang="zh-CN" altLang="en-US" sz="2000" dirty="0">
                <a:solidFill>
                  <a:srgbClr val="000000"/>
                </a:solidFill>
                <a:latin typeface="微软雅黑"/>
                <a:ea typeface="微软雅黑"/>
              </a:rPr>
              <a:t>引入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内核与用户协作调度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引入用户态中断提升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I/O</a:t>
            </a:r>
            <a:r>
              <a:rPr lang="zh-CN" altLang="en-US" sz="2000" dirty="0">
                <a:solidFill>
                  <a:srgbClr val="000000"/>
                </a:solidFill>
                <a:latin typeface="微软雅黑"/>
                <a:ea typeface="微软雅黑"/>
              </a:rPr>
              <a:t>性能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在真实物理硬件上完成部署与验证</a:t>
            </a:r>
          </a:p>
        </p:txBody>
      </p:sp>
      <p:sp>
        <p:nvSpPr>
          <p:cNvPr id="12" name="半闭框 11">
            <a:extLst>
              <a:ext uri="{FF2B5EF4-FFF2-40B4-BE49-F238E27FC236}">
                <a16:creationId xmlns:a16="http://schemas.microsoft.com/office/drawing/2014/main" id="{C581E25D-96A2-EF1C-353E-C9B4C3C7B50F}"/>
              </a:ext>
            </a:extLst>
          </p:cNvPr>
          <p:cNvSpPr/>
          <p:nvPr/>
        </p:nvSpPr>
        <p:spPr>
          <a:xfrm>
            <a:off x="1058985" y="1304926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半闭框 12">
            <a:extLst>
              <a:ext uri="{FF2B5EF4-FFF2-40B4-BE49-F238E27FC236}">
                <a16:creationId xmlns:a16="http://schemas.microsoft.com/office/drawing/2014/main" id="{91D2F8C0-02A1-7406-BC13-2D2D86150731}"/>
              </a:ext>
            </a:extLst>
          </p:cNvPr>
          <p:cNvSpPr/>
          <p:nvPr/>
        </p:nvSpPr>
        <p:spPr>
          <a:xfrm flipH="1" flipV="1">
            <a:off x="10652369" y="5481134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6094484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A453CE20-6C14-4C4C-84F7-26422658A810}"/>
              </a:ext>
            </a:extLst>
          </p:cNvPr>
          <p:cNvSpPr txBox="1">
            <a:spLocks/>
          </p:cNvSpPr>
          <p:nvPr/>
        </p:nvSpPr>
        <p:spPr>
          <a:xfrm>
            <a:off x="803276" y="4611630"/>
            <a:ext cx="10585448" cy="892503"/>
          </a:xfrm>
          <a:prstGeom prst="rect">
            <a:avLst/>
          </a:prstGeom>
        </p:spPr>
        <p:txBody>
          <a:bodyPr tIns="0" bIns="0" anchor="ctr" anchorCtr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感谢老师的悉心指导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831FADC7-207E-7B4E-8BBD-42F82FE1F818}"/>
              </a:ext>
            </a:extLst>
          </p:cNvPr>
          <p:cNvSpPr txBox="1">
            <a:spLocks/>
          </p:cNvSpPr>
          <p:nvPr/>
        </p:nvSpPr>
        <p:spPr>
          <a:xfrm>
            <a:off x="803276" y="5297168"/>
            <a:ext cx="10585448" cy="508452"/>
          </a:xfrm>
          <a:prstGeom prst="rect">
            <a:avLst/>
          </a:prstGeom>
        </p:spPr>
        <p:txBody>
          <a:bodyPr anchor="ctr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Thanks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2340847985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封6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6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内页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5587</TotalTime>
  <Words>1292</Words>
  <Application>Microsoft Office PowerPoint</Application>
  <PresentationFormat>宽屏</PresentationFormat>
  <Paragraphs>170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quote-cjk-patch</vt:lpstr>
      <vt:lpstr>等线</vt:lpstr>
      <vt:lpstr>微软雅黑</vt:lpstr>
      <vt:lpstr>微软雅黑 Light</vt:lpstr>
      <vt:lpstr>Arial</vt:lpstr>
      <vt:lpstr>Century Gothic</vt:lpstr>
      <vt:lpstr>Wingdings</vt:lpstr>
      <vt:lpstr>封6​​</vt:lpstr>
      <vt:lpstr>目6​​</vt:lpstr>
      <vt:lpstr>内页​​</vt:lpstr>
      <vt:lpstr>PowerPoint 演示文稿</vt:lpstr>
      <vt:lpstr>论文情况</vt:lpstr>
      <vt:lpstr>PowerPoint 演示文稿</vt:lpstr>
      <vt:lpstr>PowerPoint 演示文稿</vt:lpstr>
      <vt:lpstr>内核面临的问题</vt:lpstr>
      <vt:lpstr>现有工作</vt:lpstr>
      <vt:lpstr>研究工作与意义</vt:lpstr>
      <vt:lpstr>PowerPoint 演示文稿</vt:lpstr>
      <vt:lpstr>平台无关初始化路径</vt:lpstr>
      <vt:lpstr>x86_64移植——引导</vt:lpstr>
      <vt:lpstr>x86_64移植——内存管理</vt:lpstr>
      <vt:lpstr>x86_64移植——中断设置</vt:lpstr>
      <vt:lpstr>x86_64移植——设备探测</vt:lpstr>
      <vt:lpstr>vDSO构建与内核装载</vt:lpstr>
      <vt:lpstr>运行时刷新</vt:lpstr>
      <vt:lpstr>PowerPoint 演示文稿</vt:lpstr>
      <vt:lpstr>测试设计</vt:lpstr>
      <vt:lpstr>功能测试结果</vt:lpstr>
      <vt:lpstr>性能测试结果</vt:lpstr>
      <vt:lpstr>PowerPoint 演示文稿</vt:lpstr>
      <vt:lpstr>总结与下一步工作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jc h</dc:creator>
  <cp:lastModifiedBy>jc h</cp:lastModifiedBy>
  <cp:revision>333</cp:revision>
  <dcterms:created xsi:type="dcterms:W3CDTF">2026-05-22T15:55:10Z</dcterms:created>
  <dcterms:modified xsi:type="dcterms:W3CDTF">2026-05-27T06:56:04Z</dcterms:modified>
</cp:coreProperties>
</file>
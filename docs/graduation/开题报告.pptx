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5" r:id="rId2"/>
    <p:sldMasterId id="2147483668" r:id="rId3"/>
  </p:sldMasterIdLst>
  <p:notesMasterIdLst>
    <p:notesMasterId r:id="rId18"/>
  </p:notesMasterIdLst>
  <p:sldIdLst>
    <p:sldId id="1832" r:id="rId4"/>
    <p:sldId id="1851" r:id="rId5"/>
    <p:sldId id="1852" r:id="rId6"/>
    <p:sldId id="2725" r:id="rId7"/>
    <p:sldId id="2736" r:id="rId8"/>
    <p:sldId id="2727" r:id="rId9"/>
    <p:sldId id="1853" r:id="rId10"/>
    <p:sldId id="2738" r:id="rId11"/>
    <p:sldId id="2746" r:id="rId12"/>
    <p:sldId id="2737" r:id="rId13"/>
    <p:sldId id="2741" r:id="rId14"/>
    <p:sldId id="1854" r:id="rId15"/>
    <p:sldId id="2745" r:id="rId16"/>
    <p:sldId id="183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0B8DC-728D-4E53-A84C-94ADB8FB2658}" type="datetimeFigureOut">
              <a:rPr lang="zh-CN" altLang="en-US" smtClean="0"/>
              <a:t>2025/12/31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0265A-C3DE-4EC1-BA1A-731D0D4C369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19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888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23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2379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2685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61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0497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983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98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83274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016A-C7D8-940D-0157-0E0AEE0A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C7B98-74EE-224F-9827-2EFC3254B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D6EAEF-E0CC-3C5B-E131-C2D075E22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70712C-FD3B-25B4-85AC-3AF560D5D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1133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21324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196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0761A886-F0D7-4C39-AFFF-052DB74E32F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61E30CDC-6882-4EF4-A98A-D29C1686BFE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221886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任意多边形: 形状 39">
            <a:extLst>
              <a:ext uri="{FF2B5EF4-FFF2-40B4-BE49-F238E27FC236}">
                <a16:creationId xmlns:a16="http://schemas.microsoft.com/office/drawing/2014/main" id="{B18E0BAC-81B9-4AB0-A570-682285AF4673}"/>
              </a:ext>
            </a:extLst>
          </p:cNvPr>
          <p:cNvSpPr/>
          <p:nvPr userDrawn="1"/>
        </p:nvSpPr>
        <p:spPr>
          <a:xfrm>
            <a:off x="0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" name="任意多边形: 形状 74">
            <a:extLst>
              <a:ext uri="{FF2B5EF4-FFF2-40B4-BE49-F238E27FC236}">
                <a16:creationId xmlns:a16="http://schemas.microsoft.com/office/drawing/2014/main" id="{4CEDE2BC-7BF6-4AE3-8B04-4514441E4040}"/>
              </a:ext>
            </a:extLst>
          </p:cNvPr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2" name="标题 47">
            <a:extLst>
              <a:ext uri="{FF2B5EF4-FFF2-40B4-BE49-F238E27FC236}">
                <a16:creationId xmlns:a16="http://schemas.microsoft.com/office/drawing/2014/main" id="{26FA9A66-DBB6-484A-829A-BC30DE6725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>
            <a:extLst>
              <a:ext uri="{FF2B5EF4-FFF2-40B4-BE49-F238E27FC236}">
                <a16:creationId xmlns:a16="http://schemas.microsoft.com/office/drawing/2014/main" id="{F56DEE86-1AA4-4820-A7A1-E4F787904C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>
            <a:extLst>
              <a:ext uri="{FF2B5EF4-FFF2-40B4-BE49-F238E27FC236}">
                <a16:creationId xmlns:a16="http://schemas.microsoft.com/office/drawing/2014/main" id="{28747CEA-1C37-4144-A247-245AD13935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474450" y="318256"/>
            <a:ext cx="2104863" cy="792864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◁ BIT </a:t>
            </a:r>
            <a:r>
              <a:rPr kumimoji="0" lang="en-US" altLang="zh-CN" sz="2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▷</a:t>
            </a:r>
            <a:endParaRPr kumimoji="0" lang="zh-CN" altLang="en-US" sz="2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94" y="-774608"/>
            <a:ext cx="7885491" cy="7588381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50874" y="2196869"/>
            <a:ext cx="3243162" cy="2464261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9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5422674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610651" y="161103"/>
            <a:ext cx="6791691" cy="653579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9BCF8FA-A10E-4A84-94FB-9EE190AFE929}"/>
              </a:ext>
            </a:extLst>
          </p:cNvPr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46A2DAE-C2C5-44C0-8C41-6B17019A21CC}"/>
              </a:ext>
            </a:extLst>
          </p:cNvPr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262847"/>
              <a:gd name="connsiteX1" fmla="*/ 6415214 w 6415214"/>
              <a:gd name="connsiteY1" fmla="*/ 171407 h 262847"/>
              <a:gd name="connsiteX2" fmla="*/ 6415214 w 6415214"/>
              <a:gd name="connsiteY2" fmla="*/ 100390 h 262847"/>
              <a:gd name="connsiteX3" fmla="*/ 511261 w 6415214"/>
              <a:gd name="connsiteY3" fmla="*/ 100390 h 262847"/>
              <a:gd name="connsiteX4" fmla="*/ 229919 w 6415214"/>
              <a:gd name="connsiteY4" fmla="*/ 0 h 262847"/>
              <a:gd name="connsiteX5" fmla="*/ 229919 w 6415214"/>
              <a:gd name="connsiteY5" fmla="*/ 100390 h 262847"/>
              <a:gd name="connsiteX6" fmla="*/ 0 w 6415214"/>
              <a:gd name="connsiteY6" fmla="*/ 100390 h 262847"/>
              <a:gd name="connsiteX7" fmla="*/ 91440 w 6415214"/>
              <a:gd name="connsiteY7" fmla="*/ 262847 h 262847"/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" fmla="*/ 0 w 6415214"/>
              <a:gd name="connsiteY0" fmla="*/ 171407 h 171407"/>
              <a:gd name="connsiteX1" fmla="*/ 6415214 w 6415214"/>
              <a:gd name="connsiteY1" fmla="*/ 100390 h 171407"/>
              <a:gd name="connsiteX2" fmla="*/ 511261 w 6415214"/>
              <a:gd name="connsiteY2" fmla="*/ 100390 h 171407"/>
              <a:gd name="connsiteX3" fmla="*/ 229919 w 6415214"/>
              <a:gd name="connsiteY3" fmla="*/ 0 h 171407"/>
              <a:gd name="connsiteX4" fmla="*/ 229919 w 6415214"/>
              <a:gd name="connsiteY4" fmla="*/ 100390 h 171407"/>
              <a:gd name="connsiteX5" fmla="*/ 0 w 6415214"/>
              <a:gd name="connsiteY5" fmla="*/ 100390 h 171407"/>
              <a:gd name="connsiteX0" fmla="*/ 6415214 w 6415214"/>
              <a:gd name="connsiteY0" fmla="*/ 100390 h 100390"/>
              <a:gd name="connsiteX1" fmla="*/ 511261 w 6415214"/>
              <a:gd name="connsiteY1" fmla="*/ 100390 h 100390"/>
              <a:gd name="connsiteX2" fmla="*/ 229919 w 6415214"/>
              <a:gd name="connsiteY2" fmla="*/ 0 h 100390"/>
              <a:gd name="connsiteX3" fmla="*/ 229919 w 6415214"/>
              <a:gd name="connsiteY3" fmla="*/ 100390 h 100390"/>
              <a:gd name="connsiteX4" fmla="*/ 0 w 6415214"/>
              <a:gd name="connsiteY4" fmla="*/ 100390 h 100390"/>
              <a:gd name="connsiteX0" fmla="*/ 6415214 w 6415214"/>
              <a:gd name="connsiteY0" fmla="*/ 195640 h 195640"/>
              <a:gd name="connsiteX1" fmla="*/ 511261 w 6415214"/>
              <a:gd name="connsiteY1" fmla="*/ 195640 h 195640"/>
              <a:gd name="connsiteX2" fmla="*/ 227538 w 6415214"/>
              <a:gd name="connsiteY2" fmla="*/ 0 h 195640"/>
              <a:gd name="connsiteX3" fmla="*/ 229919 w 6415214"/>
              <a:gd name="connsiteY3" fmla="*/ 195640 h 195640"/>
              <a:gd name="connsiteX4" fmla="*/ 0 w 6415214"/>
              <a:gd name="connsiteY4" fmla="*/ 195640 h 195640"/>
              <a:gd name="connsiteX0" fmla="*/ 6415214 w 6415214"/>
              <a:gd name="connsiteY0" fmla="*/ 193259 h 193259"/>
              <a:gd name="connsiteX1" fmla="*/ 511261 w 6415214"/>
              <a:gd name="connsiteY1" fmla="*/ 193259 h 193259"/>
              <a:gd name="connsiteX2" fmla="*/ 232301 w 6415214"/>
              <a:gd name="connsiteY2" fmla="*/ 0 h 193259"/>
              <a:gd name="connsiteX3" fmla="*/ 229919 w 6415214"/>
              <a:gd name="connsiteY3" fmla="*/ 193259 h 193259"/>
              <a:gd name="connsiteX4" fmla="*/ 0 w 6415214"/>
              <a:gd name="connsiteY4" fmla="*/ 193259 h 193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>
            <a:extLst>
              <a:ext uri="{FF2B5EF4-FFF2-40B4-BE49-F238E27FC236}">
                <a16:creationId xmlns:a16="http://schemas.microsoft.com/office/drawing/2014/main" id="{00D06366-D345-4DCE-A938-EC3BB78363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1261" y="2359437"/>
            <a:ext cx="2855386" cy="216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31531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>
            <a:extLst>
              <a:ext uri="{FF2B5EF4-FFF2-40B4-BE49-F238E27FC236}">
                <a16:creationId xmlns:a16="http://schemas.microsoft.com/office/drawing/2014/main" id="{F617AE56-2DFD-4B3C-9381-5F4B6AA7F4D0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2598B5BD-9CE3-4414-BCF1-860652297EE0}"/>
              </a:ext>
            </a:extLst>
          </p:cNvPr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71EDBCA9-8B80-4A76-9586-83EE76079DF6}"/>
              </a:ext>
            </a:extLst>
          </p:cNvPr>
          <p:cNvSpPr/>
          <p:nvPr userDrawn="1"/>
        </p:nvSpPr>
        <p:spPr>
          <a:xfrm rot="2885786">
            <a:off x="1087929" y="-2969595"/>
            <a:ext cx="10843749" cy="12155155"/>
          </a:xfrm>
          <a:custGeom>
            <a:avLst/>
            <a:gdLst>
              <a:gd name="connsiteX0" fmla="*/ 6051751 w 10843749"/>
              <a:gd name="connsiteY0" fmla="*/ 1433305 h 12155155"/>
              <a:gd name="connsiteX1" fmla="*/ 6837805 w 10843749"/>
              <a:gd name="connsiteY1" fmla="*/ 587393 h 12155155"/>
              <a:gd name="connsiteX2" fmla="*/ 7410328 w 10843749"/>
              <a:gd name="connsiteY2" fmla="*/ 0 h 12155155"/>
              <a:gd name="connsiteX3" fmla="*/ 10843749 w 10843749"/>
              <a:gd name="connsiteY3" fmla="*/ 3081016 h 12155155"/>
              <a:gd name="connsiteX4" fmla="*/ 2700969 w 10843749"/>
              <a:gd name="connsiteY4" fmla="*/ 12155155 h 12155155"/>
              <a:gd name="connsiteX5" fmla="*/ 0 w 10843749"/>
              <a:gd name="connsiteY5" fmla="*/ 9731411 h 12155155"/>
              <a:gd name="connsiteX6" fmla="*/ 261077 w 10843749"/>
              <a:gd name="connsiteY6" fmla="*/ 9278934 h 12155155"/>
              <a:gd name="connsiteX7" fmla="*/ 6051751 w 10843749"/>
              <a:gd name="connsiteY7" fmla="*/ 1433305 h 12155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43749" h="12155155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843749" y="3081016"/>
                </a:lnTo>
                <a:lnTo>
                  <a:pt x="2700969" y="12155155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3BDC8EB-D763-47E3-A6AE-FBF19E39A979}"/>
              </a:ext>
            </a:extLst>
          </p:cNvPr>
          <p:cNvSpPr/>
          <p:nvPr userDrawn="1"/>
        </p:nvSpPr>
        <p:spPr>
          <a:xfrm rot="1846855">
            <a:off x="-307281" y="-539696"/>
            <a:ext cx="12650822" cy="11532482"/>
          </a:xfrm>
          <a:custGeom>
            <a:avLst/>
            <a:gdLst>
              <a:gd name="connsiteX0" fmla="*/ 7956679 w 12650822"/>
              <a:gd name="connsiteY0" fmla="*/ 1195248 h 11532482"/>
              <a:gd name="connsiteX1" fmla="*/ 9978822 w 12650822"/>
              <a:gd name="connsiteY1" fmla="*/ 62012 h 11532482"/>
              <a:gd name="connsiteX2" fmla="*/ 10098991 w 12650822"/>
              <a:gd name="connsiteY2" fmla="*/ 0 h 11532482"/>
              <a:gd name="connsiteX3" fmla="*/ 12650822 w 12650822"/>
              <a:gd name="connsiteY3" fmla="*/ 4283979 h 11532482"/>
              <a:gd name="connsiteX4" fmla="*/ 12245569 w 12650822"/>
              <a:gd name="connsiteY4" fmla="*/ 4531370 h 11532482"/>
              <a:gd name="connsiteX5" fmla="*/ 3166697 w 12650822"/>
              <a:gd name="connsiteY5" fmla="*/ 11321300 h 11532482"/>
              <a:gd name="connsiteX6" fmla="*/ 2933905 w 12650822"/>
              <a:gd name="connsiteY6" fmla="*/ 11532482 h 11532482"/>
              <a:gd name="connsiteX7" fmla="*/ 1718627 w 12650822"/>
              <a:gd name="connsiteY7" fmla="*/ 9865697 h 11532482"/>
              <a:gd name="connsiteX8" fmla="*/ 0 w 12650822"/>
              <a:gd name="connsiteY8" fmla="*/ 6980488 h 11532482"/>
              <a:gd name="connsiteX9" fmla="*/ 22022 w 12650822"/>
              <a:gd name="connsiteY9" fmla="*/ 6960742 h 11532482"/>
              <a:gd name="connsiteX10" fmla="*/ 4718407 w 12650822"/>
              <a:gd name="connsiteY10" fmla="*/ 3273000 h 11532482"/>
              <a:gd name="connsiteX11" fmla="*/ 7956679 w 12650822"/>
              <a:gd name="connsiteY11" fmla="*/ 1195248 h 11532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50822" h="11532482">
                <a:moveTo>
                  <a:pt x="7956679" y="1195248"/>
                </a:moveTo>
                <a:cubicBezTo>
                  <a:pt x="8621077" y="803084"/>
                  <a:pt x="9295272" y="425195"/>
                  <a:pt x="9978822" y="62012"/>
                </a:cubicBezTo>
                <a:lnTo>
                  <a:pt x="10098991" y="0"/>
                </a:lnTo>
                <a:lnTo>
                  <a:pt x="12650822" y="4283979"/>
                </a:lnTo>
                <a:lnTo>
                  <a:pt x="12245569" y="4531370"/>
                </a:lnTo>
                <a:cubicBezTo>
                  <a:pt x="9012618" y="6531229"/>
                  <a:pt x="5974903" y="8805712"/>
                  <a:pt x="3166697" y="11321300"/>
                </a:cubicBezTo>
                <a:lnTo>
                  <a:pt x="2933905" y="11532482"/>
                </a:lnTo>
                <a:lnTo>
                  <a:pt x="1718627" y="9865697"/>
                </a:lnTo>
                <a:lnTo>
                  <a:pt x="0" y="6980488"/>
                </a:lnTo>
                <a:lnTo>
                  <a:pt x="22022" y="6960742"/>
                </a:lnTo>
                <a:cubicBezTo>
                  <a:pt x="1511041" y="5644986"/>
                  <a:pt x="3079104" y="4413194"/>
                  <a:pt x="4718407" y="3273000"/>
                </a:cubicBezTo>
                <a:cubicBezTo>
                  <a:pt x="5769244" y="2542106"/>
                  <a:pt x="6849352" y="1848853"/>
                  <a:pt x="7956679" y="1195248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49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50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0EDC3667-87B7-4232-9F74-2F0E9CE7574F}"/>
              </a:ext>
            </a:extLst>
          </p:cNvPr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BF5A8484-2D5B-4F59-A3A8-5B9369A9154A}"/>
              </a:ext>
            </a:extLst>
          </p:cNvPr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ea"/>
            </a:endParaRPr>
          </a:p>
        </p:txBody>
      </p:sp>
      <p:sp>
        <p:nvSpPr>
          <p:cNvPr id="48" name="标题 47">
            <a:extLst>
              <a:ext uri="{FF2B5EF4-FFF2-40B4-BE49-F238E27FC236}">
                <a16:creationId xmlns:a16="http://schemas.microsoft.com/office/drawing/2014/main" id="{253B7C5E-3F08-4EBF-9056-30949C85AEF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>
            <a:extLst>
              <a:ext uri="{FF2B5EF4-FFF2-40B4-BE49-F238E27FC236}">
                <a16:creationId xmlns:a16="http://schemas.microsoft.com/office/drawing/2014/main" id="{6465F7BF-7316-4A2A-9ECF-AB9E637FFCF4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98AF966-7C79-45DC-9C70-AB081DBECE7D}"/>
              </a:ext>
            </a:extLst>
          </p:cNvPr>
          <p:cNvCxnSpPr>
            <a:cxnSpLocks/>
          </p:cNvCxnSpPr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66200" y="944838"/>
            <a:ext cx="4510874" cy="1262604"/>
          </a:xfrm>
          <a:prstGeom prst="rect">
            <a:avLst/>
          </a:prstGeom>
        </p:spPr>
      </p:pic>
      <p:sp>
        <p:nvSpPr>
          <p:cNvPr id="51" name="文本框 50"/>
          <p:cNvSpPr txBox="1"/>
          <p:nvPr userDrawn="1"/>
        </p:nvSpPr>
        <p:spPr>
          <a:xfrm>
            <a:off x="150844" y="6088688"/>
            <a:ext cx="2156520" cy="617431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BIT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|</a:t>
            </a:r>
            <a:r>
              <a:rPr kumimoji="0" lang="en-US" altLang="zh-CN" sz="1400" b="0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400" b="1" i="0" u="none" strike="noStrike" kern="1200" cap="none" spc="10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SINCE 1940</a:t>
            </a: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7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6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4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695711658"/>
      </p:ext>
    </p:extLst>
  </p:cSld>
  <p:clrMapOvr>
    <a:masterClrMapping/>
  </p:clrMapOvr>
  <p:transition spd="med"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>
            <a:extLst>
              <a:ext uri="{FF2B5EF4-FFF2-40B4-BE49-F238E27FC236}">
                <a16:creationId xmlns:a16="http://schemas.microsoft.com/office/drawing/2014/main" id="{17BF7535-8F01-44D8-BF44-00C5CD915389}"/>
              </a:ext>
            </a:extLst>
          </p:cNvPr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" fmla="*/ 0 w 3162300"/>
              <a:gd name="connsiteY0" fmla="*/ 2147409 h 2238849"/>
              <a:gd name="connsiteX1" fmla="*/ 0 w 3162300"/>
              <a:gd name="connsiteY1" fmla="*/ 1565265 h 2238849"/>
              <a:gd name="connsiteX2" fmla="*/ 0 w 3162300"/>
              <a:gd name="connsiteY2" fmla="*/ 1544697 h 2238849"/>
              <a:gd name="connsiteX3" fmla="*/ 0 w 3162300"/>
              <a:gd name="connsiteY3" fmla="*/ 0 h 2238849"/>
              <a:gd name="connsiteX4" fmla="*/ 1585774 w 3162300"/>
              <a:gd name="connsiteY4" fmla="*/ 1112898 h 2238849"/>
              <a:gd name="connsiteX5" fmla="*/ 3162300 w 3162300"/>
              <a:gd name="connsiteY5" fmla="*/ 0 h 2238849"/>
              <a:gd name="connsiteX6" fmla="*/ 3162300 w 3162300"/>
              <a:gd name="connsiteY6" fmla="*/ 1544697 h 2238849"/>
              <a:gd name="connsiteX7" fmla="*/ 3162300 w 3162300"/>
              <a:gd name="connsiteY7" fmla="*/ 1565265 h 2238849"/>
              <a:gd name="connsiteX8" fmla="*/ 3162300 w 3162300"/>
              <a:gd name="connsiteY8" fmla="*/ 2147409 h 2238849"/>
              <a:gd name="connsiteX9" fmla="*/ 91440 w 3162300"/>
              <a:gd name="connsiteY9" fmla="*/ 2238849 h 2238849"/>
              <a:gd name="connsiteX0" fmla="*/ 0 w 3162300"/>
              <a:gd name="connsiteY0" fmla="*/ 2147409 h 2147409"/>
              <a:gd name="connsiteX1" fmla="*/ 0 w 3162300"/>
              <a:gd name="connsiteY1" fmla="*/ 1565265 h 2147409"/>
              <a:gd name="connsiteX2" fmla="*/ 0 w 3162300"/>
              <a:gd name="connsiteY2" fmla="*/ 1544697 h 2147409"/>
              <a:gd name="connsiteX3" fmla="*/ 0 w 3162300"/>
              <a:gd name="connsiteY3" fmla="*/ 0 h 2147409"/>
              <a:gd name="connsiteX4" fmla="*/ 1585774 w 3162300"/>
              <a:gd name="connsiteY4" fmla="*/ 1112898 h 2147409"/>
              <a:gd name="connsiteX5" fmla="*/ 3162300 w 3162300"/>
              <a:gd name="connsiteY5" fmla="*/ 0 h 2147409"/>
              <a:gd name="connsiteX6" fmla="*/ 3162300 w 3162300"/>
              <a:gd name="connsiteY6" fmla="*/ 1544697 h 2147409"/>
              <a:gd name="connsiteX7" fmla="*/ 3162300 w 3162300"/>
              <a:gd name="connsiteY7" fmla="*/ 1565265 h 2147409"/>
              <a:gd name="connsiteX8" fmla="*/ 3162300 w 3162300"/>
              <a:gd name="connsiteY8" fmla="*/ 2147409 h 2147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5B2E1B6-E350-4024-A69C-C064D4BB9540}"/>
              </a:ext>
            </a:extLst>
          </p:cNvPr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" fmla="*/ 0 w 3162300"/>
              <a:gd name="connsiteY0" fmla="*/ 1871961 h 1963401"/>
              <a:gd name="connsiteX1" fmla="*/ 0 w 3162300"/>
              <a:gd name="connsiteY1" fmla="*/ 0 h 1963401"/>
              <a:gd name="connsiteX2" fmla="*/ 3162300 w 3162300"/>
              <a:gd name="connsiteY2" fmla="*/ 0 h 1963401"/>
              <a:gd name="connsiteX3" fmla="*/ 3162300 w 3162300"/>
              <a:gd name="connsiteY3" fmla="*/ 1871961 h 1963401"/>
              <a:gd name="connsiteX4" fmla="*/ 91440 w 3162300"/>
              <a:gd name="connsiteY4" fmla="*/ 1963401 h 1963401"/>
              <a:gd name="connsiteX0" fmla="*/ 0 w 3162300"/>
              <a:gd name="connsiteY0" fmla="*/ 1871961 h 1871961"/>
              <a:gd name="connsiteX1" fmla="*/ 0 w 3162300"/>
              <a:gd name="connsiteY1" fmla="*/ 0 h 1871961"/>
              <a:gd name="connsiteX2" fmla="*/ 3162300 w 3162300"/>
              <a:gd name="connsiteY2" fmla="*/ 0 h 1871961"/>
              <a:gd name="connsiteX3" fmla="*/ 3162300 w 3162300"/>
              <a:gd name="connsiteY3" fmla="*/ 1871961 h 1871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F3B0B805-869F-4D89-BEB0-0E0DA525C8EE}"/>
              </a:ext>
            </a:extLst>
          </p:cNvPr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74749" y="1401223"/>
            <a:ext cx="2256308" cy="63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19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0" y="2289050"/>
            <a:ext cx="12192001" cy="19685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5558" b="38705"/>
          <a:stretch/>
        </p:blipFill>
        <p:spPr>
          <a:xfrm>
            <a:off x="1" y="0"/>
            <a:ext cx="12192000" cy="229021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1C37BF7-CAE8-4F93-8BE5-229FC17201DA}"/>
              </a:ext>
            </a:extLst>
          </p:cNvPr>
          <p:cNvSpPr/>
          <p:nvPr userDrawn="1"/>
        </p:nvSpPr>
        <p:spPr>
          <a:xfrm>
            <a:off x="-1" y="-7884"/>
            <a:ext cx="12192001" cy="2298103"/>
          </a:xfrm>
          <a:prstGeom prst="rect">
            <a:avLst/>
          </a:pr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24353" y="841210"/>
            <a:ext cx="2143294" cy="5999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>
            <a:off x="-81481" y="2289050"/>
            <a:ext cx="1233987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72901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>
            <a:extLst>
              <a:ext uri="{FF2B5EF4-FFF2-40B4-BE49-F238E27FC236}">
                <a16:creationId xmlns:a16="http://schemas.microsoft.com/office/drawing/2014/main" id="{EEC7E5F7-20FD-444B-9E6C-FF353F66717A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PA-矩形 7">
            <a:extLst>
              <a:ext uri="{FF2B5EF4-FFF2-40B4-BE49-F238E27FC236}">
                <a16:creationId xmlns:a16="http://schemas.microsoft.com/office/drawing/2014/main" id="{59644A98-44CE-4FDE-8172-3327AAE72C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BC809FD0-A9F1-4139-8386-4A9BEBA1CE80}"/>
              </a:ext>
            </a:extLst>
          </p:cNvPr>
          <p:cNvCxnSpPr/>
          <p:nvPr userDrawn="1"/>
        </p:nvCxnSpPr>
        <p:spPr>
          <a:xfrm>
            <a:off x="5723340" y="1294827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D352C72-A8BD-49E0-9C6C-2C7B147AF3AE}"/>
              </a:ext>
            </a:extLst>
          </p:cNvPr>
          <p:cNvCxnSpPr/>
          <p:nvPr userDrawn="1"/>
        </p:nvCxnSpPr>
        <p:spPr>
          <a:xfrm>
            <a:off x="5723340" y="5613415"/>
            <a:ext cx="74531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471"/>
          <a:stretch/>
        </p:blipFill>
        <p:spPr>
          <a:xfrm>
            <a:off x="-34506" y="163259"/>
            <a:ext cx="3298317" cy="6531481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9912"/>
          <a:stretch/>
        </p:blipFill>
        <p:spPr>
          <a:xfrm>
            <a:off x="8928190" y="163258"/>
            <a:ext cx="3269562" cy="6531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285239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19131028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46657449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7" name="标题 11">
            <a:extLst>
              <a:ext uri="{FF2B5EF4-FFF2-40B4-BE49-F238E27FC236}">
                <a16:creationId xmlns:a16="http://schemas.microsoft.com/office/drawing/2014/main" id="{F740B2F3-F46E-47AE-8C0D-F561C0D52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20321387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1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11155416" y="6133167"/>
            <a:ext cx="0" cy="75617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06920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85" name="任意多边形: 形状 56">
              <a:extLst>
                <a:ext uri="{FF2B5EF4-FFF2-40B4-BE49-F238E27FC236}">
                  <a16:creationId xmlns:a16="http://schemas.microsoft.com/office/drawing/2014/main" id="{77A3E9FF-E8D6-4864-AD9A-BC3E704158E7}"/>
                </a:ext>
              </a:extLst>
            </p:cNvPr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任意多边形: 形状 57">
              <a:extLst>
                <a:ext uri="{FF2B5EF4-FFF2-40B4-BE49-F238E27FC236}">
                  <a16:creationId xmlns:a16="http://schemas.microsoft.com/office/drawing/2014/main" id="{0B39D90D-B980-4ADB-95FB-F043B008E76D}"/>
                </a:ext>
              </a:extLst>
            </p:cNvPr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98352821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组合 8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84" name="组合 8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6" name="组合 10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1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组合 10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1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9" name="组合 8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91" name="组合 9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10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" name="组合 9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10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4" name="组合 9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75E756C-98CD-4DE4-BB41-9C72D0D63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13938902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2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E6666C3-355D-4A5C-A830-6BBD90D5F1FE}"/>
              </a:ext>
            </a:extLst>
          </p:cNvPr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0193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942544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任意多边形: 形状 77">
            <a:extLst>
              <a:ext uri="{FF2B5EF4-FFF2-40B4-BE49-F238E27FC236}">
                <a16:creationId xmlns:a16="http://schemas.microsoft.com/office/drawing/2014/main" id="{234BC7E1-028A-4463-99ED-1994A3ADEC14}"/>
              </a:ext>
            </a:extLst>
          </p:cNvPr>
          <p:cNvSpPr/>
          <p:nvPr userDrawn="1"/>
        </p:nvSpPr>
        <p:spPr>
          <a:xfrm>
            <a:off x="10114068" y="210207"/>
            <a:ext cx="2789025" cy="573228"/>
          </a:xfrm>
          <a:custGeom>
            <a:avLst/>
            <a:gdLst>
              <a:gd name="connsiteX0" fmla="*/ 83399 w 1678507"/>
              <a:gd name="connsiteY0" fmla="*/ 0 h 573228"/>
              <a:gd name="connsiteX1" fmla="*/ 1678507 w 1678507"/>
              <a:gd name="connsiteY1" fmla="*/ 0 h 573228"/>
              <a:gd name="connsiteX2" fmla="*/ 1678507 w 1678507"/>
              <a:gd name="connsiteY2" fmla="*/ 573228 h 573228"/>
              <a:gd name="connsiteX3" fmla="*/ 0 w 1678507"/>
              <a:gd name="connsiteY3" fmla="*/ 573228 h 573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78507" h="573228">
                <a:moveTo>
                  <a:pt x="83399" y="0"/>
                </a:moveTo>
                <a:lnTo>
                  <a:pt x="1678507" y="0"/>
                </a:lnTo>
                <a:lnTo>
                  <a:pt x="1678507" y="573228"/>
                </a:lnTo>
                <a:lnTo>
                  <a:pt x="0" y="5732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91BC6857-420C-4F20-ABBF-78DDE1D9F36B}"/>
              </a:ext>
            </a:extLst>
          </p:cNvPr>
          <p:cNvSpPr/>
          <p:nvPr userDrawn="1"/>
        </p:nvSpPr>
        <p:spPr>
          <a:xfrm>
            <a:off x="198120" y="302341"/>
            <a:ext cx="746398" cy="342128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949325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7475" y="241566"/>
            <a:ext cx="1819275" cy="509219"/>
          </a:xfrm>
          <a:prstGeom prst="rect">
            <a:avLst/>
          </a:prstGeom>
        </p:spPr>
      </p:pic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61056234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3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文本框 7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标题 11"/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4" name="组合 3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0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56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3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5" name="组合 3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47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2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0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1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68561191"/>
      </p:ext>
    </p:extLst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366474" y="863157"/>
            <a:ext cx="10502238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368806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6439278"/>
      </p:ext>
    </p:extLst>
  </p:cSld>
  <p:clrMapOvr>
    <a:masterClrMapping/>
  </p:clrMapOvr>
  <p:transition spd="med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6632" y="6351003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09575" y="6269038"/>
            <a:ext cx="1817688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1">
            <a:extLst>
              <a:ext uri="{FF2B5EF4-FFF2-40B4-BE49-F238E27FC236}">
                <a16:creationId xmlns:a16="http://schemas.microsoft.com/office/drawing/2014/main" id="{B751A2AD-C679-48C2-AFF3-1AB781A3D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59787888"/>
      </p:ext>
    </p:extLst>
  </p:cSld>
  <p:clrMapOvr>
    <a:masterClrMapping/>
  </p:clrMapOvr>
  <p:transition spd="med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４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0185149" y="863157"/>
            <a:ext cx="1683563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58" name="直接连接符 57"/>
          <p:cNvCxnSpPr/>
          <p:nvPr userDrawn="1"/>
        </p:nvCxnSpPr>
        <p:spPr>
          <a:xfrm>
            <a:off x="11155416" y="6188075"/>
            <a:ext cx="0" cy="665583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图片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0101715" y="214313"/>
            <a:ext cx="1864408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0279339"/>
      </p:ext>
    </p:extLst>
  </p:cSld>
  <p:clrMapOvr>
    <a:masterClrMapping/>
  </p:clrMapOvr>
  <p:transition spd="med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49863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1375EC85-F9E6-44D2-9F15-53B5B6F75476}"/>
              </a:ext>
            </a:extLst>
          </p:cNvPr>
          <p:cNvCxnSpPr>
            <a:cxnSpLocks/>
          </p:cNvCxnSpPr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 userDrawn="1"/>
        </p:nvGrpSpPr>
        <p:grpSpPr>
          <a:xfrm>
            <a:off x="-511603" y="253621"/>
            <a:ext cx="1221064" cy="438825"/>
            <a:chOff x="-529708" y="381991"/>
            <a:chExt cx="1221064" cy="438825"/>
          </a:xfrm>
        </p:grpSpPr>
        <p:sp>
          <p:nvSpPr>
            <p:cNvPr id="58" name="梯形 57">
              <a:extLst>
                <a:ext uri="{FF2B5EF4-FFF2-40B4-BE49-F238E27FC236}">
                  <a16:creationId xmlns:a16="http://schemas.microsoft.com/office/drawing/2014/main" id="{5065A524-15E6-4769-B9ED-7868E19ADB1E}"/>
                </a:ext>
              </a:extLst>
            </p:cNvPr>
            <p:cNvSpPr/>
            <p:nvPr userDrawn="1"/>
          </p:nvSpPr>
          <p:spPr>
            <a:xfrm rot="16200000">
              <a:off x="-107121" y="-40596"/>
              <a:ext cx="375890" cy="1221064"/>
            </a:xfrm>
            <a:prstGeom prst="trapezoid">
              <a:avLst>
                <a:gd name="adj" fmla="val 7230"/>
              </a:avLst>
            </a:prstGeom>
            <a:gradFill>
              <a:gsLst>
                <a:gs pos="100000">
                  <a:schemeClr val="accent1"/>
                </a:gs>
                <a:gs pos="0">
                  <a:schemeClr val="accent1">
                    <a:alpha val="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梯形 58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79397" y="146495"/>
              <a:ext cx="267255" cy="1058332"/>
            </a:xfrm>
            <a:prstGeom prst="trapezoid">
              <a:avLst>
                <a:gd name="adj" fmla="val 723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梯形 59">
              <a:extLst>
                <a:ext uri="{FF2B5EF4-FFF2-40B4-BE49-F238E27FC236}">
                  <a16:creationId xmlns:a16="http://schemas.microsoft.com/office/drawing/2014/main" id="{AC403C93-604F-4B72-B919-463ACA49C29B}"/>
                </a:ext>
              </a:extLst>
            </p:cNvPr>
            <p:cNvSpPr/>
            <p:nvPr userDrawn="1"/>
          </p:nvSpPr>
          <p:spPr>
            <a:xfrm rot="16200000">
              <a:off x="-95133" y="158023"/>
              <a:ext cx="267255" cy="1058332"/>
            </a:xfrm>
            <a:prstGeom prst="trapezoid">
              <a:avLst>
                <a:gd name="adj" fmla="val 7230"/>
              </a:avLst>
            </a:prstGeom>
            <a:gradFill flip="none" rotWithShape="1">
              <a:gsLst>
                <a:gs pos="100000">
                  <a:schemeClr val="accent4"/>
                </a:gs>
                <a:gs pos="0">
                  <a:schemeClr val="accent4">
                    <a:alpha val="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15076786"/>
      </p:ext>
    </p:extLst>
  </p:cSld>
  <p:clrMapOvr>
    <a:masterClrMapping/>
  </p:clrMapOvr>
  <p:transition spd="med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组合 60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62" name="组合 61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77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84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5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81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2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3" name="组合 62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64" name="组合 63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75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73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4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6" name="组合 65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70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1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2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68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9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6" name="标题 11">
            <a:extLst>
              <a:ext uri="{FF2B5EF4-FFF2-40B4-BE49-F238E27FC236}">
                <a16:creationId xmlns:a16="http://schemas.microsoft.com/office/drawing/2014/main" id="{C0F4148E-045B-44EE-8A4E-88B14DCC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8026634"/>
      </p:ext>
    </p:extLst>
  </p:cSld>
  <p:clrMapOvr>
    <a:masterClrMapping/>
  </p:clrMapOvr>
  <p:transition spd="med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5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文本框 6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86" name="图片 8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33"/>
          <a:stretch/>
        </p:blipFill>
        <p:spPr>
          <a:xfrm>
            <a:off x="11282579" y="252089"/>
            <a:ext cx="432990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71600"/>
      </p:ext>
    </p:extLst>
  </p:cSld>
  <p:clrMapOvr>
    <a:masterClrMapping/>
  </p:clrMapOvr>
  <p:transition spd="med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 userDrawn="1"/>
        </p:nvSpPr>
        <p:spPr>
          <a:xfrm>
            <a:off x="442912" y="-82551"/>
            <a:ext cx="11306175" cy="9087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2490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  <p:grpSp>
        <p:nvGrpSpPr>
          <p:cNvPr id="46" name="组合 45"/>
          <p:cNvGrpSpPr/>
          <p:nvPr userDrawn="1"/>
        </p:nvGrpSpPr>
        <p:grpSpPr>
          <a:xfrm>
            <a:off x="637534" y="199773"/>
            <a:ext cx="463263" cy="481001"/>
            <a:chOff x="598941" y="128599"/>
            <a:chExt cx="463263" cy="481001"/>
          </a:xfrm>
        </p:grpSpPr>
        <p:sp>
          <p:nvSpPr>
            <p:cNvPr id="45" name="矩形 44"/>
            <p:cNvSpPr/>
            <p:nvPr userDrawn="1"/>
          </p:nvSpPr>
          <p:spPr>
            <a:xfrm>
              <a:off x="701671" y="249067"/>
              <a:ext cx="360533" cy="36053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 userDrawn="1"/>
          </p:nvSpPr>
          <p:spPr>
            <a:xfrm>
              <a:off x="701671" y="247801"/>
              <a:ext cx="275115" cy="2565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/>
            <p:cNvSpPr/>
            <p:nvPr userDrawn="1"/>
          </p:nvSpPr>
          <p:spPr>
            <a:xfrm>
              <a:off x="598941" y="128599"/>
              <a:ext cx="360533" cy="3605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15887115"/>
      </p:ext>
    </p:extLst>
  </p:cSld>
  <p:clrMapOvr>
    <a:masterClrMapping/>
  </p:clrMapOvr>
  <p:transition spd="med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7" name="组合 36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6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" name="组合 6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6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9" name="组合 4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5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5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9" name="标题 11">
            <a:extLst>
              <a:ext uri="{FF2B5EF4-FFF2-40B4-BE49-F238E27FC236}">
                <a16:creationId xmlns:a16="http://schemas.microsoft.com/office/drawing/2014/main" id="{0D0682F6-A194-4FB3-8EF2-674B6164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7135785"/>
      </p:ext>
    </p:extLst>
  </p:cSld>
  <p:clrMapOvr>
    <a:masterClrMapping/>
  </p:clrMapOvr>
  <p:transition spd="med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6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9402184" y="-82800"/>
            <a:ext cx="2346903" cy="907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 userDrawn="1"/>
        </p:nvSpPr>
        <p:spPr>
          <a:xfrm>
            <a:off x="9402184" y="0"/>
            <a:ext cx="2346904" cy="8261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2520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64557"/>
      </p:ext>
    </p:extLst>
  </p:cSld>
  <p:clrMapOvr>
    <a:masterClrMapping/>
  </p:clrMapOvr>
  <p:transition spd="med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/>
          <p:cNvSpPr/>
          <p:nvPr userDrawn="1"/>
        </p:nvSpPr>
        <p:spPr>
          <a:xfrm>
            <a:off x="658714" y="482300"/>
            <a:ext cx="748201" cy="484094"/>
          </a:xfrm>
          <a:prstGeom prst="parallelogram">
            <a:avLst>
              <a:gd name="adj" fmla="val 71667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 userDrawn="1"/>
        </p:nvSpPr>
        <p:spPr>
          <a:xfrm>
            <a:off x="442912" y="-82800"/>
            <a:ext cx="11306175" cy="84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>
            <a:off x="442913" y="0"/>
            <a:ext cx="11306175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标题 11"/>
          <p:cNvSpPr>
            <a:spLocks noGrp="1"/>
          </p:cNvSpPr>
          <p:nvPr>
            <p:ph type="title"/>
          </p:nvPr>
        </p:nvSpPr>
        <p:spPr>
          <a:xfrm>
            <a:off x="1173494" y="185567"/>
            <a:ext cx="8048203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  <p:sp>
        <p:nvSpPr>
          <p:cNvPr id="43" name="矩形 42"/>
          <p:cNvSpPr/>
          <p:nvPr userDrawn="1"/>
        </p:nvSpPr>
        <p:spPr>
          <a:xfrm>
            <a:off x="648385" y="0"/>
            <a:ext cx="413819" cy="966395"/>
          </a:xfrm>
          <a:prstGeom prst="rect">
            <a:avLst/>
          </a:prstGeom>
          <a:ln>
            <a:noFill/>
          </a:ln>
          <a:effectLst>
            <a:outerShdw blurRad="127000" dist="25400" dir="5400000" sx="102000" sy="102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16447471"/>
      </p:ext>
    </p:extLst>
  </p:cSld>
  <p:clrMapOvr>
    <a:masterClrMapping/>
  </p:clrMapOvr>
  <p:transition spd="med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0DEE229-ACC1-4297-A1E3-DEA16F9B9C28}"/>
              </a:ext>
            </a:extLst>
          </p:cNvPr>
          <p:cNvCxnSpPr>
            <a:cxnSpLocks/>
          </p:cNvCxnSpPr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组合 3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accent3"/>
          </a:solidFill>
        </p:grpSpPr>
        <p:grpSp>
          <p:nvGrpSpPr>
            <p:cNvPr id="35" name="组合 3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8" name="组合 5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6" name="组合 3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9" name="组合 38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64" name="标题 11">
            <a:extLst>
              <a:ext uri="{FF2B5EF4-FFF2-40B4-BE49-F238E27FC236}">
                <a16:creationId xmlns:a16="http://schemas.microsoft.com/office/drawing/2014/main" id="{FDDD1B7B-042D-4B1B-81C1-5A7085CD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98031031"/>
      </p:ext>
    </p:extLst>
  </p:cSld>
  <p:clrMapOvr>
    <a:masterClrMapping/>
  </p:clrMapOvr>
  <p:transition spd="med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7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chemeClr val="accent3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385300" y="-82550"/>
            <a:ext cx="2363787" cy="84520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381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9385300" y="0"/>
            <a:ext cx="2363788" cy="762658"/>
          </a:xfrm>
          <a:prstGeom prst="rect">
            <a:avLst/>
          </a:prstGeom>
          <a:solidFill>
            <a:schemeClr val="accent3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90168" y="188589"/>
            <a:ext cx="1969223" cy="43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32467"/>
      </p:ext>
    </p:extLst>
  </p:cSld>
  <p:clrMapOvr>
    <a:masterClrMapping/>
  </p:clrMapOvr>
  <p:transition spd="med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1550080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标题 11"/>
          <p:cNvSpPr>
            <a:spLocks noGrp="1"/>
          </p:cNvSpPr>
          <p:nvPr>
            <p:ph type="title"/>
          </p:nvPr>
        </p:nvSpPr>
        <p:spPr>
          <a:xfrm>
            <a:off x="541539" y="247495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97724409"/>
      </p:ext>
    </p:extLst>
  </p:cSld>
  <p:clrMapOvr>
    <a:masterClrMapping/>
  </p:clrMapOvr>
  <p:transition spd="med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2" y="6188075"/>
            <a:ext cx="1155008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37" name="组合 36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38" name="组合 37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5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56" name="组合 55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61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2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7" name="组合 56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58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9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60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9" name="组合 38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52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3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50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1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47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45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  <p:sp>
        <p:nvSpPr>
          <p:cNvPr id="32" name="标题 11">
            <a:extLst>
              <a:ext uri="{FF2B5EF4-FFF2-40B4-BE49-F238E27FC236}">
                <a16:creationId xmlns:a16="http://schemas.microsoft.com/office/drawing/2014/main" id="{A87381B5-231A-44CC-994D-B480CB6C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600" y="3016800"/>
            <a:ext cx="8643848" cy="7017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defRPr lang="zh-CN" altLang="en-US" sz="4400" b="1" baseline="0">
                <a:solidFill>
                  <a:srgbClr val="006C3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275831837"/>
      </p:ext>
    </p:extLst>
  </p:cSld>
  <p:clrMapOvr>
    <a:masterClrMapping/>
  </p:clrMapOvr>
  <p:transition spd="med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样式8-一段一图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44922" y="6188075"/>
            <a:ext cx="723790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127000" dist="381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9488246" y="0"/>
            <a:ext cx="2380466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>
            <a:outerShdw blurRad="127000" dist="381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64050" y="131404"/>
            <a:ext cx="2243119" cy="62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0939"/>
      </p:ext>
    </p:extLst>
  </p:cSld>
  <p:clrMapOvr>
    <a:masterClrMapping/>
  </p:clrMapOvr>
  <p:transition spd="med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1396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 xmlns:p14="http://schemas.microsoft.com/office/powerpoint/2010/main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8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4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16" Type="http://schemas.openxmlformats.org/officeDocument/2006/relationships/slideLayout" Target="../slideLayouts/slideLayout23.xml"/><Relationship Id="rId20" Type="http://schemas.openxmlformats.org/officeDocument/2006/relationships/slideLayout" Target="../slideLayouts/slideLayout27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26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2025/12/31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831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2025/12/31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5356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93" r:id="rId3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07D9317-7C4B-477D-9FCD-CD5482370328}" type="datetimeFigureOut">
              <a:rPr lang="zh-CN" altLang="en-US"/>
              <a:pPr>
                <a:defRPr/>
              </a:pPr>
              <a:t>2025/12/31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EC0B3BC9-7090-482A-AB63-1945A9C9F1E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859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  <p:sldLayoutId id="2147483689" r:id="rId21"/>
    <p:sldLayoutId id="2147483690" r:id="rId22"/>
    <p:sldLayoutId id="2147483691" r:id="rId23"/>
    <p:sldLayoutId id="2147483692" r:id="rId2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1368" y="2893691"/>
            <a:ext cx="7015008" cy="646331"/>
          </a:xfrm>
        </p:spPr>
        <p:txBody>
          <a:bodyPr/>
          <a:lstStyle/>
          <a:p>
            <a:r>
              <a:rPr lang="en-US" altLang="zh-CN" dirty="0"/>
              <a:t>x86</a:t>
            </a:r>
            <a:r>
              <a:rPr lang="zh-CN" altLang="en-US" dirty="0"/>
              <a:t>用户态中断在</a:t>
            </a:r>
            <a:r>
              <a:rPr lang="en-US" altLang="zh-CN" dirty="0"/>
              <a:t>Alien</a:t>
            </a:r>
            <a:r>
              <a:rPr lang="zh-CN" altLang="en-US" dirty="0"/>
              <a:t>的扩展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请在此输入副标题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6"/>
          </p:nvPr>
        </p:nvSpPr>
        <p:spPr>
          <a:xfrm>
            <a:off x="671366" y="4108052"/>
            <a:ext cx="6221139" cy="345094"/>
          </a:xfrm>
        </p:spPr>
        <p:txBody>
          <a:bodyPr/>
          <a:lstStyle/>
          <a:p>
            <a:r>
              <a:rPr lang="zh-CN" altLang="en-US" dirty="0"/>
              <a:t>答辩人：胡嘉晨　　　导　师：陆慧梅　　　时间：</a:t>
            </a:r>
            <a:fld id="{D59A35C6-7D58-4C95-A60A-B688BEF8C3D6}" type="datetime1">
              <a:rPr lang="zh-CN" altLang="en-US" smtClean="0"/>
              <a:t>2025/12/31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052646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文本框 66">
            <a:extLst>
              <a:ext uri="{FF2B5EF4-FFF2-40B4-BE49-F238E27FC236}">
                <a16:creationId xmlns:a16="http://schemas.microsoft.com/office/drawing/2014/main" id="{7B507C22-58B8-463E-AFBC-7B1028DAA2A5}"/>
              </a:ext>
            </a:extLst>
          </p:cNvPr>
          <p:cNvSpPr txBox="1"/>
          <p:nvPr/>
        </p:nvSpPr>
        <p:spPr>
          <a:xfrm>
            <a:off x="7126133" y="3167390"/>
            <a:ext cx="2236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02EC01C-FD89-4D75-8318-7129AB0D20D3}"/>
              </a:ext>
            </a:extLst>
          </p:cNvPr>
          <p:cNvSpPr txBox="1"/>
          <p:nvPr/>
        </p:nvSpPr>
        <p:spPr>
          <a:xfrm>
            <a:off x="7126133" y="4289900"/>
            <a:ext cx="2236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研究目标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940C937-FC40-435A-8DCB-3E48DCEDCAFD}"/>
              </a:ext>
            </a:extLst>
          </p:cNvPr>
          <p:cNvSpPr txBox="1"/>
          <p:nvPr/>
        </p:nvSpPr>
        <p:spPr>
          <a:xfrm>
            <a:off x="7126133" y="5467563"/>
            <a:ext cx="27022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3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研究计划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2137B03-8F52-49DB-B623-05D56ABDCE37}"/>
              </a:ext>
            </a:extLst>
          </p:cNvPr>
          <p:cNvSpPr txBox="1"/>
          <p:nvPr/>
        </p:nvSpPr>
        <p:spPr>
          <a:xfrm>
            <a:off x="7182589" y="3593444"/>
            <a:ext cx="156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BACKGROUND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2FD7175-4FED-4CC2-A7E0-B9D6BFA19B04}"/>
              </a:ext>
            </a:extLst>
          </p:cNvPr>
          <p:cNvSpPr txBox="1"/>
          <p:nvPr/>
        </p:nvSpPr>
        <p:spPr>
          <a:xfrm>
            <a:off x="7182589" y="4714088"/>
            <a:ext cx="799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GOAL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01A5F134-15DC-41F4-8F95-F56ED1BA4E32}"/>
              </a:ext>
            </a:extLst>
          </p:cNvPr>
          <p:cNvSpPr txBox="1"/>
          <p:nvPr/>
        </p:nvSpPr>
        <p:spPr>
          <a:xfrm>
            <a:off x="7191197" y="5899417"/>
            <a:ext cx="7907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A2A2A2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PLAN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9BFF879-8FF4-433A-A85C-4361CD867542}"/>
              </a:ext>
            </a:extLst>
          </p:cNvPr>
          <p:cNvGrpSpPr/>
          <p:nvPr/>
        </p:nvGrpSpPr>
        <p:grpSpPr>
          <a:xfrm>
            <a:off x="6518316" y="5517973"/>
            <a:ext cx="504000" cy="504000"/>
            <a:chOff x="7982080" y="5312514"/>
            <a:chExt cx="504000" cy="504000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B8E18DED-78D0-49E4-833B-F951F77FE99F}"/>
                </a:ext>
              </a:extLst>
            </p:cNvPr>
            <p:cNvSpPr/>
            <p:nvPr/>
          </p:nvSpPr>
          <p:spPr>
            <a:xfrm>
              <a:off x="7982080" y="5312514"/>
              <a:ext cx="504000" cy="50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0" name="Freeform 96">
              <a:extLst>
                <a:ext uri="{FF2B5EF4-FFF2-40B4-BE49-F238E27FC236}">
                  <a16:creationId xmlns:a16="http://schemas.microsoft.com/office/drawing/2014/main" id="{BC288355-72C4-43F0-8F1F-010F97A0676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8072080" y="5401977"/>
              <a:ext cx="324000" cy="325074"/>
            </a:xfrm>
            <a:custGeom>
              <a:avLst/>
              <a:gdLst>
                <a:gd name="T0" fmla="*/ 64 w 128"/>
                <a:gd name="T1" fmla="*/ 128 h 128"/>
                <a:gd name="T2" fmla="*/ 20 w 128"/>
                <a:gd name="T3" fmla="*/ 24 h 128"/>
                <a:gd name="T4" fmla="*/ 48 w 128"/>
                <a:gd name="T5" fmla="*/ 7 h 128"/>
                <a:gd name="T6" fmla="*/ 33 w 128"/>
                <a:gd name="T7" fmla="*/ 30 h 128"/>
                <a:gd name="T8" fmla="*/ 21 w 128"/>
                <a:gd name="T9" fmla="*/ 26 h 128"/>
                <a:gd name="T10" fmla="*/ 5 w 128"/>
                <a:gd name="T11" fmla="*/ 60 h 128"/>
                <a:gd name="T12" fmla="*/ 16 w 128"/>
                <a:gd name="T13" fmla="*/ 29 h 128"/>
                <a:gd name="T14" fmla="*/ 30 w 128"/>
                <a:gd name="T15" fmla="*/ 35 h 128"/>
                <a:gd name="T16" fmla="*/ 24 w 128"/>
                <a:gd name="T17" fmla="*/ 62 h 128"/>
                <a:gd name="T18" fmla="*/ 17 w 128"/>
                <a:gd name="T19" fmla="*/ 98 h 128"/>
                <a:gd name="T20" fmla="*/ 9 w 128"/>
                <a:gd name="T21" fmla="*/ 87 h 128"/>
                <a:gd name="T22" fmla="*/ 24 w 128"/>
                <a:gd name="T23" fmla="*/ 66 h 128"/>
                <a:gd name="T24" fmla="*/ 30 w 128"/>
                <a:gd name="T25" fmla="*/ 93 h 128"/>
                <a:gd name="T26" fmla="*/ 48 w 128"/>
                <a:gd name="T27" fmla="*/ 121 h 128"/>
                <a:gd name="T28" fmla="*/ 20 w 128"/>
                <a:gd name="T29" fmla="*/ 104 h 128"/>
                <a:gd name="T30" fmla="*/ 31 w 128"/>
                <a:gd name="T31" fmla="*/ 98 h 128"/>
                <a:gd name="T32" fmla="*/ 49 w 128"/>
                <a:gd name="T33" fmla="*/ 119 h 128"/>
                <a:gd name="T34" fmla="*/ 62 w 128"/>
                <a:gd name="T35" fmla="*/ 122 h 128"/>
                <a:gd name="T36" fmla="*/ 37 w 128"/>
                <a:gd name="T37" fmla="*/ 97 h 128"/>
                <a:gd name="T38" fmla="*/ 60 w 128"/>
                <a:gd name="T39" fmla="*/ 92 h 128"/>
                <a:gd name="T40" fmla="*/ 62 w 128"/>
                <a:gd name="T41" fmla="*/ 88 h 128"/>
                <a:gd name="T42" fmla="*/ 34 w 128"/>
                <a:gd name="T43" fmla="*/ 92 h 128"/>
                <a:gd name="T44" fmla="*/ 29 w 128"/>
                <a:gd name="T45" fmla="*/ 66 h 128"/>
                <a:gd name="T46" fmla="*/ 62 w 128"/>
                <a:gd name="T47" fmla="*/ 62 h 128"/>
                <a:gd name="T48" fmla="*/ 34 w 128"/>
                <a:gd name="T49" fmla="*/ 38 h 128"/>
                <a:gd name="T50" fmla="*/ 60 w 128"/>
                <a:gd name="T51" fmla="*/ 40 h 128"/>
                <a:gd name="T52" fmla="*/ 62 w 128"/>
                <a:gd name="T53" fmla="*/ 36 h 128"/>
                <a:gd name="T54" fmla="*/ 36 w 128"/>
                <a:gd name="T55" fmla="*/ 32 h 128"/>
                <a:gd name="T56" fmla="*/ 60 w 128"/>
                <a:gd name="T57" fmla="*/ 7 h 128"/>
                <a:gd name="T58" fmla="*/ 111 w 128"/>
                <a:gd name="T59" fmla="*/ 30 h 128"/>
                <a:gd name="T60" fmla="*/ 119 w 128"/>
                <a:gd name="T61" fmla="*/ 41 h 128"/>
                <a:gd name="T62" fmla="*/ 104 w 128"/>
                <a:gd name="T63" fmla="*/ 62 h 128"/>
                <a:gd name="T64" fmla="*/ 98 w 128"/>
                <a:gd name="T65" fmla="*/ 35 h 128"/>
                <a:gd name="T66" fmla="*/ 80 w 128"/>
                <a:gd name="T67" fmla="*/ 7 h 128"/>
                <a:gd name="T68" fmla="*/ 108 w 128"/>
                <a:gd name="T69" fmla="*/ 24 h 128"/>
                <a:gd name="T70" fmla="*/ 97 w 128"/>
                <a:gd name="T71" fmla="*/ 30 h 128"/>
                <a:gd name="T72" fmla="*/ 79 w 128"/>
                <a:gd name="T73" fmla="*/ 9 h 128"/>
                <a:gd name="T74" fmla="*/ 66 w 128"/>
                <a:gd name="T75" fmla="*/ 6 h 128"/>
                <a:gd name="T76" fmla="*/ 91 w 128"/>
                <a:gd name="T77" fmla="*/ 31 h 128"/>
                <a:gd name="T78" fmla="*/ 68 w 128"/>
                <a:gd name="T79" fmla="*/ 36 h 128"/>
                <a:gd name="T80" fmla="*/ 66 w 128"/>
                <a:gd name="T81" fmla="*/ 40 h 128"/>
                <a:gd name="T82" fmla="*/ 94 w 128"/>
                <a:gd name="T83" fmla="*/ 36 h 128"/>
                <a:gd name="T84" fmla="*/ 99 w 128"/>
                <a:gd name="T85" fmla="*/ 62 h 128"/>
                <a:gd name="T86" fmla="*/ 66 w 128"/>
                <a:gd name="T87" fmla="*/ 66 h 128"/>
                <a:gd name="T88" fmla="*/ 94 w 128"/>
                <a:gd name="T89" fmla="*/ 90 h 128"/>
                <a:gd name="T90" fmla="*/ 68 w 128"/>
                <a:gd name="T91" fmla="*/ 88 h 128"/>
                <a:gd name="T92" fmla="*/ 66 w 128"/>
                <a:gd name="T93" fmla="*/ 122 h 128"/>
                <a:gd name="T94" fmla="*/ 90 w 128"/>
                <a:gd name="T95" fmla="*/ 95 h 128"/>
                <a:gd name="T96" fmla="*/ 80 w 128"/>
                <a:gd name="T97" fmla="*/ 112 h 128"/>
                <a:gd name="T98" fmla="*/ 108 w 128"/>
                <a:gd name="T99" fmla="*/ 104 h 128"/>
                <a:gd name="T100" fmla="*/ 80 w 128"/>
                <a:gd name="T101" fmla="*/ 121 h 128"/>
                <a:gd name="T102" fmla="*/ 95 w 128"/>
                <a:gd name="T103" fmla="*/ 98 h 128"/>
                <a:gd name="T104" fmla="*/ 107 w 128"/>
                <a:gd name="T105" fmla="*/ 102 h 128"/>
                <a:gd name="T106" fmla="*/ 123 w 128"/>
                <a:gd name="T107" fmla="*/ 68 h 128"/>
                <a:gd name="T108" fmla="*/ 112 w 128"/>
                <a:gd name="T109" fmla="*/ 99 h 128"/>
                <a:gd name="T110" fmla="*/ 98 w 128"/>
                <a:gd name="T111" fmla="*/ 93 h 128"/>
                <a:gd name="T112" fmla="*/ 104 w 128"/>
                <a:gd name="T113" fmla="*/ 6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28">
                  <a:moveTo>
                    <a:pt x="64" y="0"/>
                  </a:moveTo>
                  <a:cubicBezTo>
                    <a:pt x="29" y="0"/>
                    <a:pt x="0" y="29"/>
                    <a:pt x="0" y="64"/>
                  </a:cubicBezTo>
                  <a:cubicBezTo>
                    <a:pt x="0" y="99"/>
                    <a:pt x="29" y="128"/>
                    <a:pt x="64" y="128"/>
                  </a:cubicBezTo>
                  <a:cubicBezTo>
                    <a:pt x="99" y="128"/>
                    <a:pt x="128" y="99"/>
                    <a:pt x="128" y="64"/>
                  </a:cubicBezTo>
                  <a:cubicBezTo>
                    <a:pt x="128" y="29"/>
                    <a:pt x="99" y="0"/>
                    <a:pt x="64" y="0"/>
                  </a:cubicBezTo>
                  <a:close/>
                  <a:moveTo>
                    <a:pt x="20" y="24"/>
                  </a:moveTo>
                  <a:cubicBezTo>
                    <a:pt x="21" y="23"/>
                    <a:pt x="21" y="23"/>
                    <a:pt x="22" y="22"/>
                  </a:cubicBezTo>
                  <a:cubicBezTo>
                    <a:pt x="27" y="17"/>
                    <a:pt x="34" y="12"/>
                    <a:pt x="41" y="9"/>
                  </a:cubicBezTo>
                  <a:cubicBezTo>
                    <a:pt x="43" y="8"/>
                    <a:pt x="46" y="7"/>
                    <a:pt x="48" y="7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3" y="15"/>
                    <a:pt x="37" y="22"/>
                    <a:pt x="33" y="30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1" y="30"/>
                    <a:pt x="31" y="30"/>
                    <a:pt x="31" y="30"/>
                  </a:cubicBezTo>
                  <a:cubicBezTo>
                    <a:pt x="27" y="29"/>
                    <a:pt x="24" y="28"/>
                    <a:pt x="21" y="26"/>
                  </a:cubicBezTo>
                  <a:cubicBezTo>
                    <a:pt x="19" y="25"/>
                    <a:pt x="19" y="25"/>
                    <a:pt x="19" y="25"/>
                  </a:cubicBezTo>
                  <a:lnTo>
                    <a:pt x="20" y="24"/>
                  </a:lnTo>
                  <a:close/>
                  <a:moveTo>
                    <a:pt x="5" y="60"/>
                  </a:moveTo>
                  <a:cubicBezTo>
                    <a:pt x="5" y="54"/>
                    <a:pt x="7" y="47"/>
                    <a:pt x="9" y="41"/>
                  </a:cubicBezTo>
                  <a:cubicBezTo>
                    <a:pt x="11" y="37"/>
                    <a:pt x="13" y="33"/>
                    <a:pt x="15" y="30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7" y="30"/>
                    <a:pt x="17" y="30"/>
                    <a:pt x="17" y="30"/>
                  </a:cubicBezTo>
                  <a:cubicBezTo>
                    <a:pt x="21" y="31"/>
                    <a:pt x="25" y="33"/>
                    <a:pt x="29" y="34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6" y="44"/>
                    <a:pt x="24" y="52"/>
                    <a:pt x="24" y="60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5" y="62"/>
                    <a:pt x="5" y="62"/>
                    <a:pt x="5" y="62"/>
                  </a:cubicBezTo>
                  <a:lnTo>
                    <a:pt x="5" y="60"/>
                  </a:lnTo>
                  <a:close/>
                  <a:moveTo>
                    <a:pt x="17" y="98"/>
                  </a:moveTo>
                  <a:cubicBezTo>
                    <a:pt x="16" y="99"/>
                    <a:pt x="16" y="99"/>
                    <a:pt x="16" y="99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3" y="95"/>
                    <a:pt x="11" y="91"/>
                    <a:pt x="9" y="87"/>
                  </a:cubicBezTo>
                  <a:cubicBezTo>
                    <a:pt x="7" y="81"/>
                    <a:pt x="5" y="74"/>
                    <a:pt x="5" y="68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8"/>
                    <a:pt x="24" y="68"/>
                    <a:pt x="24" y="68"/>
                  </a:cubicBezTo>
                  <a:cubicBezTo>
                    <a:pt x="24" y="76"/>
                    <a:pt x="26" y="84"/>
                    <a:pt x="29" y="92"/>
                  </a:cubicBezTo>
                  <a:cubicBezTo>
                    <a:pt x="30" y="93"/>
                    <a:pt x="30" y="93"/>
                    <a:pt x="30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25" y="95"/>
                    <a:pt x="21" y="97"/>
                    <a:pt x="17" y="98"/>
                  </a:cubicBezTo>
                  <a:close/>
                  <a:moveTo>
                    <a:pt x="48" y="121"/>
                  </a:moveTo>
                  <a:cubicBezTo>
                    <a:pt x="46" y="121"/>
                    <a:pt x="43" y="120"/>
                    <a:pt x="41" y="119"/>
                  </a:cubicBezTo>
                  <a:cubicBezTo>
                    <a:pt x="34" y="116"/>
                    <a:pt x="27" y="112"/>
                    <a:pt x="22" y="106"/>
                  </a:cubicBezTo>
                  <a:cubicBezTo>
                    <a:pt x="21" y="105"/>
                    <a:pt x="21" y="105"/>
                    <a:pt x="20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1" y="102"/>
                    <a:pt x="21" y="102"/>
                    <a:pt x="21" y="102"/>
                  </a:cubicBezTo>
                  <a:cubicBezTo>
                    <a:pt x="24" y="100"/>
                    <a:pt x="27" y="99"/>
                    <a:pt x="31" y="98"/>
                  </a:cubicBezTo>
                  <a:cubicBezTo>
                    <a:pt x="32" y="97"/>
                    <a:pt x="32" y="97"/>
                    <a:pt x="32" y="97"/>
                  </a:cubicBezTo>
                  <a:cubicBezTo>
                    <a:pt x="33" y="98"/>
                    <a:pt x="33" y="98"/>
                    <a:pt x="33" y="98"/>
                  </a:cubicBezTo>
                  <a:cubicBezTo>
                    <a:pt x="37" y="106"/>
                    <a:pt x="43" y="113"/>
                    <a:pt x="49" y="119"/>
                  </a:cubicBezTo>
                  <a:cubicBezTo>
                    <a:pt x="54" y="123"/>
                    <a:pt x="54" y="123"/>
                    <a:pt x="54" y="123"/>
                  </a:cubicBezTo>
                  <a:lnTo>
                    <a:pt x="48" y="121"/>
                  </a:lnTo>
                  <a:close/>
                  <a:moveTo>
                    <a:pt x="62" y="122"/>
                  </a:moveTo>
                  <a:cubicBezTo>
                    <a:pt x="60" y="121"/>
                    <a:pt x="60" y="121"/>
                    <a:pt x="60" y="121"/>
                  </a:cubicBezTo>
                  <a:cubicBezTo>
                    <a:pt x="55" y="118"/>
                    <a:pt x="52" y="115"/>
                    <a:pt x="48" y="112"/>
                  </a:cubicBezTo>
                  <a:cubicBezTo>
                    <a:pt x="44" y="107"/>
                    <a:pt x="40" y="103"/>
                    <a:pt x="37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45" y="94"/>
                    <a:pt x="53" y="93"/>
                    <a:pt x="60" y="92"/>
                  </a:cubicBezTo>
                  <a:cubicBezTo>
                    <a:pt x="62" y="92"/>
                    <a:pt x="62" y="92"/>
                    <a:pt x="62" y="92"/>
                  </a:cubicBezTo>
                  <a:lnTo>
                    <a:pt x="62" y="122"/>
                  </a:lnTo>
                  <a:close/>
                  <a:moveTo>
                    <a:pt x="62" y="88"/>
                  </a:moveTo>
                  <a:cubicBezTo>
                    <a:pt x="60" y="88"/>
                    <a:pt x="60" y="88"/>
                    <a:pt x="60" y="88"/>
                  </a:cubicBezTo>
                  <a:cubicBezTo>
                    <a:pt x="52" y="88"/>
                    <a:pt x="44" y="89"/>
                    <a:pt x="36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4" y="90"/>
                    <a:pt x="34" y="90"/>
                    <a:pt x="34" y="90"/>
                  </a:cubicBezTo>
                  <a:cubicBezTo>
                    <a:pt x="31" y="83"/>
                    <a:pt x="29" y="76"/>
                    <a:pt x="29" y="68"/>
                  </a:cubicBezTo>
                  <a:cubicBezTo>
                    <a:pt x="29" y="66"/>
                    <a:pt x="29" y="66"/>
                    <a:pt x="29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88"/>
                  </a:lnTo>
                  <a:close/>
                  <a:moveTo>
                    <a:pt x="62" y="62"/>
                  </a:moveTo>
                  <a:cubicBezTo>
                    <a:pt x="29" y="62"/>
                    <a:pt x="29" y="62"/>
                    <a:pt x="29" y="62"/>
                  </a:cubicBezTo>
                  <a:cubicBezTo>
                    <a:pt x="29" y="60"/>
                    <a:pt x="29" y="60"/>
                    <a:pt x="29" y="60"/>
                  </a:cubicBezTo>
                  <a:cubicBezTo>
                    <a:pt x="29" y="52"/>
                    <a:pt x="31" y="45"/>
                    <a:pt x="34" y="38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6" y="37"/>
                    <a:pt x="36" y="37"/>
                    <a:pt x="36" y="37"/>
                  </a:cubicBezTo>
                  <a:cubicBezTo>
                    <a:pt x="44" y="39"/>
                    <a:pt x="52" y="40"/>
                    <a:pt x="60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2" y="62"/>
                  </a:lnTo>
                  <a:close/>
                  <a:moveTo>
                    <a:pt x="62" y="36"/>
                  </a:moveTo>
                  <a:cubicBezTo>
                    <a:pt x="60" y="36"/>
                    <a:pt x="60" y="36"/>
                    <a:pt x="60" y="36"/>
                  </a:cubicBezTo>
                  <a:cubicBezTo>
                    <a:pt x="53" y="35"/>
                    <a:pt x="45" y="34"/>
                    <a:pt x="38" y="33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7" y="31"/>
                    <a:pt x="37" y="31"/>
                    <a:pt x="37" y="31"/>
                  </a:cubicBezTo>
                  <a:cubicBezTo>
                    <a:pt x="40" y="25"/>
                    <a:pt x="44" y="21"/>
                    <a:pt x="48" y="17"/>
                  </a:cubicBezTo>
                  <a:cubicBezTo>
                    <a:pt x="52" y="13"/>
                    <a:pt x="55" y="10"/>
                    <a:pt x="60" y="7"/>
                  </a:cubicBezTo>
                  <a:cubicBezTo>
                    <a:pt x="62" y="6"/>
                    <a:pt x="62" y="6"/>
                    <a:pt x="62" y="6"/>
                  </a:cubicBezTo>
                  <a:lnTo>
                    <a:pt x="62" y="36"/>
                  </a:lnTo>
                  <a:close/>
                  <a:moveTo>
                    <a:pt x="111" y="30"/>
                  </a:moveTo>
                  <a:cubicBezTo>
                    <a:pt x="112" y="29"/>
                    <a:pt x="112" y="29"/>
                    <a:pt x="112" y="29"/>
                  </a:cubicBezTo>
                  <a:cubicBezTo>
                    <a:pt x="113" y="30"/>
                    <a:pt x="113" y="30"/>
                    <a:pt x="113" y="30"/>
                  </a:cubicBezTo>
                  <a:cubicBezTo>
                    <a:pt x="115" y="33"/>
                    <a:pt x="117" y="37"/>
                    <a:pt x="119" y="41"/>
                  </a:cubicBezTo>
                  <a:cubicBezTo>
                    <a:pt x="121" y="47"/>
                    <a:pt x="123" y="54"/>
                    <a:pt x="123" y="60"/>
                  </a:cubicBezTo>
                  <a:cubicBezTo>
                    <a:pt x="123" y="62"/>
                    <a:pt x="123" y="62"/>
                    <a:pt x="123" y="62"/>
                  </a:cubicBezTo>
                  <a:cubicBezTo>
                    <a:pt x="104" y="62"/>
                    <a:pt x="104" y="62"/>
                    <a:pt x="104" y="62"/>
                  </a:cubicBezTo>
                  <a:cubicBezTo>
                    <a:pt x="104" y="60"/>
                    <a:pt x="104" y="60"/>
                    <a:pt x="104" y="60"/>
                  </a:cubicBezTo>
                  <a:cubicBezTo>
                    <a:pt x="104" y="52"/>
                    <a:pt x="102" y="44"/>
                    <a:pt x="98" y="36"/>
                  </a:cubicBezTo>
                  <a:cubicBezTo>
                    <a:pt x="98" y="35"/>
                    <a:pt x="98" y="35"/>
                    <a:pt x="98" y="35"/>
                  </a:cubicBezTo>
                  <a:cubicBezTo>
                    <a:pt x="99" y="34"/>
                    <a:pt x="99" y="34"/>
                    <a:pt x="99" y="34"/>
                  </a:cubicBezTo>
                  <a:cubicBezTo>
                    <a:pt x="103" y="33"/>
                    <a:pt x="107" y="31"/>
                    <a:pt x="111" y="30"/>
                  </a:cubicBezTo>
                  <a:close/>
                  <a:moveTo>
                    <a:pt x="80" y="7"/>
                  </a:moveTo>
                  <a:cubicBezTo>
                    <a:pt x="82" y="7"/>
                    <a:pt x="85" y="8"/>
                    <a:pt x="87" y="9"/>
                  </a:cubicBezTo>
                  <a:cubicBezTo>
                    <a:pt x="94" y="12"/>
                    <a:pt x="101" y="17"/>
                    <a:pt x="106" y="22"/>
                  </a:cubicBezTo>
                  <a:cubicBezTo>
                    <a:pt x="107" y="23"/>
                    <a:pt x="107" y="23"/>
                    <a:pt x="108" y="24"/>
                  </a:cubicBezTo>
                  <a:cubicBezTo>
                    <a:pt x="109" y="25"/>
                    <a:pt x="109" y="25"/>
                    <a:pt x="109" y="25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4" y="28"/>
                    <a:pt x="101" y="29"/>
                    <a:pt x="97" y="30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5" y="30"/>
                    <a:pt x="95" y="30"/>
                    <a:pt x="95" y="30"/>
                  </a:cubicBezTo>
                  <a:cubicBezTo>
                    <a:pt x="91" y="22"/>
                    <a:pt x="85" y="15"/>
                    <a:pt x="79" y="9"/>
                  </a:cubicBezTo>
                  <a:cubicBezTo>
                    <a:pt x="74" y="5"/>
                    <a:pt x="74" y="5"/>
                    <a:pt x="74" y="5"/>
                  </a:cubicBezTo>
                  <a:lnTo>
                    <a:pt x="80" y="7"/>
                  </a:lnTo>
                  <a:close/>
                  <a:moveTo>
                    <a:pt x="66" y="6"/>
                  </a:moveTo>
                  <a:cubicBezTo>
                    <a:pt x="68" y="7"/>
                    <a:pt x="68" y="7"/>
                    <a:pt x="68" y="7"/>
                  </a:cubicBezTo>
                  <a:cubicBezTo>
                    <a:pt x="73" y="10"/>
                    <a:pt x="76" y="13"/>
                    <a:pt x="80" y="16"/>
                  </a:cubicBezTo>
                  <a:cubicBezTo>
                    <a:pt x="84" y="21"/>
                    <a:pt x="88" y="25"/>
                    <a:pt x="91" y="31"/>
                  </a:cubicBezTo>
                  <a:cubicBezTo>
                    <a:pt x="91" y="32"/>
                    <a:pt x="91" y="32"/>
                    <a:pt x="91" y="32"/>
                  </a:cubicBezTo>
                  <a:cubicBezTo>
                    <a:pt x="90" y="33"/>
                    <a:pt x="90" y="33"/>
                    <a:pt x="90" y="33"/>
                  </a:cubicBezTo>
                  <a:cubicBezTo>
                    <a:pt x="83" y="34"/>
                    <a:pt x="75" y="35"/>
                    <a:pt x="68" y="36"/>
                  </a:cubicBezTo>
                  <a:cubicBezTo>
                    <a:pt x="66" y="36"/>
                    <a:pt x="66" y="36"/>
                    <a:pt x="66" y="36"/>
                  </a:cubicBezTo>
                  <a:lnTo>
                    <a:pt x="66" y="6"/>
                  </a:lnTo>
                  <a:close/>
                  <a:moveTo>
                    <a:pt x="66" y="40"/>
                  </a:moveTo>
                  <a:cubicBezTo>
                    <a:pt x="68" y="40"/>
                    <a:pt x="68" y="40"/>
                    <a:pt x="68" y="40"/>
                  </a:cubicBezTo>
                  <a:cubicBezTo>
                    <a:pt x="76" y="40"/>
                    <a:pt x="84" y="39"/>
                    <a:pt x="92" y="37"/>
                  </a:cubicBezTo>
                  <a:cubicBezTo>
                    <a:pt x="94" y="36"/>
                    <a:pt x="94" y="36"/>
                    <a:pt x="94" y="36"/>
                  </a:cubicBezTo>
                  <a:cubicBezTo>
                    <a:pt x="94" y="38"/>
                    <a:pt x="94" y="38"/>
                    <a:pt x="94" y="38"/>
                  </a:cubicBezTo>
                  <a:cubicBezTo>
                    <a:pt x="97" y="45"/>
                    <a:pt x="99" y="52"/>
                    <a:pt x="99" y="60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66" y="62"/>
                    <a:pt x="66" y="62"/>
                    <a:pt x="66" y="62"/>
                  </a:cubicBezTo>
                  <a:lnTo>
                    <a:pt x="66" y="40"/>
                  </a:lnTo>
                  <a:close/>
                  <a:moveTo>
                    <a:pt x="66" y="66"/>
                  </a:moveTo>
                  <a:cubicBezTo>
                    <a:pt x="99" y="66"/>
                    <a:pt x="99" y="66"/>
                    <a:pt x="99" y="66"/>
                  </a:cubicBezTo>
                  <a:cubicBezTo>
                    <a:pt x="99" y="68"/>
                    <a:pt x="99" y="68"/>
                    <a:pt x="99" y="68"/>
                  </a:cubicBezTo>
                  <a:cubicBezTo>
                    <a:pt x="99" y="76"/>
                    <a:pt x="97" y="83"/>
                    <a:pt x="94" y="90"/>
                  </a:cubicBezTo>
                  <a:cubicBezTo>
                    <a:pt x="94" y="91"/>
                    <a:pt x="94" y="91"/>
                    <a:pt x="94" y="91"/>
                  </a:cubicBezTo>
                  <a:cubicBezTo>
                    <a:pt x="92" y="91"/>
                    <a:pt x="92" y="91"/>
                    <a:pt x="92" y="91"/>
                  </a:cubicBezTo>
                  <a:cubicBezTo>
                    <a:pt x="84" y="89"/>
                    <a:pt x="76" y="88"/>
                    <a:pt x="68" y="88"/>
                  </a:cubicBezTo>
                  <a:cubicBezTo>
                    <a:pt x="66" y="88"/>
                    <a:pt x="66" y="88"/>
                    <a:pt x="66" y="88"/>
                  </a:cubicBezTo>
                  <a:lnTo>
                    <a:pt x="66" y="66"/>
                  </a:lnTo>
                  <a:close/>
                  <a:moveTo>
                    <a:pt x="66" y="122"/>
                  </a:moveTo>
                  <a:cubicBezTo>
                    <a:pt x="66" y="92"/>
                    <a:pt x="66" y="92"/>
                    <a:pt x="66" y="92"/>
                  </a:cubicBezTo>
                  <a:cubicBezTo>
                    <a:pt x="68" y="92"/>
                    <a:pt x="68" y="92"/>
                    <a:pt x="68" y="92"/>
                  </a:cubicBezTo>
                  <a:cubicBezTo>
                    <a:pt x="75" y="93"/>
                    <a:pt x="83" y="94"/>
                    <a:pt x="90" y="95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1" y="97"/>
                    <a:pt x="91" y="97"/>
                    <a:pt x="91" y="97"/>
                  </a:cubicBezTo>
                  <a:cubicBezTo>
                    <a:pt x="88" y="103"/>
                    <a:pt x="84" y="107"/>
                    <a:pt x="80" y="112"/>
                  </a:cubicBezTo>
                  <a:cubicBezTo>
                    <a:pt x="76" y="115"/>
                    <a:pt x="73" y="118"/>
                    <a:pt x="68" y="121"/>
                  </a:cubicBezTo>
                  <a:lnTo>
                    <a:pt x="66" y="122"/>
                  </a:lnTo>
                  <a:close/>
                  <a:moveTo>
                    <a:pt x="108" y="104"/>
                  </a:moveTo>
                  <a:cubicBezTo>
                    <a:pt x="107" y="105"/>
                    <a:pt x="107" y="105"/>
                    <a:pt x="106" y="106"/>
                  </a:cubicBezTo>
                  <a:cubicBezTo>
                    <a:pt x="101" y="112"/>
                    <a:pt x="94" y="116"/>
                    <a:pt x="87" y="119"/>
                  </a:cubicBezTo>
                  <a:cubicBezTo>
                    <a:pt x="85" y="120"/>
                    <a:pt x="82" y="121"/>
                    <a:pt x="80" y="121"/>
                  </a:cubicBezTo>
                  <a:cubicBezTo>
                    <a:pt x="74" y="123"/>
                    <a:pt x="74" y="123"/>
                    <a:pt x="74" y="123"/>
                  </a:cubicBezTo>
                  <a:cubicBezTo>
                    <a:pt x="79" y="119"/>
                    <a:pt x="79" y="119"/>
                    <a:pt x="79" y="119"/>
                  </a:cubicBezTo>
                  <a:cubicBezTo>
                    <a:pt x="85" y="113"/>
                    <a:pt x="91" y="106"/>
                    <a:pt x="95" y="98"/>
                  </a:cubicBezTo>
                  <a:cubicBezTo>
                    <a:pt x="96" y="97"/>
                    <a:pt x="96" y="97"/>
                    <a:pt x="96" y="97"/>
                  </a:cubicBezTo>
                  <a:cubicBezTo>
                    <a:pt x="97" y="98"/>
                    <a:pt x="97" y="98"/>
                    <a:pt x="97" y="98"/>
                  </a:cubicBezTo>
                  <a:cubicBezTo>
                    <a:pt x="101" y="99"/>
                    <a:pt x="104" y="100"/>
                    <a:pt x="107" y="102"/>
                  </a:cubicBezTo>
                  <a:cubicBezTo>
                    <a:pt x="109" y="103"/>
                    <a:pt x="109" y="103"/>
                    <a:pt x="109" y="103"/>
                  </a:cubicBezTo>
                  <a:lnTo>
                    <a:pt x="108" y="104"/>
                  </a:lnTo>
                  <a:close/>
                  <a:moveTo>
                    <a:pt x="123" y="68"/>
                  </a:moveTo>
                  <a:cubicBezTo>
                    <a:pt x="123" y="74"/>
                    <a:pt x="121" y="81"/>
                    <a:pt x="119" y="87"/>
                  </a:cubicBezTo>
                  <a:cubicBezTo>
                    <a:pt x="117" y="91"/>
                    <a:pt x="115" y="95"/>
                    <a:pt x="113" y="98"/>
                  </a:cubicBezTo>
                  <a:cubicBezTo>
                    <a:pt x="112" y="99"/>
                    <a:pt x="112" y="99"/>
                    <a:pt x="112" y="99"/>
                  </a:cubicBezTo>
                  <a:cubicBezTo>
                    <a:pt x="111" y="98"/>
                    <a:pt x="111" y="98"/>
                    <a:pt x="111" y="98"/>
                  </a:cubicBezTo>
                  <a:cubicBezTo>
                    <a:pt x="107" y="97"/>
                    <a:pt x="103" y="95"/>
                    <a:pt x="99" y="94"/>
                  </a:cubicBezTo>
                  <a:cubicBezTo>
                    <a:pt x="98" y="93"/>
                    <a:pt x="98" y="93"/>
                    <a:pt x="98" y="93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102" y="84"/>
                    <a:pt x="104" y="76"/>
                    <a:pt x="104" y="68"/>
                  </a:cubicBezTo>
                  <a:cubicBezTo>
                    <a:pt x="104" y="66"/>
                    <a:pt x="104" y="66"/>
                    <a:pt x="104" y="66"/>
                  </a:cubicBezTo>
                  <a:cubicBezTo>
                    <a:pt x="123" y="66"/>
                    <a:pt x="123" y="66"/>
                    <a:pt x="123" y="66"/>
                  </a:cubicBezTo>
                  <a:lnTo>
                    <a:pt x="123" y="6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42345C87-0E7B-439C-926B-C67C111E1A1B}"/>
              </a:ext>
            </a:extLst>
          </p:cNvPr>
          <p:cNvGrpSpPr/>
          <p:nvPr/>
        </p:nvGrpSpPr>
        <p:grpSpPr>
          <a:xfrm>
            <a:off x="6520417" y="4349841"/>
            <a:ext cx="504000" cy="504000"/>
            <a:chOff x="4613213" y="4247997"/>
            <a:chExt cx="504000" cy="504000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A73C83B0-1643-476A-9B42-16D046E89A59}"/>
                </a:ext>
              </a:extLst>
            </p:cNvPr>
            <p:cNvSpPr/>
            <p:nvPr/>
          </p:nvSpPr>
          <p:spPr>
            <a:xfrm>
              <a:off x="4613213" y="4247997"/>
              <a:ext cx="504000" cy="50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3" name="Freeform 70">
              <a:extLst>
                <a:ext uri="{FF2B5EF4-FFF2-40B4-BE49-F238E27FC236}">
                  <a16:creationId xmlns:a16="http://schemas.microsoft.com/office/drawing/2014/main" id="{BB0EBF47-23EB-42F9-8EFD-1A6F6C28F473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4337463"/>
              <a:ext cx="324000" cy="325068"/>
            </a:xfrm>
            <a:custGeom>
              <a:avLst/>
              <a:gdLst>
                <a:gd name="T0" fmla="*/ 111 w 128"/>
                <a:gd name="T1" fmla="*/ 62 h 128"/>
                <a:gd name="T2" fmla="*/ 68 w 128"/>
                <a:gd name="T3" fmla="*/ 17 h 128"/>
                <a:gd name="T4" fmla="*/ 66 w 128"/>
                <a:gd name="T5" fmla="*/ 2 h 128"/>
                <a:gd name="T6" fmla="*/ 62 w 128"/>
                <a:gd name="T7" fmla="*/ 2 h 128"/>
                <a:gd name="T8" fmla="*/ 60 w 128"/>
                <a:gd name="T9" fmla="*/ 17 h 128"/>
                <a:gd name="T10" fmla="*/ 17 w 128"/>
                <a:gd name="T11" fmla="*/ 62 h 128"/>
                <a:gd name="T12" fmla="*/ 0 w 128"/>
                <a:gd name="T13" fmla="*/ 64 h 128"/>
                <a:gd name="T14" fmla="*/ 17 w 128"/>
                <a:gd name="T15" fmla="*/ 66 h 128"/>
                <a:gd name="T16" fmla="*/ 60 w 128"/>
                <a:gd name="T17" fmla="*/ 111 h 128"/>
                <a:gd name="T18" fmla="*/ 62 w 128"/>
                <a:gd name="T19" fmla="*/ 126 h 128"/>
                <a:gd name="T20" fmla="*/ 66 w 128"/>
                <a:gd name="T21" fmla="*/ 126 h 128"/>
                <a:gd name="T22" fmla="*/ 68 w 128"/>
                <a:gd name="T23" fmla="*/ 111 h 128"/>
                <a:gd name="T24" fmla="*/ 111 w 128"/>
                <a:gd name="T25" fmla="*/ 66 h 128"/>
                <a:gd name="T26" fmla="*/ 128 w 128"/>
                <a:gd name="T27" fmla="*/ 64 h 128"/>
                <a:gd name="T28" fmla="*/ 62 w 128"/>
                <a:gd name="T29" fmla="*/ 106 h 128"/>
                <a:gd name="T30" fmla="*/ 48 w 128"/>
                <a:gd name="T31" fmla="*/ 103 h 128"/>
                <a:gd name="T32" fmla="*/ 25 w 128"/>
                <a:gd name="T33" fmla="*/ 80 h 128"/>
                <a:gd name="T34" fmla="*/ 22 w 128"/>
                <a:gd name="T35" fmla="*/ 66 h 128"/>
                <a:gd name="T36" fmla="*/ 62 w 128"/>
                <a:gd name="T37" fmla="*/ 106 h 128"/>
                <a:gd name="T38" fmla="*/ 22 w 128"/>
                <a:gd name="T39" fmla="*/ 62 h 128"/>
                <a:gd name="T40" fmla="*/ 25 w 128"/>
                <a:gd name="T41" fmla="*/ 48 h 128"/>
                <a:gd name="T42" fmla="*/ 48 w 128"/>
                <a:gd name="T43" fmla="*/ 25 h 128"/>
                <a:gd name="T44" fmla="*/ 62 w 128"/>
                <a:gd name="T45" fmla="*/ 22 h 128"/>
                <a:gd name="T46" fmla="*/ 106 w 128"/>
                <a:gd name="T47" fmla="*/ 68 h 128"/>
                <a:gd name="T48" fmla="*/ 94 w 128"/>
                <a:gd name="T49" fmla="*/ 94 h 128"/>
                <a:gd name="T50" fmla="*/ 68 w 128"/>
                <a:gd name="T51" fmla="*/ 106 h 128"/>
                <a:gd name="T52" fmla="*/ 66 w 128"/>
                <a:gd name="T53" fmla="*/ 66 h 128"/>
                <a:gd name="T54" fmla="*/ 106 w 128"/>
                <a:gd name="T55" fmla="*/ 68 h 128"/>
                <a:gd name="T56" fmla="*/ 66 w 128"/>
                <a:gd name="T57" fmla="*/ 22 h 128"/>
                <a:gd name="T58" fmla="*/ 80 w 128"/>
                <a:gd name="T59" fmla="*/ 25 h 128"/>
                <a:gd name="T60" fmla="*/ 103 w 128"/>
                <a:gd name="T61" fmla="*/ 48 h 128"/>
                <a:gd name="T62" fmla="*/ 106 w 128"/>
                <a:gd name="T63" fmla="*/ 6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8" h="128">
                  <a:moveTo>
                    <a:pt x="126" y="62"/>
                  </a:moveTo>
                  <a:cubicBezTo>
                    <a:pt x="111" y="62"/>
                    <a:pt x="111" y="62"/>
                    <a:pt x="111" y="62"/>
                  </a:cubicBezTo>
                  <a:cubicBezTo>
                    <a:pt x="111" y="60"/>
                    <a:pt x="111" y="60"/>
                    <a:pt x="111" y="60"/>
                  </a:cubicBezTo>
                  <a:cubicBezTo>
                    <a:pt x="109" y="38"/>
                    <a:pt x="90" y="19"/>
                    <a:pt x="68" y="17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6" y="1"/>
                    <a:pt x="65" y="0"/>
                    <a:pt x="64" y="0"/>
                  </a:cubicBezTo>
                  <a:cubicBezTo>
                    <a:pt x="63" y="0"/>
                    <a:pt x="62" y="1"/>
                    <a:pt x="62" y="2"/>
                  </a:cubicBezTo>
                  <a:cubicBezTo>
                    <a:pt x="62" y="17"/>
                    <a:pt x="62" y="17"/>
                    <a:pt x="62" y="17"/>
                  </a:cubicBezTo>
                  <a:cubicBezTo>
                    <a:pt x="60" y="17"/>
                    <a:pt x="60" y="17"/>
                    <a:pt x="60" y="17"/>
                  </a:cubicBezTo>
                  <a:cubicBezTo>
                    <a:pt x="38" y="19"/>
                    <a:pt x="19" y="38"/>
                    <a:pt x="17" y="60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" y="62"/>
                    <a:pt x="0" y="63"/>
                    <a:pt x="0" y="64"/>
                  </a:cubicBezTo>
                  <a:cubicBezTo>
                    <a:pt x="0" y="65"/>
                    <a:pt x="1" y="66"/>
                    <a:pt x="2" y="66"/>
                  </a:cubicBezTo>
                  <a:cubicBezTo>
                    <a:pt x="17" y="66"/>
                    <a:pt x="17" y="66"/>
                    <a:pt x="17" y="66"/>
                  </a:cubicBezTo>
                  <a:cubicBezTo>
                    <a:pt x="17" y="68"/>
                    <a:pt x="17" y="68"/>
                    <a:pt x="17" y="68"/>
                  </a:cubicBezTo>
                  <a:cubicBezTo>
                    <a:pt x="19" y="90"/>
                    <a:pt x="38" y="109"/>
                    <a:pt x="60" y="111"/>
                  </a:cubicBezTo>
                  <a:cubicBezTo>
                    <a:pt x="62" y="111"/>
                    <a:pt x="62" y="111"/>
                    <a:pt x="62" y="111"/>
                  </a:cubicBezTo>
                  <a:cubicBezTo>
                    <a:pt x="62" y="126"/>
                    <a:pt x="62" y="126"/>
                    <a:pt x="62" y="126"/>
                  </a:cubicBezTo>
                  <a:cubicBezTo>
                    <a:pt x="62" y="127"/>
                    <a:pt x="63" y="128"/>
                    <a:pt x="64" y="128"/>
                  </a:cubicBezTo>
                  <a:cubicBezTo>
                    <a:pt x="65" y="128"/>
                    <a:pt x="66" y="127"/>
                    <a:pt x="66" y="126"/>
                  </a:cubicBezTo>
                  <a:cubicBezTo>
                    <a:pt x="66" y="111"/>
                    <a:pt x="66" y="111"/>
                    <a:pt x="66" y="111"/>
                  </a:cubicBezTo>
                  <a:cubicBezTo>
                    <a:pt x="68" y="111"/>
                    <a:pt x="68" y="111"/>
                    <a:pt x="68" y="111"/>
                  </a:cubicBezTo>
                  <a:cubicBezTo>
                    <a:pt x="90" y="109"/>
                    <a:pt x="109" y="90"/>
                    <a:pt x="111" y="68"/>
                  </a:cubicBezTo>
                  <a:cubicBezTo>
                    <a:pt x="111" y="66"/>
                    <a:pt x="111" y="66"/>
                    <a:pt x="111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7" y="66"/>
                    <a:pt x="128" y="65"/>
                    <a:pt x="128" y="64"/>
                  </a:cubicBezTo>
                  <a:cubicBezTo>
                    <a:pt x="128" y="63"/>
                    <a:pt x="127" y="62"/>
                    <a:pt x="126" y="62"/>
                  </a:cubicBezTo>
                  <a:close/>
                  <a:moveTo>
                    <a:pt x="62" y="106"/>
                  </a:moveTo>
                  <a:cubicBezTo>
                    <a:pt x="60" y="106"/>
                    <a:pt x="60" y="106"/>
                    <a:pt x="60" y="106"/>
                  </a:cubicBezTo>
                  <a:cubicBezTo>
                    <a:pt x="56" y="106"/>
                    <a:pt x="52" y="105"/>
                    <a:pt x="48" y="103"/>
                  </a:cubicBezTo>
                  <a:cubicBezTo>
                    <a:pt x="43" y="101"/>
                    <a:pt x="38" y="98"/>
                    <a:pt x="34" y="94"/>
                  </a:cubicBezTo>
                  <a:cubicBezTo>
                    <a:pt x="30" y="90"/>
                    <a:pt x="27" y="85"/>
                    <a:pt x="25" y="80"/>
                  </a:cubicBezTo>
                  <a:cubicBezTo>
                    <a:pt x="23" y="76"/>
                    <a:pt x="22" y="72"/>
                    <a:pt x="22" y="68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62" y="66"/>
                    <a:pt x="62" y="66"/>
                    <a:pt x="62" y="66"/>
                  </a:cubicBezTo>
                  <a:lnTo>
                    <a:pt x="62" y="106"/>
                  </a:lnTo>
                  <a:close/>
                  <a:moveTo>
                    <a:pt x="62" y="62"/>
                  </a:moveTo>
                  <a:cubicBezTo>
                    <a:pt x="22" y="62"/>
                    <a:pt x="22" y="62"/>
                    <a:pt x="22" y="62"/>
                  </a:cubicBezTo>
                  <a:cubicBezTo>
                    <a:pt x="22" y="60"/>
                    <a:pt x="22" y="60"/>
                    <a:pt x="22" y="60"/>
                  </a:cubicBezTo>
                  <a:cubicBezTo>
                    <a:pt x="22" y="56"/>
                    <a:pt x="23" y="52"/>
                    <a:pt x="25" y="48"/>
                  </a:cubicBezTo>
                  <a:cubicBezTo>
                    <a:pt x="27" y="43"/>
                    <a:pt x="30" y="38"/>
                    <a:pt x="34" y="34"/>
                  </a:cubicBezTo>
                  <a:cubicBezTo>
                    <a:pt x="38" y="30"/>
                    <a:pt x="43" y="27"/>
                    <a:pt x="48" y="25"/>
                  </a:cubicBezTo>
                  <a:cubicBezTo>
                    <a:pt x="52" y="23"/>
                    <a:pt x="56" y="22"/>
                    <a:pt x="60" y="22"/>
                  </a:cubicBezTo>
                  <a:cubicBezTo>
                    <a:pt x="62" y="22"/>
                    <a:pt x="62" y="22"/>
                    <a:pt x="62" y="22"/>
                  </a:cubicBezTo>
                  <a:lnTo>
                    <a:pt x="62" y="62"/>
                  </a:lnTo>
                  <a:close/>
                  <a:moveTo>
                    <a:pt x="106" y="68"/>
                  </a:moveTo>
                  <a:cubicBezTo>
                    <a:pt x="106" y="72"/>
                    <a:pt x="105" y="76"/>
                    <a:pt x="103" y="80"/>
                  </a:cubicBezTo>
                  <a:cubicBezTo>
                    <a:pt x="101" y="85"/>
                    <a:pt x="98" y="90"/>
                    <a:pt x="94" y="94"/>
                  </a:cubicBezTo>
                  <a:cubicBezTo>
                    <a:pt x="90" y="98"/>
                    <a:pt x="85" y="101"/>
                    <a:pt x="80" y="103"/>
                  </a:cubicBezTo>
                  <a:cubicBezTo>
                    <a:pt x="76" y="105"/>
                    <a:pt x="72" y="106"/>
                    <a:pt x="68" y="106"/>
                  </a:cubicBezTo>
                  <a:cubicBezTo>
                    <a:pt x="66" y="106"/>
                    <a:pt x="66" y="106"/>
                    <a:pt x="66" y="10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106" y="66"/>
                    <a:pt x="106" y="66"/>
                    <a:pt x="106" y="66"/>
                  </a:cubicBezTo>
                  <a:lnTo>
                    <a:pt x="106" y="68"/>
                  </a:lnTo>
                  <a:close/>
                  <a:moveTo>
                    <a:pt x="66" y="62"/>
                  </a:moveTo>
                  <a:cubicBezTo>
                    <a:pt x="66" y="22"/>
                    <a:pt x="66" y="22"/>
                    <a:pt x="66" y="22"/>
                  </a:cubicBezTo>
                  <a:cubicBezTo>
                    <a:pt x="68" y="22"/>
                    <a:pt x="68" y="22"/>
                    <a:pt x="68" y="22"/>
                  </a:cubicBezTo>
                  <a:cubicBezTo>
                    <a:pt x="72" y="22"/>
                    <a:pt x="76" y="23"/>
                    <a:pt x="80" y="25"/>
                  </a:cubicBezTo>
                  <a:cubicBezTo>
                    <a:pt x="85" y="27"/>
                    <a:pt x="90" y="30"/>
                    <a:pt x="94" y="34"/>
                  </a:cubicBezTo>
                  <a:cubicBezTo>
                    <a:pt x="98" y="38"/>
                    <a:pt x="101" y="43"/>
                    <a:pt x="103" y="48"/>
                  </a:cubicBezTo>
                  <a:cubicBezTo>
                    <a:pt x="105" y="52"/>
                    <a:pt x="106" y="56"/>
                    <a:pt x="106" y="60"/>
                  </a:cubicBezTo>
                  <a:cubicBezTo>
                    <a:pt x="106" y="62"/>
                    <a:pt x="106" y="62"/>
                    <a:pt x="106" y="62"/>
                  </a:cubicBezTo>
                  <a:lnTo>
                    <a:pt x="66" y="6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D69EBC6B-9231-460E-8FC3-AF68C01830A0}"/>
              </a:ext>
            </a:extLst>
          </p:cNvPr>
          <p:cNvGrpSpPr/>
          <p:nvPr/>
        </p:nvGrpSpPr>
        <p:grpSpPr>
          <a:xfrm>
            <a:off x="6520417" y="3232119"/>
            <a:ext cx="504000" cy="504000"/>
            <a:chOff x="4613213" y="3130275"/>
            <a:chExt cx="504000" cy="504000"/>
          </a:xfrm>
        </p:grpSpPr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B566286-9356-4C6D-BCBC-2B96BDFD8D50}"/>
                </a:ext>
              </a:extLst>
            </p:cNvPr>
            <p:cNvSpPr/>
            <p:nvPr/>
          </p:nvSpPr>
          <p:spPr>
            <a:xfrm>
              <a:off x="4613213" y="3130275"/>
              <a:ext cx="504000" cy="504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34" name="Freeform 105">
              <a:extLst>
                <a:ext uri="{FF2B5EF4-FFF2-40B4-BE49-F238E27FC236}">
                  <a16:creationId xmlns:a16="http://schemas.microsoft.com/office/drawing/2014/main" id="{648A11A5-1A4F-4669-B34F-A70C86B9FD90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4703213" y="3237919"/>
              <a:ext cx="324000" cy="288713"/>
            </a:xfrm>
            <a:custGeom>
              <a:avLst/>
              <a:gdLst>
                <a:gd name="T0" fmla="*/ 101 w 128"/>
                <a:gd name="T1" fmla="*/ 41 h 114"/>
                <a:gd name="T2" fmla="*/ 125 w 128"/>
                <a:gd name="T3" fmla="*/ 17 h 114"/>
                <a:gd name="T4" fmla="*/ 128 w 128"/>
                <a:gd name="T5" fmla="*/ 10 h 114"/>
                <a:gd name="T6" fmla="*/ 125 w 128"/>
                <a:gd name="T7" fmla="*/ 3 h 114"/>
                <a:gd name="T8" fmla="*/ 111 w 128"/>
                <a:gd name="T9" fmla="*/ 3 h 114"/>
                <a:gd name="T10" fmla="*/ 87 w 128"/>
                <a:gd name="T11" fmla="*/ 27 h 114"/>
                <a:gd name="T12" fmla="*/ 6 w 128"/>
                <a:gd name="T13" fmla="*/ 27 h 114"/>
                <a:gd name="T14" fmla="*/ 0 w 128"/>
                <a:gd name="T15" fmla="*/ 33 h 114"/>
                <a:gd name="T16" fmla="*/ 0 w 128"/>
                <a:gd name="T17" fmla="*/ 108 h 114"/>
                <a:gd name="T18" fmla="*/ 6 w 128"/>
                <a:gd name="T19" fmla="*/ 114 h 114"/>
                <a:gd name="T20" fmla="*/ 95 w 128"/>
                <a:gd name="T21" fmla="*/ 114 h 114"/>
                <a:gd name="T22" fmla="*/ 101 w 128"/>
                <a:gd name="T23" fmla="*/ 108 h 114"/>
                <a:gd name="T24" fmla="*/ 101 w 128"/>
                <a:gd name="T25" fmla="*/ 41 h 114"/>
                <a:gd name="T26" fmla="*/ 96 w 128"/>
                <a:gd name="T27" fmla="*/ 109 h 114"/>
                <a:gd name="T28" fmla="*/ 5 w 128"/>
                <a:gd name="T29" fmla="*/ 109 h 114"/>
                <a:gd name="T30" fmla="*/ 5 w 128"/>
                <a:gd name="T31" fmla="*/ 32 h 114"/>
                <a:gd name="T32" fmla="*/ 83 w 128"/>
                <a:gd name="T33" fmla="*/ 32 h 114"/>
                <a:gd name="T34" fmla="*/ 63 w 128"/>
                <a:gd name="T35" fmla="*/ 52 h 114"/>
                <a:gd name="T36" fmla="*/ 62 w 128"/>
                <a:gd name="T37" fmla="*/ 54 h 114"/>
                <a:gd name="T38" fmla="*/ 62 w 128"/>
                <a:gd name="T39" fmla="*/ 64 h 114"/>
                <a:gd name="T40" fmla="*/ 63 w 128"/>
                <a:gd name="T41" fmla="*/ 66 h 114"/>
                <a:gd name="T42" fmla="*/ 64 w 128"/>
                <a:gd name="T43" fmla="*/ 66 h 114"/>
                <a:gd name="T44" fmla="*/ 75 w 128"/>
                <a:gd name="T45" fmla="*/ 66 h 114"/>
                <a:gd name="T46" fmla="*/ 76 w 128"/>
                <a:gd name="T47" fmla="*/ 66 h 114"/>
                <a:gd name="T48" fmla="*/ 76 w 128"/>
                <a:gd name="T49" fmla="*/ 66 h 114"/>
                <a:gd name="T50" fmla="*/ 96 w 128"/>
                <a:gd name="T51" fmla="*/ 46 h 114"/>
                <a:gd name="T52" fmla="*/ 96 w 128"/>
                <a:gd name="T53" fmla="*/ 109 h 114"/>
                <a:gd name="T54" fmla="*/ 74 w 128"/>
                <a:gd name="T55" fmla="*/ 62 h 114"/>
                <a:gd name="T56" fmla="*/ 67 w 128"/>
                <a:gd name="T57" fmla="*/ 62 h 114"/>
                <a:gd name="T58" fmla="*/ 67 w 128"/>
                <a:gd name="T59" fmla="*/ 55 h 114"/>
                <a:gd name="T60" fmla="*/ 115 w 128"/>
                <a:gd name="T61" fmla="*/ 6 h 114"/>
                <a:gd name="T62" fmla="*/ 118 w 128"/>
                <a:gd name="T63" fmla="*/ 5 h 114"/>
                <a:gd name="T64" fmla="*/ 122 w 128"/>
                <a:gd name="T65" fmla="*/ 6 h 114"/>
                <a:gd name="T66" fmla="*/ 122 w 128"/>
                <a:gd name="T67" fmla="*/ 14 h 114"/>
                <a:gd name="T68" fmla="*/ 74 w 128"/>
                <a:gd name="T69" fmla="*/ 62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114">
                  <a:moveTo>
                    <a:pt x="101" y="41"/>
                  </a:moveTo>
                  <a:cubicBezTo>
                    <a:pt x="125" y="17"/>
                    <a:pt x="125" y="17"/>
                    <a:pt x="125" y="17"/>
                  </a:cubicBezTo>
                  <a:cubicBezTo>
                    <a:pt x="127" y="15"/>
                    <a:pt x="128" y="13"/>
                    <a:pt x="128" y="10"/>
                  </a:cubicBezTo>
                  <a:cubicBezTo>
                    <a:pt x="128" y="8"/>
                    <a:pt x="127" y="5"/>
                    <a:pt x="125" y="3"/>
                  </a:cubicBezTo>
                  <a:cubicBezTo>
                    <a:pt x="121" y="0"/>
                    <a:pt x="115" y="0"/>
                    <a:pt x="111" y="3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3" y="27"/>
                    <a:pt x="0" y="30"/>
                    <a:pt x="0" y="33"/>
                  </a:cubicBezTo>
                  <a:cubicBezTo>
                    <a:pt x="0" y="108"/>
                    <a:pt x="0" y="108"/>
                    <a:pt x="0" y="108"/>
                  </a:cubicBezTo>
                  <a:cubicBezTo>
                    <a:pt x="0" y="111"/>
                    <a:pt x="3" y="114"/>
                    <a:pt x="6" y="114"/>
                  </a:cubicBezTo>
                  <a:cubicBezTo>
                    <a:pt x="95" y="114"/>
                    <a:pt x="95" y="114"/>
                    <a:pt x="95" y="114"/>
                  </a:cubicBezTo>
                  <a:cubicBezTo>
                    <a:pt x="98" y="114"/>
                    <a:pt x="101" y="111"/>
                    <a:pt x="101" y="108"/>
                  </a:cubicBezTo>
                  <a:lnTo>
                    <a:pt x="101" y="41"/>
                  </a:lnTo>
                  <a:close/>
                  <a:moveTo>
                    <a:pt x="96" y="109"/>
                  </a:moveTo>
                  <a:cubicBezTo>
                    <a:pt x="5" y="109"/>
                    <a:pt x="5" y="109"/>
                    <a:pt x="5" y="109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83" y="32"/>
                    <a:pt x="83" y="32"/>
                    <a:pt x="83" y="3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2" y="53"/>
                    <a:pt x="62" y="54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2" y="65"/>
                    <a:pt x="62" y="65"/>
                    <a:pt x="63" y="66"/>
                  </a:cubicBezTo>
                  <a:cubicBezTo>
                    <a:pt x="63" y="66"/>
                    <a:pt x="64" y="66"/>
                    <a:pt x="64" y="66"/>
                  </a:cubicBezTo>
                  <a:cubicBezTo>
                    <a:pt x="75" y="66"/>
                    <a:pt x="75" y="66"/>
                    <a:pt x="75" y="66"/>
                  </a:cubicBezTo>
                  <a:cubicBezTo>
                    <a:pt x="75" y="66"/>
                    <a:pt x="76" y="66"/>
                    <a:pt x="76" y="66"/>
                  </a:cubicBezTo>
                  <a:cubicBezTo>
                    <a:pt x="76" y="66"/>
                    <a:pt x="76" y="66"/>
                    <a:pt x="76" y="66"/>
                  </a:cubicBezTo>
                  <a:cubicBezTo>
                    <a:pt x="96" y="46"/>
                    <a:pt x="96" y="46"/>
                    <a:pt x="96" y="46"/>
                  </a:cubicBezTo>
                  <a:lnTo>
                    <a:pt x="96" y="109"/>
                  </a:lnTo>
                  <a:close/>
                  <a:moveTo>
                    <a:pt x="74" y="62"/>
                  </a:moveTo>
                  <a:cubicBezTo>
                    <a:pt x="67" y="62"/>
                    <a:pt x="67" y="62"/>
                    <a:pt x="67" y="62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115" y="6"/>
                    <a:pt x="115" y="6"/>
                    <a:pt x="115" y="6"/>
                  </a:cubicBezTo>
                  <a:cubicBezTo>
                    <a:pt x="116" y="5"/>
                    <a:pt x="118" y="5"/>
                    <a:pt x="118" y="5"/>
                  </a:cubicBezTo>
                  <a:cubicBezTo>
                    <a:pt x="119" y="5"/>
                    <a:pt x="121" y="5"/>
                    <a:pt x="122" y="6"/>
                  </a:cubicBezTo>
                  <a:cubicBezTo>
                    <a:pt x="124" y="8"/>
                    <a:pt x="124" y="12"/>
                    <a:pt x="122" y="14"/>
                  </a:cubicBezTo>
                  <a:lnTo>
                    <a:pt x="74" y="6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35" name="文本占位符 8">
            <a:extLst>
              <a:ext uri="{FF2B5EF4-FFF2-40B4-BE49-F238E27FC236}">
                <a16:creationId xmlns:a16="http://schemas.microsoft.com/office/drawing/2014/main" id="{7239F040-8C2F-4B38-8A30-4607B537A64A}"/>
              </a:ext>
            </a:extLst>
          </p:cNvPr>
          <p:cNvSpPr txBox="1">
            <a:spLocks/>
          </p:cNvSpPr>
          <p:nvPr/>
        </p:nvSpPr>
        <p:spPr>
          <a:xfrm>
            <a:off x="1640383" y="4957876"/>
            <a:ext cx="1992924" cy="3608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2000" b="0" kern="1200" baseline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3F3F3F"/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rPr>
              <a:t>CONTENTS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3F3F3F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2345183" y="5533322"/>
            <a:ext cx="583324" cy="6179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7" name="文本占位符 5">
            <a:extLst>
              <a:ext uri="{FF2B5EF4-FFF2-40B4-BE49-F238E27FC236}">
                <a16:creationId xmlns:a16="http://schemas.microsoft.com/office/drawing/2014/main" id="{E51A67F7-2D5D-449D-9AE5-2FF7DEEFA49F}"/>
              </a:ext>
            </a:extLst>
          </p:cNvPr>
          <p:cNvSpPr txBox="1">
            <a:spLocks/>
          </p:cNvSpPr>
          <p:nvPr/>
        </p:nvSpPr>
        <p:spPr>
          <a:xfrm>
            <a:off x="1255476" y="3939744"/>
            <a:ext cx="2762739" cy="9143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None/>
              <a:defRPr sz="6000" b="1" kern="1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577329047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3A9B4238-93F2-4EBC-92EA-A1D040BCAE7D}"/>
              </a:ext>
            </a:extLst>
          </p:cNvPr>
          <p:cNvSpPr txBox="1">
            <a:spLocks/>
          </p:cNvSpPr>
          <p:nvPr/>
        </p:nvSpPr>
        <p:spPr>
          <a:xfrm>
            <a:off x="4418011" y="1689433"/>
            <a:ext cx="3355975" cy="1157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7200" kern="1200" spc="3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01</a:t>
            </a:r>
            <a:endParaRPr kumimoji="0" lang="en-US" altLang="en-US" sz="72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457EBA7-D96D-4F8F-AA98-EB75E8861C08}"/>
              </a:ext>
            </a:extLst>
          </p:cNvPr>
          <p:cNvSpPr txBox="1">
            <a:spLocks/>
          </p:cNvSpPr>
          <p:nvPr/>
        </p:nvSpPr>
        <p:spPr>
          <a:xfrm>
            <a:off x="2397746" y="2939737"/>
            <a:ext cx="7396504" cy="12960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8000" kern="1200" spc="300" dirty="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研究背景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001A7005-AE75-4E62-89C0-F8D1767C9926}"/>
              </a:ext>
            </a:extLst>
          </p:cNvPr>
          <p:cNvSpPr txBox="1">
            <a:spLocks/>
          </p:cNvSpPr>
          <p:nvPr/>
        </p:nvSpPr>
        <p:spPr>
          <a:xfrm>
            <a:off x="4883260" y="4485305"/>
            <a:ext cx="2448625" cy="229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900" kern="1200" spc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BACKGROUND</a:t>
            </a:r>
            <a:endParaRPr kumimoji="0" lang="en-US" altLang="en-US" sz="1600" b="0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55001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9220699B-30D4-4073-91F7-02313840C09E}"/>
              </a:ext>
            </a:extLst>
          </p:cNvPr>
          <p:cNvSpPr txBox="1">
            <a:spLocks/>
          </p:cNvSpPr>
          <p:nvPr/>
        </p:nvSpPr>
        <p:spPr>
          <a:xfrm>
            <a:off x="1539631" y="1700198"/>
            <a:ext cx="9100038" cy="361070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协程作为并发模型，逐渐替代多线程成为高并发编程的事实标准。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用户态</a:t>
            </a:r>
            <a:r>
              <a:rPr lang="zh-CN" altLang="en-US" sz="2400" dirty="0">
                <a:solidFill>
                  <a:srgbClr val="000000"/>
                </a:solidFill>
              </a:rPr>
              <a:t>协程运行在内核线程中，无法被内核感知和调度。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000000"/>
                </a:solidFill>
              </a:rPr>
              <a:t>轮询机制</a:t>
            </a:r>
            <a:r>
              <a:rPr lang="en-US" altLang="zh-CN" sz="2400" dirty="0">
                <a:solidFill>
                  <a:srgbClr val="000000"/>
                </a:solidFill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</a:rPr>
              <a:t>延迟低但是占用率高，多路复用机制</a:t>
            </a:r>
            <a:r>
              <a:rPr lang="en-US" altLang="zh-CN" sz="2400" dirty="0">
                <a:solidFill>
                  <a:srgbClr val="000000"/>
                </a:solidFill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</a:rPr>
              <a:t>占用率低但是延迟高。</a:t>
            </a:r>
            <a:endParaRPr lang="en-US" altLang="zh-CN" sz="2400" dirty="0">
              <a:solidFill>
                <a:srgbClr val="000000"/>
              </a:solidFill>
            </a:endParaRPr>
          </a:p>
          <a:p>
            <a:pPr>
              <a:buClr>
                <a:schemeClr val="tx2"/>
              </a:buClr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内核需要为协程和异步</a:t>
            </a:r>
            <a:r>
              <a:rPr kumimoji="0" lang="en-US" altLang="zh-CN" sz="24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I/O</a:t>
            </a:r>
            <a:r>
              <a:rPr kumimoji="0" lang="zh-CN" altLang="en-US" sz="2400" b="0" i="0" u="none" strike="noStrike" kern="1200" cap="none" spc="3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提供更好的支持。</a:t>
            </a:r>
            <a:endParaRPr kumimoji="0" lang="en-US" altLang="zh-CN" sz="24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F77F212D-4F59-4957-9187-E73A42BE8E9D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26FDF4B-DF2A-42A0-AC9A-44EB3A58DC57}"/>
              </a:ext>
            </a:extLst>
          </p:cNvPr>
          <p:cNvSpPr/>
          <p:nvPr/>
        </p:nvSpPr>
        <p:spPr>
          <a:xfrm>
            <a:off x="4777429" y="2730279"/>
            <a:ext cx="720000" cy="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D6F4000-594E-40D3-940D-643B631BB399}"/>
              </a:ext>
            </a:extLst>
          </p:cNvPr>
          <p:cNvSpPr txBox="1"/>
          <p:nvPr/>
        </p:nvSpPr>
        <p:spPr>
          <a:xfrm>
            <a:off x="3430502" y="2018891"/>
            <a:ext cx="2208297" cy="58477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1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用户态中断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3C07288-9E2C-41A0-9BD8-FC6941580CF1}"/>
              </a:ext>
            </a:extLst>
          </p:cNvPr>
          <p:cNvSpPr txBox="1"/>
          <p:nvPr/>
        </p:nvSpPr>
        <p:spPr>
          <a:xfrm>
            <a:off x="847724" y="2989828"/>
            <a:ext cx="4791075" cy="240552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Intel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x86-64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上提供了新的特性：用户态中断。它支持用户进程</a:t>
            </a:r>
            <a:r>
              <a:rPr lang="en-US" altLang="zh-CN" sz="1600" spc="100" dirty="0">
                <a:solidFill>
                  <a:prstClr val="black"/>
                </a:solidFill>
                <a:latin typeface="微软雅黑"/>
                <a:ea typeface="微软雅黑"/>
              </a:rPr>
              <a:t>/</a:t>
            </a:r>
            <a:r>
              <a:rPr lang="zh-CN" altLang="en-US" sz="1600" spc="100" dirty="0">
                <a:solidFill>
                  <a:prstClr val="black"/>
                </a:solidFill>
                <a:latin typeface="微软雅黑"/>
                <a:ea typeface="微软雅黑"/>
              </a:rPr>
              <a:t>内核</a:t>
            </a:r>
            <a:r>
              <a:rPr lang="en-US" altLang="zh-CN" sz="1600" spc="100" dirty="0">
                <a:solidFill>
                  <a:prstClr val="black"/>
                </a:solidFill>
                <a:latin typeface="微软雅黑"/>
                <a:ea typeface="微软雅黑"/>
              </a:rPr>
              <a:t>/</a:t>
            </a:r>
            <a:r>
              <a:rPr lang="zh-CN" altLang="en-US" sz="1600" spc="100" dirty="0">
                <a:solidFill>
                  <a:prstClr val="black"/>
                </a:solidFill>
                <a:latin typeface="微软雅黑"/>
                <a:ea typeface="微软雅黑"/>
              </a:rPr>
              <a:t>外部设备发送中断到用户进程。与传统的中断不同，用户态中断的发送和接收完全在用户态进行，避免了内核上下文切换和系统调用开销。</a:t>
            </a:r>
            <a:endParaRPr kumimoji="0" lang="zh-CN" altLang="en-US" sz="16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8EE4BB-86C1-4632-85D4-AFD8DA732254}"/>
              </a:ext>
            </a:extLst>
          </p:cNvPr>
          <p:cNvSpPr/>
          <p:nvPr/>
        </p:nvSpPr>
        <p:spPr>
          <a:xfrm>
            <a:off x="6703872" y="2724552"/>
            <a:ext cx="720000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E57FC14-8070-4F3F-87EA-DA88182E25E6}"/>
              </a:ext>
            </a:extLst>
          </p:cNvPr>
          <p:cNvSpPr txBox="1"/>
          <p:nvPr/>
        </p:nvSpPr>
        <p:spPr>
          <a:xfrm>
            <a:off x="6703872" y="1997816"/>
            <a:ext cx="1772280" cy="584775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100" normalizeH="0" baseline="0" noProof="0" dirty="0" err="1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Io_uring</a:t>
            </a:r>
            <a:endParaRPr kumimoji="0" lang="zh-CN" altLang="en-US" sz="3200" b="1" i="0" u="none" strike="noStrike" kern="1200" cap="none" spc="100" normalizeH="0" baseline="0" noProof="0" dirty="0">
              <a:ln>
                <a:noFill/>
              </a:ln>
              <a:solidFill>
                <a:srgbClr val="A13F0B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13BEEA-754F-47C9-8A5D-B53A56379029}"/>
              </a:ext>
            </a:extLst>
          </p:cNvPr>
          <p:cNvSpPr txBox="1"/>
          <p:nvPr/>
        </p:nvSpPr>
        <p:spPr>
          <a:xfrm>
            <a:off x="6686550" y="2989828"/>
            <a:ext cx="4826592" cy="2405522"/>
          </a:xfrm>
          <a:prstGeom prst="rect">
            <a:avLst/>
          </a:prstGeom>
          <a:noFill/>
        </p:spPr>
        <p:txBody>
          <a:bodyPr wrap="square" lIns="0" rtlCol="0">
            <a:normAutofit/>
          </a:bodyPr>
          <a:lstStyle/>
          <a:p>
            <a:pPr marL="0" marR="0" lvl="0" indent="0" algn="just" defTabSz="914400" rtl="0" eaLnBrk="1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io_uring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是 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Linux 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内核提供的一种纯异步的高性能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接口。它通过在用户和内核中共享提交和完成队列，批量提交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系统调用，最大限度地减少甚至消除系统调用本身带来的开销，从而实现极高的</a:t>
            </a:r>
            <a:r>
              <a:rPr kumimoji="0" lang="en-US" altLang="zh-CN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I/O</a:t>
            </a:r>
            <a:r>
              <a:rPr kumimoji="0" lang="zh-CN" altLang="en-US" sz="16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性能。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C14ACC5A-7664-41DD-9813-A2F68F0E03E2}"/>
              </a:ext>
            </a:extLst>
          </p:cNvPr>
          <p:cNvCxnSpPr>
            <a:cxnSpLocks/>
          </p:cNvCxnSpPr>
          <p:nvPr/>
        </p:nvCxnSpPr>
        <p:spPr>
          <a:xfrm>
            <a:off x="6091989" y="1997816"/>
            <a:ext cx="0" cy="3198298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477803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研究背景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071237-C3EE-4688-8160-8EF44A8B0EF4}"/>
              </a:ext>
            </a:extLst>
          </p:cNvPr>
          <p:cNvSpPr/>
          <p:nvPr/>
        </p:nvSpPr>
        <p:spPr>
          <a:xfrm>
            <a:off x="1041400" y="1293252"/>
            <a:ext cx="10109200" cy="4356100"/>
          </a:xfrm>
          <a:prstGeom prst="rect">
            <a:avLst/>
          </a:prstGeom>
          <a:noFill/>
          <a:ln w="31750">
            <a:gradFill>
              <a:gsLst>
                <a:gs pos="13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C132B9-7816-40DF-A75A-76D084D56CCC}"/>
              </a:ext>
            </a:extLst>
          </p:cNvPr>
          <p:cNvSpPr txBox="1"/>
          <p:nvPr/>
        </p:nvSpPr>
        <p:spPr>
          <a:xfrm>
            <a:off x="90665" y="594786"/>
            <a:ext cx="2319909" cy="2554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600" b="0" i="0" u="none" strike="noStrike" kern="1200" cap="none" spc="3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“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FD59AEA-A8DA-4FD6-95B0-1014104036C0}"/>
              </a:ext>
            </a:extLst>
          </p:cNvPr>
          <p:cNvSpPr txBox="1"/>
          <p:nvPr/>
        </p:nvSpPr>
        <p:spPr>
          <a:xfrm>
            <a:off x="1336421" y="2294974"/>
            <a:ext cx="4933950" cy="31577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1200" spc="3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是一个基于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RISC-V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平台，使用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编程语言实现的模块化、研究型操作系统。其特色在于将内核模块划分为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域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，利用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Rust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语言安全特性实现故障隔离和高效的跨域通信。</a:t>
            </a:r>
            <a:r>
              <a:rPr kumimoji="0" lang="en-US" altLang="zh-CN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2000" b="0" i="0" u="none" strike="noStrike" kern="1200" cap="none" spc="30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代码规模适中，没有引入任何异步特性，可以用于进行异步化改造研究。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30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5296328-ABAD-4B6D-8595-28952E950CFA}"/>
              </a:ext>
            </a:extLst>
          </p:cNvPr>
          <p:cNvSpPr txBox="1"/>
          <p:nvPr/>
        </p:nvSpPr>
        <p:spPr>
          <a:xfrm>
            <a:off x="2248649" y="1354655"/>
            <a:ext cx="3517900" cy="743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Alien</a:t>
            </a:r>
            <a:r>
              <a:rPr kumimoji="0" lang="zh-CN" altLang="en-US" sz="4400" b="1" i="0" u="none" strike="noStrike" kern="1200" cap="none" spc="30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内核</a:t>
            </a:r>
          </a:p>
        </p:txBody>
      </p:sp>
      <p:sp>
        <p:nvSpPr>
          <p:cNvPr id="18" name="文本框 17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665B2C0-4124-0C81-B155-05834FF41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522914"/>
            <a:ext cx="5432531" cy="39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44052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3A9B4238-93F2-4EBC-92EA-A1D040BCAE7D}"/>
              </a:ext>
            </a:extLst>
          </p:cNvPr>
          <p:cNvSpPr txBox="1">
            <a:spLocks/>
          </p:cNvSpPr>
          <p:nvPr/>
        </p:nvSpPr>
        <p:spPr>
          <a:xfrm>
            <a:off x="4418011" y="1689433"/>
            <a:ext cx="3355975" cy="1157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7200" kern="1200" spc="3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02</a:t>
            </a:r>
            <a:endParaRPr kumimoji="0" lang="en-US" altLang="en-US" sz="72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E457EBA7-D96D-4F8F-AA98-EB75E8861C08}"/>
              </a:ext>
            </a:extLst>
          </p:cNvPr>
          <p:cNvSpPr txBox="1">
            <a:spLocks/>
          </p:cNvSpPr>
          <p:nvPr/>
        </p:nvSpPr>
        <p:spPr>
          <a:xfrm>
            <a:off x="2397746" y="2939737"/>
            <a:ext cx="7396504" cy="12960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8000" kern="1200" spc="300" dirty="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研究目标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001A7005-AE75-4E62-89C0-F8D1767C9926}"/>
              </a:ext>
            </a:extLst>
          </p:cNvPr>
          <p:cNvSpPr txBox="1">
            <a:spLocks/>
          </p:cNvSpPr>
          <p:nvPr/>
        </p:nvSpPr>
        <p:spPr>
          <a:xfrm>
            <a:off x="4871685" y="4485305"/>
            <a:ext cx="2448625" cy="229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900" kern="1200" spc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GOAL</a:t>
            </a:r>
            <a:endParaRPr kumimoji="0" lang="en-US" altLang="en-US" sz="1600" b="0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61870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</a:t>
            </a:r>
          </a:p>
        </p:txBody>
      </p:sp>
      <p:sp>
        <p:nvSpPr>
          <p:cNvPr id="11" name="内容占位符 1">
            <a:extLst>
              <a:ext uri="{FF2B5EF4-FFF2-40B4-BE49-F238E27FC236}">
                <a16:creationId xmlns:a16="http://schemas.microsoft.com/office/drawing/2014/main" id="{9220699B-30D4-4073-91F7-02313840C09E}"/>
              </a:ext>
            </a:extLst>
          </p:cNvPr>
          <p:cNvSpPr txBox="1">
            <a:spLocks/>
          </p:cNvSpPr>
          <p:nvPr/>
        </p:nvSpPr>
        <p:spPr>
          <a:xfrm>
            <a:off x="1539631" y="2447924"/>
            <a:ext cx="9100038" cy="286298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zh-CN" altLang="en-US" dirty="0"/>
              <a:t>将模块化内核</a:t>
            </a:r>
            <a:r>
              <a:rPr lang="en-US" altLang="zh-CN" dirty="0"/>
              <a:t>Alien</a:t>
            </a:r>
            <a:r>
              <a:rPr lang="zh-CN" altLang="en-US" dirty="0"/>
              <a:t>移植至</a:t>
            </a:r>
            <a:r>
              <a:rPr lang="en-US" altLang="zh-CN" dirty="0"/>
              <a:t>x86-64</a:t>
            </a:r>
            <a:r>
              <a:rPr lang="zh-CN" altLang="en-US" dirty="0"/>
              <a:t>平台，</a:t>
            </a:r>
            <a:r>
              <a:rPr lang="zh-CN" altLang="zh-CN" dirty="0"/>
              <a:t>将用户态中断、协程调度模型与异步系统调用进行整合</a:t>
            </a:r>
            <a:r>
              <a:rPr lang="zh-CN" altLang="en-US" dirty="0"/>
              <a:t>，以构建更低延迟、更高性能的内核。</a:t>
            </a:r>
            <a:endParaRPr kumimoji="0" lang="zh-CN" altLang="en-US" sz="2800" b="0" i="0" u="none" strike="noStrike" kern="1200" cap="none" spc="3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F77F212D-4F59-4957-9187-E73A42BE8E9D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88937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移植到</a:t>
            </a:r>
            <a:r>
              <a:rPr lang="en-US" altLang="zh-CN" dirty="0"/>
              <a:t>x86-64</a:t>
            </a:r>
            <a:endParaRPr lang="zh-CN" altLang="en-US" dirty="0"/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AE1C27E-AAD5-4AEE-8661-FB2A1F7F7CEF}"/>
              </a:ext>
            </a:extLst>
          </p:cNvPr>
          <p:cNvGrpSpPr/>
          <p:nvPr/>
        </p:nvGrpSpPr>
        <p:grpSpPr>
          <a:xfrm>
            <a:off x="6888518" y="1671532"/>
            <a:ext cx="3976332" cy="3917208"/>
            <a:chOff x="5063619" y="2188316"/>
            <a:chExt cx="3096360" cy="3917208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78EE4BB-86C1-4632-85D4-AFD8DA732254}"/>
                </a:ext>
              </a:extLst>
            </p:cNvPr>
            <p:cNvSpPr/>
            <p:nvPr/>
          </p:nvSpPr>
          <p:spPr>
            <a:xfrm>
              <a:off x="5063619" y="2819802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E57FC14-8070-4F3F-87EA-DA88182E25E6}"/>
                </a:ext>
              </a:extLst>
            </p:cNvPr>
            <p:cNvSpPr txBox="1"/>
            <p:nvPr/>
          </p:nvSpPr>
          <p:spPr>
            <a:xfrm>
              <a:off x="5063619" y="2188316"/>
              <a:ext cx="3096360" cy="46166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移植到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x86-64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物理机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813BEEA-754F-47C9-8A5D-B53A56379029}"/>
                </a:ext>
              </a:extLst>
            </p:cNvPr>
            <p:cNvSpPr txBox="1"/>
            <p:nvPr/>
          </p:nvSpPr>
          <p:spPr>
            <a:xfrm>
              <a:off x="5063619" y="3123178"/>
              <a:ext cx="3096359" cy="2982346"/>
            </a:xfrm>
            <a:prstGeom prst="rect">
              <a:avLst/>
            </a:prstGeom>
            <a:noFill/>
          </p:spPr>
          <p:txBody>
            <a:bodyPr wrap="square" lIns="0" rtlCol="0">
              <a:noAutofit/>
            </a:bodyPr>
            <a:lstStyle/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适配物理机引导协议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动态探测硬件信息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建立物理调试通道（串口）</a:t>
              </a:r>
              <a:endParaRPr lang="en-US" altLang="zh-CN" spc="100" dirty="0">
                <a:solidFill>
                  <a:prstClr val="black"/>
                </a:solidFill>
                <a:latin typeface="微软雅黑"/>
                <a:ea typeface="微软雅黑" panose="020B0503020204020204" pitchFamily="34" charset="-122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实现真实硬件驱动程序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3" name="right-arrow_339913">
            <a:extLst>
              <a:ext uri="{FF2B5EF4-FFF2-40B4-BE49-F238E27FC236}">
                <a16:creationId xmlns:a16="http://schemas.microsoft.com/office/drawing/2014/main" id="{358D34DA-96BD-462C-A5D9-F385FCFCCD26}"/>
              </a:ext>
            </a:extLst>
          </p:cNvPr>
          <p:cNvSpPr>
            <a:spLocks noChangeAspect="1"/>
          </p:cNvSpPr>
          <p:nvPr/>
        </p:nvSpPr>
        <p:spPr bwMode="auto">
          <a:xfrm>
            <a:off x="5486315" y="3124743"/>
            <a:ext cx="609685" cy="608513"/>
          </a:xfrm>
          <a:custGeom>
            <a:avLst/>
            <a:gdLst>
              <a:gd name="connsiteX0" fmla="*/ 312860 w 607729"/>
              <a:gd name="connsiteY0" fmla="*/ 3534 h 606561"/>
              <a:gd name="connsiteX1" fmla="*/ 603991 w 607729"/>
              <a:gd name="connsiteY1" fmla="*/ 294222 h 606561"/>
              <a:gd name="connsiteX2" fmla="*/ 603991 w 607729"/>
              <a:gd name="connsiteY2" fmla="*/ 312084 h 606561"/>
              <a:gd name="connsiteX3" fmla="*/ 312860 w 607729"/>
              <a:gd name="connsiteY3" fmla="*/ 602772 h 606561"/>
              <a:gd name="connsiteX4" fmla="*/ 312593 w 607729"/>
              <a:gd name="connsiteY4" fmla="*/ 602949 h 606561"/>
              <a:gd name="connsiteX5" fmla="*/ 294792 w 607729"/>
              <a:gd name="connsiteY5" fmla="*/ 602772 h 606561"/>
              <a:gd name="connsiteX6" fmla="*/ 295059 w 607729"/>
              <a:gd name="connsiteY6" fmla="*/ 584909 h 606561"/>
              <a:gd name="connsiteX7" fmla="*/ 577201 w 607729"/>
              <a:gd name="connsiteY7" fmla="*/ 303108 h 606561"/>
              <a:gd name="connsiteX8" fmla="*/ 295059 w 607729"/>
              <a:gd name="connsiteY8" fmla="*/ 21308 h 606561"/>
              <a:gd name="connsiteX9" fmla="*/ 295059 w 607729"/>
              <a:gd name="connsiteY9" fmla="*/ 3800 h 606561"/>
              <a:gd name="connsiteX10" fmla="*/ 312860 w 607729"/>
              <a:gd name="connsiteY10" fmla="*/ 3534 h 606561"/>
              <a:gd name="connsiteX11" fmla="*/ 21707 w 607729"/>
              <a:gd name="connsiteY11" fmla="*/ 3534 h 606561"/>
              <a:gd name="connsiteX12" fmla="*/ 312838 w 607729"/>
              <a:gd name="connsiteY12" fmla="*/ 294222 h 606561"/>
              <a:gd name="connsiteX13" fmla="*/ 312838 w 607729"/>
              <a:gd name="connsiteY13" fmla="*/ 312084 h 606561"/>
              <a:gd name="connsiteX14" fmla="*/ 21707 w 607729"/>
              <a:gd name="connsiteY14" fmla="*/ 602772 h 606561"/>
              <a:gd name="connsiteX15" fmla="*/ 21440 w 607729"/>
              <a:gd name="connsiteY15" fmla="*/ 602949 h 606561"/>
              <a:gd name="connsiteX16" fmla="*/ 3639 w 607729"/>
              <a:gd name="connsiteY16" fmla="*/ 602772 h 606561"/>
              <a:gd name="connsiteX17" fmla="*/ 3906 w 607729"/>
              <a:gd name="connsiteY17" fmla="*/ 584909 h 606561"/>
              <a:gd name="connsiteX18" fmla="*/ 286047 w 607729"/>
              <a:gd name="connsiteY18" fmla="*/ 303197 h 606561"/>
              <a:gd name="connsiteX19" fmla="*/ 3906 w 607729"/>
              <a:gd name="connsiteY19" fmla="*/ 21485 h 606561"/>
              <a:gd name="connsiteX20" fmla="*/ 3906 w 607729"/>
              <a:gd name="connsiteY20" fmla="*/ 3889 h 606561"/>
              <a:gd name="connsiteX21" fmla="*/ 21707 w 607729"/>
              <a:gd name="connsiteY21" fmla="*/ 3534 h 6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BCDCB61-8E9E-1B2F-7259-54C1AB314D9E}"/>
              </a:ext>
            </a:extLst>
          </p:cNvPr>
          <p:cNvGrpSpPr/>
          <p:nvPr/>
        </p:nvGrpSpPr>
        <p:grpSpPr>
          <a:xfrm>
            <a:off x="1327150" y="1671532"/>
            <a:ext cx="3568137" cy="3917208"/>
            <a:chOff x="678857" y="2188316"/>
            <a:chExt cx="2539994" cy="3917208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2CD5DEF-0232-E6C8-C234-16CF34624929}"/>
                </a:ext>
              </a:extLst>
            </p:cNvPr>
            <p:cNvSpPr/>
            <p:nvPr/>
          </p:nvSpPr>
          <p:spPr>
            <a:xfrm>
              <a:off x="678857" y="2819802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23A7FDB7-16B0-347C-611B-3760AFBC3C05}"/>
                </a:ext>
              </a:extLst>
            </p:cNvPr>
            <p:cNvSpPr txBox="1"/>
            <p:nvPr/>
          </p:nvSpPr>
          <p:spPr>
            <a:xfrm>
              <a:off x="678857" y="2188316"/>
              <a:ext cx="2539994" cy="46166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移植到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x86-64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模拟器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1B4308C-B586-5B62-52AC-884DAA65FCBF}"/>
                </a:ext>
              </a:extLst>
            </p:cNvPr>
            <p:cNvSpPr txBox="1"/>
            <p:nvPr/>
          </p:nvSpPr>
          <p:spPr>
            <a:xfrm>
              <a:off x="678857" y="3123177"/>
              <a:ext cx="2539993" cy="2982347"/>
            </a:xfrm>
            <a:prstGeom prst="rect">
              <a:avLst/>
            </a:prstGeom>
            <a:noFill/>
          </p:spPr>
          <p:txBody>
            <a:bodyPr wrap="square" lIns="0" rtlCol="0">
              <a:noAutofit/>
            </a:bodyPr>
            <a:lstStyle/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实现引导程序、中断、系统调用、虚拟地址管理向</a:t>
              </a:r>
              <a:r>
                <a:rPr kumimoji="0" lang="en-US" altLang="zh-CN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x86-64</a:t>
              </a: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移植。</a:t>
              </a: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完成硬件抽象层和设备驱动向</a:t>
              </a:r>
              <a:r>
                <a:rPr kumimoji="0" lang="en-US" altLang="zh-CN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x86-64</a:t>
              </a: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移植。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7433142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研究目标</a:t>
            </a:r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600" b="1" dirty="0">
                <a:solidFill>
                  <a:prstClr val="white"/>
                </a:solidFill>
              </a:rPr>
              <a:t>2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AE1C27E-AAD5-4AEE-8661-FB2A1F7F7CEF}"/>
              </a:ext>
            </a:extLst>
          </p:cNvPr>
          <p:cNvGrpSpPr/>
          <p:nvPr/>
        </p:nvGrpSpPr>
        <p:grpSpPr>
          <a:xfrm>
            <a:off x="1162050" y="1676228"/>
            <a:ext cx="4476749" cy="3794722"/>
            <a:chOff x="5063619" y="2218382"/>
            <a:chExt cx="3397079" cy="3794722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78EE4BB-86C1-4632-85D4-AFD8DA732254}"/>
                </a:ext>
              </a:extLst>
            </p:cNvPr>
            <p:cNvSpPr/>
            <p:nvPr/>
          </p:nvSpPr>
          <p:spPr>
            <a:xfrm>
              <a:off x="5063619" y="2819802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E57FC14-8070-4F3F-87EA-DA88182E25E6}"/>
                </a:ext>
              </a:extLst>
            </p:cNvPr>
            <p:cNvSpPr txBox="1"/>
            <p:nvPr/>
          </p:nvSpPr>
          <p:spPr>
            <a:xfrm>
              <a:off x="5063619" y="2218382"/>
              <a:ext cx="3397079" cy="461665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用户态中断驱动的协程调度器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813BEEA-754F-47C9-8A5D-B53A56379029}"/>
                </a:ext>
              </a:extLst>
            </p:cNvPr>
            <p:cNvSpPr txBox="1"/>
            <p:nvPr/>
          </p:nvSpPr>
          <p:spPr>
            <a:xfrm>
              <a:off x="5063619" y="3030758"/>
              <a:ext cx="3397079" cy="2982346"/>
            </a:xfrm>
            <a:prstGeom prst="rect">
              <a:avLst/>
            </a:prstGeom>
            <a:noFill/>
          </p:spPr>
          <p:txBody>
            <a:bodyPr wrap="square" lIns="0" rtlCol="0">
              <a:noAutofit/>
            </a:bodyPr>
            <a:lstStyle/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在内核中实现以协程作为基本调度单位。</a:t>
              </a: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实现用户态中断的分配、绑定至特定协程。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引入</a:t>
              </a:r>
              <a:r>
                <a:rPr lang="en-US" altLang="zh-CN" spc="100" dirty="0" err="1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vDSO</a:t>
              </a: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实现内核与用户共同调度。</a:t>
              </a:r>
              <a:endPara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设计并完成由用户态中断驱动的用户态协程调度</a:t>
              </a: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组件</a:t>
              </a:r>
              <a:endPara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3F5CACD-F12D-428A-A85B-BA5C6607B6E8}"/>
              </a:ext>
            </a:extLst>
          </p:cNvPr>
          <p:cNvGrpSpPr/>
          <p:nvPr/>
        </p:nvGrpSpPr>
        <p:grpSpPr>
          <a:xfrm>
            <a:off x="6943725" y="1676229"/>
            <a:ext cx="4333875" cy="2971971"/>
            <a:chOff x="9448380" y="2188316"/>
            <a:chExt cx="2434003" cy="3028684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1C959A8-76C0-4A27-9E4F-5CFAEA1EFF4D}"/>
                </a:ext>
              </a:extLst>
            </p:cNvPr>
            <p:cNvSpPr/>
            <p:nvPr/>
          </p:nvSpPr>
          <p:spPr>
            <a:xfrm>
              <a:off x="9448380" y="2819802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9932CB4-01A3-450C-AFF8-986CBEAA454C}"/>
                </a:ext>
              </a:extLst>
            </p:cNvPr>
            <p:cNvSpPr txBox="1"/>
            <p:nvPr/>
          </p:nvSpPr>
          <p:spPr>
            <a:xfrm>
              <a:off x="9448380" y="2188316"/>
              <a:ext cx="2434003" cy="46166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异步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I/O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处理框架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(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可选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)</a:t>
              </a:r>
              <a:endParaRPr kumimoji="0" lang="zh-CN" altLang="en-US" sz="2400" b="1" i="0" u="none" strike="noStrike" kern="1200" cap="none" spc="100" normalizeH="0" baseline="0" noProof="0" dirty="0">
                <a:ln>
                  <a:noFill/>
                </a:ln>
                <a:solidFill>
                  <a:srgbClr val="006C39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9CC292C-EC56-4CA9-B3DF-337A59B88AC3}"/>
                </a:ext>
              </a:extLst>
            </p:cNvPr>
            <p:cNvSpPr txBox="1"/>
            <p:nvPr/>
          </p:nvSpPr>
          <p:spPr>
            <a:xfrm>
              <a:off x="9448381" y="3123177"/>
              <a:ext cx="2348411" cy="2093823"/>
            </a:xfrm>
            <a:prstGeom prst="rect">
              <a:avLst/>
            </a:prstGeom>
            <a:noFill/>
          </p:spPr>
          <p:txBody>
            <a:bodyPr wrap="square" lIns="0" rtlCol="0">
              <a:noAutofit/>
            </a:bodyPr>
            <a:lstStyle/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引入类似</a:t>
              </a:r>
              <a:r>
                <a:rPr kumimoji="0" lang="en-US" altLang="zh-CN" sz="1800" b="0" i="0" u="none" strike="noStrike" kern="1200" cap="none" spc="10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io_uring</a:t>
              </a: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的异步</a:t>
              </a:r>
              <a:r>
                <a:rPr kumimoji="0" lang="en-US" altLang="zh-CN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I/O</a:t>
              </a: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处理框架，形成组件。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zh-CN" altLang="en-US" spc="100" dirty="0">
                  <a:solidFill>
                    <a:prstClr val="black"/>
                  </a:solidFill>
                  <a:latin typeface="微软雅黑"/>
                  <a:ea typeface="微软雅黑" panose="020B0503020204020204" pitchFamily="34" charset="-122"/>
                </a:rPr>
                <a:t>进行</a:t>
              </a:r>
              <a:r>
                <a:rPr kumimoji="0" lang="zh-CN" altLang="en-US" sz="1800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异步设备驱动的开发。</a:t>
              </a:r>
              <a:endParaRPr kumimoji="0" lang="en-US" altLang="zh-CN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  <a:p>
              <a:pPr marL="285750" marR="0" lvl="0" indent="-28575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tx2"/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zh-CN" altLang="en-US" sz="1800" b="0" i="0" u="none" strike="noStrike" kern="1200" cap="none" spc="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24" name="right-arrow_339913">
            <a:extLst>
              <a:ext uri="{FF2B5EF4-FFF2-40B4-BE49-F238E27FC236}">
                <a16:creationId xmlns:a16="http://schemas.microsoft.com/office/drawing/2014/main" id="{8E16FC23-C0A0-4D47-B980-B3CBABCC9486}"/>
              </a:ext>
            </a:extLst>
          </p:cNvPr>
          <p:cNvSpPr>
            <a:spLocks noChangeAspect="1"/>
          </p:cNvSpPr>
          <p:nvPr/>
        </p:nvSpPr>
        <p:spPr bwMode="auto">
          <a:xfrm>
            <a:off x="5928474" y="3026319"/>
            <a:ext cx="609685" cy="608513"/>
          </a:xfrm>
          <a:custGeom>
            <a:avLst/>
            <a:gdLst>
              <a:gd name="connsiteX0" fmla="*/ 312860 w 607729"/>
              <a:gd name="connsiteY0" fmla="*/ 3534 h 606561"/>
              <a:gd name="connsiteX1" fmla="*/ 603991 w 607729"/>
              <a:gd name="connsiteY1" fmla="*/ 294222 h 606561"/>
              <a:gd name="connsiteX2" fmla="*/ 603991 w 607729"/>
              <a:gd name="connsiteY2" fmla="*/ 312084 h 606561"/>
              <a:gd name="connsiteX3" fmla="*/ 312860 w 607729"/>
              <a:gd name="connsiteY3" fmla="*/ 602772 h 606561"/>
              <a:gd name="connsiteX4" fmla="*/ 312593 w 607729"/>
              <a:gd name="connsiteY4" fmla="*/ 602949 h 606561"/>
              <a:gd name="connsiteX5" fmla="*/ 294792 w 607729"/>
              <a:gd name="connsiteY5" fmla="*/ 602772 h 606561"/>
              <a:gd name="connsiteX6" fmla="*/ 295059 w 607729"/>
              <a:gd name="connsiteY6" fmla="*/ 584909 h 606561"/>
              <a:gd name="connsiteX7" fmla="*/ 577201 w 607729"/>
              <a:gd name="connsiteY7" fmla="*/ 303108 h 606561"/>
              <a:gd name="connsiteX8" fmla="*/ 295059 w 607729"/>
              <a:gd name="connsiteY8" fmla="*/ 21308 h 606561"/>
              <a:gd name="connsiteX9" fmla="*/ 295059 w 607729"/>
              <a:gd name="connsiteY9" fmla="*/ 3800 h 606561"/>
              <a:gd name="connsiteX10" fmla="*/ 312860 w 607729"/>
              <a:gd name="connsiteY10" fmla="*/ 3534 h 606561"/>
              <a:gd name="connsiteX11" fmla="*/ 21707 w 607729"/>
              <a:gd name="connsiteY11" fmla="*/ 3534 h 606561"/>
              <a:gd name="connsiteX12" fmla="*/ 312838 w 607729"/>
              <a:gd name="connsiteY12" fmla="*/ 294222 h 606561"/>
              <a:gd name="connsiteX13" fmla="*/ 312838 w 607729"/>
              <a:gd name="connsiteY13" fmla="*/ 312084 h 606561"/>
              <a:gd name="connsiteX14" fmla="*/ 21707 w 607729"/>
              <a:gd name="connsiteY14" fmla="*/ 602772 h 606561"/>
              <a:gd name="connsiteX15" fmla="*/ 21440 w 607729"/>
              <a:gd name="connsiteY15" fmla="*/ 602949 h 606561"/>
              <a:gd name="connsiteX16" fmla="*/ 3639 w 607729"/>
              <a:gd name="connsiteY16" fmla="*/ 602772 h 606561"/>
              <a:gd name="connsiteX17" fmla="*/ 3906 w 607729"/>
              <a:gd name="connsiteY17" fmla="*/ 584909 h 606561"/>
              <a:gd name="connsiteX18" fmla="*/ 286047 w 607729"/>
              <a:gd name="connsiteY18" fmla="*/ 303197 h 606561"/>
              <a:gd name="connsiteX19" fmla="*/ 3906 w 607729"/>
              <a:gd name="connsiteY19" fmla="*/ 21485 h 606561"/>
              <a:gd name="connsiteX20" fmla="*/ 3906 w 607729"/>
              <a:gd name="connsiteY20" fmla="*/ 3889 h 606561"/>
              <a:gd name="connsiteX21" fmla="*/ 21707 w 607729"/>
              <a:gd name="connsiteY21" fmla="*/ 3534 h 60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07729" h="606561">
                <a:moveTo>
                  <a:pt x="312860" y="3534"/>
                </a:moveTo>
                <a:lnTo>
                  <a:pt x="603991" y="294222"/>
                </a:lnTo>
                <a:cubicBezTo>
                  <a:pt x="608975" y="299109"/>
                  <a:pt x="608975" y="307107"/>
                  <a:pt x="603991" y="312084"/>
                </a:cubicBezTo>
                <a:lnTo>
                  <a:pt x="312860" y="602772"/>
                </a:lnTo>
                <a:lnTo>
                  <a:pt x="312593" y="602949"/>
                </a:lnTo>
                <a:cubicBezTo>
                  <a:pt x="307698" y="607926"/>
                  <a:pt x="299688" y="607659"/>
                  <a:pt x="294792" y="602772"/>
                </a:cubicBezTo>
                <a:cubicBezTo>
                  <a:pt x="289808" y="597795"/>
                  <a:pt x="289986" y="589708"/>
                  <a:pt x="295059" y="584909"/>
                </a:cubicBezTo>
                <a:lnTo>
                  <a:pt x="577201" y="303108"/>
                </a:lnTo>
                <a:lnTo>
                  <a:pt x="295059" y="21308"/>
                </a:lnTo>
                <a:cubicBezTo>
                  <a:pt x="290342" y="16420"/>
                  <a:pt x="290342" y="8688"/>
                  <a:pt x="295059" y="3800"/>
                </a:cubicBezTo>
                <a:cubicBezTo>
                  <a:pt x="299866" y="-1176"/>
                  <a:pt x="307787" y="-1265"/>
                  <a:pt x="312860" y="3534"/>
                </a:cubicBezTo>
                <a:close/>
                <a:moveTo>
                  <a:pt x="21707" y="3534"/>
                </a:moveTo>
                <a:lnTo>
                  <a:pt x="312838" y="294222"/>
                </a:lnTo>
                <a:cubicBezTo>
                  <a:pt x="317822" y="299109"/>
                  <a:pt x="317822" y="307107"/>
                  <a:pt x="312838" y="312084"/>
                </a:cubicBezTo>
                <a:lnTo>
                  <a:pt x="21707" y="602772"/>
                </a:lnTo>
                <a:lnTo>
                  <a:pt x="21440" y="602949"/>
                </a:lnTo>
                <a:cubicBezTo>
                  <a:pt x="16544" y="607926"/>
                  <a:pt x="8534" y="607659"/>
                  <a:pt x="3639" y="602772"/>
                </a:cubicBezTo>
                <a:cubicBezTo>
                  <a:pt x="-1345" y="597795"/>
                  <a:pt x="-1167" y="589708"/>
                  <a:pt x="3906" y="584909"/>
                </a:cubicBezTo>
                <a:lnTo>
                  <a:pt x="286047" y="303197"/>
                </a:lnTo>
                <a:lnTo>
                  <a:pt x="3906" y="21485"/>
                </a:lnTo>
                <a:cubicBezTo>
                  <a:pt x="-811" y="16509"/>
                  <a:pt x="-811" y="8866"/>
                  <a:pt x="3906" y="3889"/>
                </a:cubicBezTo>
                <a:cubicBezTo>
                  <a:pt x="8712" y="-1176"/>
                  <a:pt x="16811" y="-1265"/>
                  <a:pt x="21707" y="353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77731300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研究意义</a:t>
            </a: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91BC9E9C-D4BE-4B70-AC09-530AA6F7273D}"/>
              </a:ext>
            </a:extLst>
          </p:cNvPr>
          <p:cNvGrpSpPr/>
          <p:nvPr/>
        </p:nvGrpSpPr>
        <p:grpSpPr>
          <a:xfrm>
            <a:off x="580486" y="2185705"/>
            <a:ext cx="2969214" cy="2698681"/>
            <a:chOff x="658903" y="1565844"/>
            <a:chExt cx="2160000" cy="2663966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5203396D-4DCB-41B5-AF04-2867F7A9A271}"/>
                </a:ext>
              </a:extLst>
            </p:cNvPr>
            <p:cNvSpPr/>
            <p:nvPr/>
          </p:nvSpPr>
          <p:spPr>
            <a:xfrm>
              <a:off x="678857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8670C33-36D4-4971-8EE4-3647D84638AC}"/>
                </a:ext>
              </a:extLst>
            </p:cNvPr>
            <p:cNvSpPr txBox="1"/>
            <p:nvPr/>
          </p:nvSpPr>
          <p:spPr>
            <a:xfrm>
              <a:off x="678857" y="1565844"/>
              <a:ext cx="1699749" cy="46166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软硬协同的调度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8A1BF197-4A0B-4910-943A-0EE202B5F583}"/>
                </a:ext>
              </a:extLst>
            </p:cNvPr>
            <p:cNvSpPr txBox="1"/>
            <p:nvPr/>
          </p:nvSpPr>
          <p:spPr>
            <a:xfrm>
              <a:off x="658903" y="2500705"/>
              <a:ext cx="2160000" cy="1729105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marL="0" marR="0" lvl="0" indent="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利用硬件中断实现协程的直接唤醒，验证绕过内核调度与软件轮询的实际效果。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25FB572E-FB32-4F75-A721-1A507BD070D5}"/>
              </a:ext>
            </a:extLst>
          </p:cNvPr>
          <p:cNvGrpSpPr/>
          <p:nvPr/>
        </p:nvGrpSpPr>
        <p:grpSpPr>
          <a:xfrm>
            <a:off x="4347412" y="2185705"/>
            <a:ext cx="3311507" cy="2758507"/>
            <a:chOff x="3570285" y="1565844"/>
            <a:chExt cx="2160001" cy="2758507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FA2FB662-0C0F-49BB-9CBF-0D03681114F1}"/>
                </a:ext>
              </a:extLst>
            </p:cNvPr>
            <p:cNvSpPr/>
            <p:nvPr/>
          </p:nvSpPr>
          <p:spPr>
            <a:xfrm>
              <a:off x="3570285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C482913-F9C8-437D-A6FA-A6BF23FA9F1E}"/>
                </a:ext>
              </a:extLst>
            </p:cNvPr>
            <p:cNvSpPr txBox="1"/>
            <p:nvPr/>
          </p:nvSpPr>
          <p:spPr>
            <a:xfrm>
              <a:off x="3570285" y="1565844"/>
              <a:ext cx="1238610" cy="461665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marL="0" marR="0" lvl="0" indent="0" algn="l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提升</a:t>
              </a:r>
              <a:r>
                <a:rPr kumimoji="0" lang="en-US" altLang="zh-CN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I/O</a:t>
              </a: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效率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C1A201D-B558-4397-83C4-9CCCD60A7F6D}"/>
                </a:ext>
              </a:extLst>
            </p:cNvPr>
            <p:cNvSpPr txBox="1"/>
            <p:nvPr/>
          </p:nvSpPr>
          <p:spPr>
            <a:xfrm>
              <a:off x="3570286" y="2500707"/>
              <a:ext cx="2160000" cy="1823644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marL="0" marR="0" lvl="0" indent="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参考</a:t>
              </a:r>
              <a:r>
                <a:rPr kumimoji="0" lang="en-US" altLang="zh-CN" b="0" i="0" u="none" strike="noStrike" kern="1200" cap="none" spc="10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io_uring</a:t>
              </a:r>
              <a:r>
                <a:rPr kumimoji="0" lang="zh-CN" altLang="en-US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高效环形缓冲区与异步完成机制，改进内核异步事件处理框架，提升</a:t>
              </a:r>
              <a:r>
                <a:rPr kumimoji="0" lang="en-US" altLang="zh-CN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I/O</a:t>
              </a:r>
              <a:r>
                <a:rPr kumimoji="0" lang="zh-CN" altLang="en-US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效率。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6B0E4E5-B3F9-4C6C-AEA4-61F66DF10313}"/>
              </a:ext>
            </a:extLst>
          </p:cNvPr>
          <p:cNvGrpSpPr/>
          <p:nvPr/>
        </p:nvGrpSpPr>
        <p:grpSpPr>
          <a:xfrm>
            <a:off x="8178247" y="1725927"/>
            <a:ext cx="3453815" cy="3586702"/>
            <a:chOff x="6449923" y="1189135"/>
            <a:chExt cx="2319954" cy="3586702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7245695-AE57-4991-AC99-5C33C7F0B011}"/>
                </a:ext>
              </a:extLst>
            </p:cNvPr>
            <p:cNvSpPr/>
            <p:nvPr/>
          </p:nvSpPr>
          <p:spPr>
            <a:xfrm>
              <a:off x="6461713" y="2197330"/>
              <a:ext cx="720000" cy="72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F9F0DA0-1BFE-4361-AD6B-595BEA1AB324}"/>
                </a:ext>
              </a:extLst>
            </p:cNvPr>
            <p:cNvSpPr txBox="1"/>
            <p:nvPr/>
          </p:nvSpPr>
          <p:spPr>
            <a:xfrm>
              <a:off x="6449923" y="1189135"/>
              <a:ext cx="2319954" cy="830997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marL="0" marR="0" lvl="0" indent="0" algn="l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100" normalizeH="0" baseline="0" noProof="0" dirty="0">
                  <a:ln>
                    <a:noFill/>
                  </a:ln>
                  <a:solidFill>
                    <a:srgbClr val="006C39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rPr>
                <a:t>为内核的异步化改造提供思路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120430B-242D-44A1-8BA5-67FF66F1675B}"/>
                </a:ext>
              </a:extLst>
            </p:cNvPr>
            <p:cNvSpPr txBox="1"/>
            <p:nvPr/>
          </p:nvSpPr>
          <p:spPr>
            <a:xfrm>
              <a:off x="6461714" y="2500706"/>
              <a:ext cx="2160000" cy="2275131"/>
            </a:xfrm>
            <a:prstGeom prst="rect">
              <a:avLst/>
            </a:prstGeom>
            <a:noFill/>
          </p:spPr>
          <p:txBody>
            <a:bodyPr wrap="square" lIns="0" rtlCol="0">
              <a:normAutofit/>
            </a:bodyPr>
            <a:lstStyle/>
            <a:p>
              <a:pPr marL="0" marR="0" lvl="0" indent="0" algn="just" defTabSz="914400" rtl="0" eaLnBrk="1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b="0" i="0" u="none" strike="noStrike" kern="1200" cap="none" spc="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在模块化研究内核上一步步加入异步特性，可以为类似项目的改进提供一个具体的代码示例和参考路径。</a:t>
              </a:r>
            </a:p>
          </p:txBody>
        </p:sp>
      </p:grp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BAF0CCC-F545-4C58-B314-03E8E8EBF8E7}"/>
              </a:ext>
            </a:extLst>
          </p:cNvPr>
          <p:cNvCxnSpPr>
            <a:cxnSpLocks/>
          </p:cNvCxnSpPr>
          <p:nvPr/>
        </p:nvCxnSpPr>
        <p:spPr>
          <a:xfrm>
            <a:off x="3919423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D285153C-CA81-4747-AAFF-6408B189053A}"/>
              </a:ext>
            </a:extLst>
          </p:cNvPr>
          <p:cNvCxnSpPr>
            <a:cxnSpLocks/>
          </p:cNvCxnSpPr>
          <p:nvPr/>
        </p:nvCxnSpPr>
        <p:spPr>
          <a:xfrm>
            <a:off x="7844589" y="1359278"/>
            <a:ext cx="0" cy="432000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29022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8D6B7-194D-A54B-35EA-AC63D055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">
            <a:extLst>
              <a:ext uri="{FF2B5EF4-FFF2-40B4-BE49-F238E27FC236}">
                <a16:creationId xmlns:a16="http://schemas.microsoft.com/office/drawing/2014/main" id="{5EBDF542-4413-5746-6E53-AB8AF43FFC4D}"/>
              </a:ext>
            </a:extLst>
          </p:cNvPr>
          <p:cNvSpPr txBox="1">
            <a:spLocks/>
          </p:cNvSpPr>
          <p:nvPr/>
        </p:nvSpPr>
        <p:spPr>
          <a:xfrm>
            <a:off x="4418011" y="1689433"/>
            <a:ext cx="3355975" cy="11572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7200" kern="1200" spc="3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03</a:t>
            </a:r>
            <a:endParaRPr kumimoji="0" lang="en-US" altLang="en-US" sz="7200" b="0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269C97FA-CA52-8E57-40CC-251A06EF206A}"/>
              </a:ext>
            </a:extLst>
          </p:cNvPr>
          <p:cNvSpPr txBox="1">
            <a:spLocks/>
          </p:cNvSpPr>
          <p:nvPr/>
        </p:nvSpPr>
        <p:spPr>
          <a:xfrm>
            <a:off x="2397746" y="2939737"/>
            <a:ext cx="7396504" cy="12960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8000" kern="1200" spc="300" dirty="0" smtClean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7200" b="0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研究计划</a:t>
            </a:r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9B45422A-1FFD-6455-AFC1-1E4BB583ECFB}"/>
              </a:ext>
            </a:extLst>
          </p:cNvPr>
          <p:cNvSpPr txBox="1">
            <a:spLocks/>
          </p:cNvSpPr>
          <p:nvPr/>
        </p:nvSpPr>
        <p:spPr>
          <a:xfrm>
            <a:off x="4871685" y="4485305"/>
            <a:ext cx="2448625" cy="229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Tx/>
              <a:buNone/>
              <a:defRPr lang="zh-CN" altLang="en-US" sz="900" kern="1200" spc="6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6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 panose="020B0502020202020204" pitchFamily="34" charset="0"/>
                <a:ea typeface="微软雅黑"/>
                <a:cs typeface="+mn-cs"/>
              </a:rPr>
              <a:t>PLAN</a:t>
            </a:r>
            <a:endParaRPr kumimoji="0" lang="en-US" altLang="en-US" sz="1600" b="0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 panose="020B0502020202020204" pitchFamily="34" charset="0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8627982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1A2BA8EB-F138-4DB9-87B6-536B50F486F7}"/>
              </a:ext>
            </a:extLst>
          </p:cNvPr>
          <p:cNvSpPr/>
          <p:nvPr/>
        </p:nvSpPr>
        <p:spPr>
          <a:xfrm>
            <a:off x="1206302" y="1232515"/>
            <a:ext cx="10221361" cy="4804360"/>
          </a:xfrm>
          <a:prstGeom prst="rect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2" name="文本占位符 67">
            <a:extLst>
              <a:ext uri="{FF2B5EF4-FFF2-40B4-BE49-F238E27FC236}">
                <a16:creationId xmlns:a16="http://schemas.microsoft.com/office/drawing/2014/main" id="{79FE530C-B12B-4BF1-9DDF-12D6EEFADDAF}"/>
              </a:ext>
            </a:extLst>
          </p:cNvPr>
          <p:cNvSpPr txBox="1">
            <a:spLocks/>
          </p:cNvSpPr>
          <p:nvPr/>
        </p:nvSpPr>
        <p:spPr>
          <a:xfrm>
            <a:off x="798789" y="1125538"/>
            <a:ext cx="10532646" cy="4826556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研究计划</a:t>
            </a:r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8660B07F-8AD5-47F2-A134-9F156FE2EA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057305"/>
              </p:ext>
            </p:extLst>
          </p:nvPr>
        </p:nvGraphicFramePr>
        <p:xfrm>
          <a:off x="790575" y="1125538"/>
          <a:ext cx="10478094" cy="4223233"/>
        </p:xfrm>
        <a:graphic>
          <a:graphicData uri="http://schemas.openxmlformats.org/drawingml/2006/table">
            <a:tbl>
              <a:tblPr/>
              <a:tblGrid>
                <a:gridCol w="10478094">
                  <a:extLst>
                    <a:ext uri="{9D8B030D-6E8A-4147-A177-3AD203B41FA5}">
                      <a16:colId xmlns:a16="http://schemas.microsoft.com/office/drawing/2014/main" val="3275846858"/>
                    </a:ext>
                  </a:extLst>
                </a:gridCol>
              </a:tblGrid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1-2</a:t>
                      </a:r>
                      <a:r>
                        <a:rPr lang="zh-CN" altLang="en-US" dirty="0"/>
                        <a:t>周：熟悉</a:t>
                      </a:r>
                      <a:r>
                        <a:rPr lang="en-US" altLang="zh-CN" dirty="0"/>
                        <a:t>Alien</a:t>
                      </a:r>
                      <a:r>
                        <a:rPr lang="zh-CN" altLang="en-US" dirty="0"/>
                        <a:t>内核源码与</a:t>
                      </a:r>
                      <a:r>
                        <a:rPr lang="en-US" altLang="zh-CN" dirty="0"/>
                        <a:t>x86-64</a:t>
                      </a:r>
                      <a:r>
                        <a:rPr lang="zh-CN" altLang="en-US" dirty="0"/>
                        <a:t>架构，完成开发环境搭建与整体设计。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0177875"/>
                  </a:ext>
                </a:extLst>
              </a:tr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3-5</a:t>
                      </a:r>
                      <a:r>
                        <a:rPr lang="zh-CN" altLang="en-US" dirty="0"/>
                        <a:t>周：完成</a:t>
                      </a:r>
                      <a:r>
                        <a:rPr lang="en-US" altLang="zh-CN" dirty="0"/>
                        <a:t>Alien</a:t>
                      </a:r>
                      <a:r>
                        <a:rPr lang="zh-CN" altLang="en-US" dirty="0"/>
                        <a:t>内核至</a:t>
                      </a:r>
                      <a:r>
                        <a:rPr lang="en-US" altLang="zh-CN" dirty="0"/>
                        <a:t>x86-64</a:t>
                      </a:r>
                      <a:r>
                        <a:rPr lang="zh-CN" altLang="en-US" dirty="0"/>
                        <a:t>平台的移植工作，确保其在</a:t>
                      </a:r>
                      <a:r>
                        <a:rPr lang="en-US" altLang="zh-CN" dirty="0"/>
                        <a:t>QEMU</a:t>
                      </a:r>
                      <a:r>
                        <a:rPr lang="zh-CN" altLang="en-US" dirty="0"/>
                        <a:t>模拟器中正常运行。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228808"/>
                  </a:ext>
                </a:extLst>
              </a:tr>
              <a:tr h="603319">
                <a:tc>
                  <a:txBody>
                    <a:bodyPr/>
                    <a:lstStyle/>
                    <a:p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第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6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周：在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x86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物理机上移植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Alien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  <a:cs typeface="+mn-cs"/>
                        </a:rPr>
                        <a:t>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620381"/>
                  </a:ext>
                </a:extLst>
              </a:tr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7-10</a:t>
                      </a:r>
                      <a:r>
                        <a:rPr lang="zh-CN" altLang="en-US" dirty="0"/>
                        <a:t>周：在</a:t>
                      </a:r>
                      <a:r>
                        <a:rPr lang="en-US" altLang="zh-CN" dirty="0"/>
                        <a:t>Alien</a:t>
                      </a:r>
                      <a:r>
                        <a:rPr lang="zh-CN" altLang="en-US" dirty="0"/>
                        <a:t>中引入</a:t>
                      </a:r>
                      <a:r>
                        <a:rPr lang="en-US" altLang="zh-CN" dirty="0" err="1"/>
                        <a:t>vDSO</a:t>
                      </a:r>
                      <a:r>
                        <a:rPr lang="zh-CN" altLang="en-US" dirty="0"/>
                        <a:t>和基于用户态中断的协程调度组件。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1524803"/>
                  </a:ext>
                </a:extLst>
              </a:tr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11-13</a:t>
                      </a:r>
                      <a:r>
                        <a:rPr lang="zh-CN" altLang="en-US" dirty="0"/>
                        <a:t>周：在</a:t>
                      </a:r>
                      <a:r>
                        <a:rPr lang="en-US" altLang="zh-CN" dirty="0"/>
                        <a:t>Alien</a:t>
                      </a:r>
                      <a:r>
                        <a:rPr lang="zh-CN" altLang="en-US" dirty="0"/>
                        <a:t>中引入</a:t>
                      </a:r>
                      <a:r>
                        <a:rPr lang="en-US" altLang="zh-CN" dirty="0" err="1"/>
                        <a:t>io_uring</a:t>
                      </a:r>
                      <a:r>
                        <a:rPr lang="zh-CN" altLang="en-US" dirty="0"/>
                        <a:t>组件，支持异步网络驱动（可选）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14169"/>
                  </a:ext>
                </a:extLst>
              </a:tr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12-14</a:t>
                      </a:r>
                      <a:r>
                        <a:rPr lang="zh-CN" altLang="en-US" dirty="0"/>
                        <a:t>周：进行系统功能与性能测试，优化关键模块。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183746"/>
                  </a:ext>
                </a:extLst>
              </a:tr>
              <a:tr h="6033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 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第</a:t>
                      </a:r>
                      <a:r>
                        <a:rPr lang="en-US" altLang="zh-CN" dirty="0"/>
                        <a:t>13-15</a:t>
                      </a:r>
                      <a:r>
                        <a:rPr lang="zh-CN" altLang="en-US" dirty="0"/>
                        <a:t>周：基于前面</a:t>
                      </a:r>
                      <a:r>
                        <a:rPr lang="en-US" altLang="zh-CN" dirty="0"/>
                        <a:t>2-6</a:t>
                      </a:r>
                      <a:r>
                        <a:rPr lang="zh-CN" altLang="en-US" dirty="0"/>
                        <a:t>阶段中形成的技术报告，进行学位论文撰写和翻译。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426389"/>
                  </a:ext>
                </a:extLst>
              </a:tr>
            </a:tbl>
          </a:graphicData>
        </a:graphic>
      </p:graphicFrame>
      <p:sp>
        <p:nvSpPr>
          <p:cNvPr id="33" name="文本框 32"/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marL="228600" marR="0" lvl="0" indent="-2286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080672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C888EE62-795D-4B4E-A32A-3C2373FD4959}"/>
              </a:ext>
            </a:extLst>
          </p:cNvPr>
          <p:cNvSpPr txBox="1"/>
          <p:nvPr/>
        </p:nvSpPr>
        <p:spPr>
          <a:xfrm>
            <a:off x="1833795" y="2336758"/>
            <a:ext cx="85244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谢谢观看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敬请各位老师批评指正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41CD5C-FFFA-4995-8EEA-070AB8DE8083}"/>
              </a:ext>
            </a:extLst>
          </p:cNvPr>
          <p:cNvSpPr txBox="1"/>
          <p:nvPr/>
        </p:nvSpPr>
        <p:spPr>
          <a:xfrm>
            <a:off x="5052591" y="4089237"/>
            <a:ext cx="2100625" cy="572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答辩人：北小理</a:t>
            </a:r>
            <a:endParaRPr kumimoji="0" lang="en-US" altLang="zh-CN" sz="1200" b="0" i="0" u="none" strike="noStrike" kern="1200" cap="none" spc="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ea"/>
                <a:sym typeface="+mn-lt"/>
              </a:rPr>
              <a:t>导　师：京小工</a:t>
            </a:r>
          </a:p>
        </p:txBody>
      </p:sp>
    </p:spTree>
    <p:extLst>
      <p:ext uri="{BB962C8B-B14F-4D97-AF65-F5344CB8AC3E}">
        <p14:creationId xmlns:p14="http://schemas.microsoft.com/office/powerpoint/2010/main" val="3847178462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内页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772</Words>
  <Application>Microsoft Office PowerPoint</Application>
  <PresentationFormat>宽屏</PresentationFormat>
  <Paragraphs>95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等线</vt:lpstr>
      <vt:lpstr>黑体</vt:lpstr>
      <vt:lpstr>微软雅黑</vt:lpstr>
      <vt:lpstr>微软雅黑 Light</vt:lpstr>
      <vt:lpstr>Arial</vt:lpstr>
      <vt:lpstr>Century Gothic</vt:lpstr>
      <vt:lpstr>Wingdings</vt:lpstr>
      <vt:lpstr>封2​​</vt:lpstr>
      <vt:lpstr>目2​​</vt:lpstr>
      <vt:lpstr>内页​​</vt:lpstr>
      <vt:lpstr>x86用户态中断在Alien的扩展</vt:lpstr>
      <vt:lpstr>PowerPoint 演示文稿</vt:lpstr>
      <vt:lpstr>PowerPoint 演示文稿</vt:lpstr>
      <vt:lpstr>研究背景</vt:lpstr>
      <vt:lpstr>研究背景</vt:lpstr>
      <vt:lpstr>研究背景</vt:lpstr>
      <vt:lpstr>PowerPoint 演示文稿</vt:lpstr>
      <vt:lpstr>研究目标</vt:lpstr>
      <vt:lpstr>移植到x86-64</vt:lpstr>
      <vt:lpstr>研究目标</vt:lpstr>
      <vt:lpstr>研究意义</vt:lpstr>
      <vt:lpstr>PowerPoint 演示文稿</vt:lpstr>
      <vt:lpstr>研究计划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jc h</dc:creator>
  <cp:lastModifiedBy>jc h</cp:lastModifiedBy>
  <cp:revision>74</cp:revision>
  <dcterms:created xsi:type="dcterms:W3CDTF">2025-12-28T13:37:07Z</dcterms:created>
  <dcterms:modified xsi:type="dcterms:W3CDTF">2025-12-31T14:53:12Z</dcterms:modified>
</cp:coreProperties>
</file>
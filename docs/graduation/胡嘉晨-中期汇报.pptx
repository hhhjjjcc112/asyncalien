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66" r:id="rId2"/>
  </p:sldMasterIdLst>
  <p:notesMasterIdLst>
    <p:notesMasterId r:id="rId15"/>
  </p:notesMasterIdLst>
  <p:sldIdLst>
    <p:sldId id="1830" r:id="rId3"/>
    <p:sldId id="1975" r:id="rId4"/>
    <p:sldId id="1982" r:id="rId5"/>
    <p:sldId id="3074" r:id="rId6"/>
    <p:sldId id="3075" r:id="rId7"/>
    <p:sldId id="3078" r:id="rId8"/>
    <p:sldId id="3079" r:id="rId9"/>
    <p:sldId id="1984" r:id="rId10"/>
    <p:sldId id="3076" r:id="rId11"/>
    <p:sldId id="1985" r:id="rId12"/>
    <p:sldId id="3077" r:id="rId13"/>
    <p:sldId id="183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60"/>
  </p:normalViewPr>
  <p:slideViewPr>
    <p:cSldViewPr snapToGrid="0">
      <p:cViewPr varScale="1">
        <p:scale>
          <a:sx n="80" d="100"/>
          <a:sy n="80" d="100"/>
        </p:scale>
        <p:origin x="7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7A6A3-0987-4BC2-BF25-428B25D2E601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77D70-972B-47FD-B6F8-5ADE7FB562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526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7888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592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5034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5EBDF-04C9-B61B-0115-10D74A31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0B2E6D-4EC6-D7C8-C5BC-D8C9CE83A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6BA065-81BD-0A50-CF20-6417C91EA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D06B35-77D2-7119-5806-1C2A7C2C58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5928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E73BE-56D0-AE73-51BF-B49709A22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67EDA3-93F0-168A-C58A-F33B223DE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F680C7-520E-0203-F6AA-0666678F3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72E300-E70B-F153-8058-167A370A48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681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84E40-D8B3-1A6D-0977-DDC1DFCFD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620982-9FC6-2A78-A1BD-B68BDECCF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DD12C5-9F61-F3F7-1554-CFC47CBE3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12E91D-D3B1-68EE-2DAE-40E1E8F3E1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2360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CC8D8-6E15-B0BC-45D1-7528B7E4D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D6FDC4-F2B7-37CA-BC32-C093ADBCB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87E0E9-FD65-6975-1BCC-C0E8B1C8A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C66B13-914D-424C-7A1D-5D4B31556F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7311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1875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8D9DA-3139-96BB-572F-8C2F8C223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B90422-9073-6D3A-E78B-4251170E7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1B14AF-B446-CC24-645C-9BBCC1F0F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0994BE-6048-09CA-C249-4F9F91666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387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7582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57AE1-764D-C723-BE29-CC1BF56FF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7DD2F6-752C-1ED2-81DA-1928F7DAC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A9E2FB-52BF-B996-6A86-B7EFA4744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A84C33-317E-A002-4097-79B8FD462A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6509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3747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67B1D1D-6BBC-4ED8-9FCC-DC0FA0BC2B89}"/>
              </a:ext>
            </a:extLst>
          </p:cNvPr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5F45701-0E09-42AA-8D39-D350E0628036}"/>
              </a:ext>
            </a:extLst>
          </p:cNvPr>
          <p:cNvCxnSpPr>
            <a:cxnSpLocks/>
          </p:cNvCxnSpPr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F81FFCCD-913C-4418-B3A0-9DE71494BB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DB3C714-2045-4E13-8CB2-88E2204DFF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10" b="12305"/>
          <a:stretch/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D317F47-628C-44F6-87C6-7CCB3BA56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10" b="12305"/>
          <a:stretch/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88437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67B1D1D-6BBC-4ED8-9FCC-DC0FA0BC2B89}"/>
              </a:ext>
            </a:extLst>
          </p:cNvPr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5F45701-0E09-42AA-8D39-D350E0628036}"/>
              </a:ext>
            </a:extLst>
          </p:cNvPr>
          <p:cNvCxnSpPr>
            <a:cxnSpLocks/>
          </p:cNvCxnSpPr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F37F3A85-2261-46EC-A02C-83B9F45476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10" b="12305"/>
          <a:stretch/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E77D16F-33CA-4E01-9DC4-2CB84AE10E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10" b="12305"/>
          <a:stretch/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66" name="组合 65"/>
          <p:cNvGrpSpPr/>
          <p:nvPr userDrawn="1"/>
        </p:nvGrpSpPr>
        <p:grpSpPr>
          <a:xfrm>
            <a:off x="3040886" y="5672444"/>
            <a:ext cx="6136452" cy="754729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67" name="组合 6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82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3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9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0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5" name="组合 84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6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7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68" name="组合 67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80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1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8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1" name="组合 70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5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6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2" name="组合 71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73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713767664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椭圆 88">
            <a:extLst>
              <a:ext uri="{FF2B5EF4-FFF2-40B4-BE49-F238E27FC236}">
                <a16:creationId xmlns:a16="http://schemas.microsoft.com/office/drawing/2014/main" id="{D79543FB-05EA-4B9D-8AED-014B16BE890C}"/>
              </a:ext>
            </a:extLst>
          </p:cNvPr>
          <p:cNvSpPr/>
          <p:nvPr userDrawn="1"/>
        </p:nvSpPr>
        <p:spPr>
          <a:xfrm>
            <a:off x="-3816599" y="-1541834"/>
            <a:ext cx="8697505" cy="9941668"/>
          </a:xfrm>
          <a:prstGeom prst="ellipse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D79543FB-05EA-4B9D-8AED-014B16BE890C}"/>
              </a:ext>
            </a:extLst>
          </p:cNvPr>
          <p:cNvSpPr/>
          <p:nvPr userDrawn="1"/>
        </p:nvSpPr>
        <p:spPr>
          <a:xfrm>
            <a:off x="-3999568" y="-1541834"/>
            <a:ext cx="8697505" cy="994166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0AD6C65D-0FE3-4E82-89A8-93A09AFFDC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116" t="7030" r="31559" b="11337"/>
          <a:stretch/>
        </p:blipFill>
        <p:spPr>
          <a:xfrm>
            <a:off x="-1260196" y="1"/>
            <a:ext cx="5919101" cy="6857999"/>
          </a:xfrm>
          <a:custGeom>
            <a:avLst/>
            <a:gdLst>
              <a:gd name="connsiteX0" fmla="*/ 0 w 5919101"/>
              <a:gd name="connsiteY0" fmla="*/ 0 h 6858000"/>
              <a:gd name="connsiteX1" fmla="*/ 4714485 w 5919101"/>
              <a:gd name="connsiteY1" fmla="*/ 0 h 6858000"/>
              <a:gd name="connsiteX2" fmla="*/ 4786974 w 5919101"/>
              <a:gd name="connsiteY2" fmla="*/ 86723 h 6858000"/>
              <a:gd name="connsiteX3" fmla="*/ 5919101 w 5919101"/>
              <a:gd name="connsiteY3" fmla="*/ 3429000 h 6858000"/>
              <a:gd name="connsiteX4" fmla="*/ 4786974 w 5919101"/>
              <a:gd name="connsiteY4" fmla="*/ 6771277 h 6858000"/>
              <a:gd name="connsiteX5" fmla="*/ 4714485 w 5919101"/>
              <a:gd name="connsiteY5" fmla="*/ 6858000 h 6858000"/>
              <a:gd name="connsiteX6" fmla="*/ 0 w 59191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9101" h="6858000">
                <a:moveTo>
                  <a:pt x="0" y="0"/>
                </a:moveTo>
                <a:lnTo>
                  <a:pt x="4714485" y="0"/>
                </a:lnTo>
                <a:lnTo>
                  <a:pt x="4786974" y="86723"/>
                </a:lnTo>
                <a:cubicBezTo>
                  <a:pt x="5490384" y="969480"/>
                  <a:pt x="5919101" y="2142133"/>
                  <a:pt x="5919101" y="3429000"/>
                </a:cubicBezTo>
                <a:cubicBezTo>
                  <a:pt x="5919101" y="4715867"/>
                  <a:pt x="5490384" y="5888521"/>
                  <a:pt x="4786974" y="6771277"/>
                </a:cubicBezTo>
                <a:lnTo>
                  <a:pt x="47144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6" name="椭圆 85">
            <a:extLst>
              <a:ext uri="{FF2B5EF4-FFF2-40B4-BE49-F238E27FC236}">
                <a16:creationId xmlns:a16="http://schemas.microsoft.com/office/drawing/2014/main" id="{D79543FB-05EA-4B9D-8AED-014B16BE890C}"/>
              </a:ext>
            </a:extLst>
          </p:cNvPr>
          <p:cNvSpPr/>
          <p:nvPr userDrawn="1"/>
        </p:nvSpPr>
        <p:spPr>
          <a:xfrm>
            <a:off x="-4038600" y="-1541834"/>
            <a:ext cx="8697505" cy="9941668"/>
          </a:xfrm>
          <a:prstGeom prst="ellipse">
            <a:avLst/>
          </a:prstGeom>
          <a:solidFill>
            <a:schemeClr val="accent1">
              <a:alpha val="8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90" name="图片 8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59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78488298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7" name="标题 11">
            <a:extLst>
              <a:ext uri="{FF2B5EF4-FFF2-40B4-BE49-F238E27FC236}">
                <a16:creationId xmlns:a16="http://schemas.microsoft.com/office/drawing/2014/main" id="{F740B2F3-F46E-47AE-8C0D-F561C0D5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6622966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125315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51768924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75E756C-98CD-4DE4-BB41-9C72D0D6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9451711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96164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2269899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459038003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9787642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1">
            <a:extLst>
              <a:ext uri="{FF2B5EF4-FFF2-40B4-BE49-F238E27FC236}">
                <a16:creationId xmlns:a16="http://schemas.microsoft.com/office/drawing/2014/main" id="{B751A2AD-C679-48C2-AFF3-1AB781A3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40987513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424865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>
              <a:extLst>
                <a:ext uri="{FF2B5EF4-FFF2-40B4-BE49-F238E27FC236}">
                  <a16:creationId xmlns:a16="http://schemas.microsoft.com/office/drawing/2014/main" id="{5065A524-15E6-4769-B9ED-7868E19ADB1E}"/>
                </a:ext>
              </a:extLst>
            </p:cNvPr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1131228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0F4148E-045B-44EE-8A4E-88B14DCC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07285178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264800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63437616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9" name="标题 11">
            <a:extLst>
              <a:ext uri="{FF2B5EF4-FFF2-40B4-BE49-F238E27FC236}">
                <a16:creationId xmlns:a16="http://schemas.microsoft.com/office/drawing/2014/main" id="{0D0682F6-A194-4FB3-8EF2-674B6164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1532024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588029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64659677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4" name="标题 11">
            <a:extLst>
              <a:ext uri="{FF2B5EF4-FFF2-40B4-BE49-F238E27FC236}">
                <a16:creationId xmlns:a16="http://schemas.microsoft.com/office/drawing/2014/main" id="{FDDD1B7B-042D-4B1B-81C1-5A7085CD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4593229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675991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87288988"/>
      </p:ext>
    </p:extLst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2" name="标题 11">
            <a:extLst>
              <a:ext uri="{FF2B5EF4-FFF2-40B4-BE49-F238E27FC236}">
                <a16:creationId xmlns:a16="http://schemas.microsoft.com/office/drawing/2014/main" id="{A87381B5-231A-44CC-994D-B480CB6C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0085296"/>
      </p:ext>
    </p:extLst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431596"/>
      </p:ext>
    </p:extLst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98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 xmlns:p14="http://schemas.microsoft.com/office/powerpoint/2010/main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10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pPr>
                <a:defRPr/>
              </a:pPr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70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4596D304-13D1-4BAB-85AD-218F251EC87E}"/>
              </a:ext>
            </a:extLst>
          </p:cNvPr>
          <p:cNvSpPr txBox="1"/>
          <p:nvPr/>
        </p:nvSpPr>
        <p:spPr>
          <a:xfrm>
            <a:off x="666749" y="3207219"/>
            <a:ext cx="10858501" cy="12920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5400" b="1" spc="300" dirty="0">
                <a:solidFill>
                  <a:prstClr val="white"/>
                </a:solidFill>
                <a:latin typeface="微软雅黑"/>
                <a:ea typeface="微软雅黑"/>
              </a:rPr>
              <a:t>中期答辩</a:t>
            </a:r>
            <a:br>
              <a:rPr lang="en-US" altLang="zh-CN" sz="6000" b="1" spc="300" dirty="0">
                <a:solidFill>
                  <a:prstClr val="white"/>
                </a:solidFill>
                <a:latin typeface="微软雅黑"/>
                <a:ea typeface="微软雅黑"/>
              </a:rPr>
            </a:br>
            <a:r>
              <a:rPr lang="zh-CN" altLang="en-US" sz="2400" b="1" spc="300" dirty="0">
                <a:solidFill>
                  <a:prstClr val="white"/>
                </a:solidFill>
                <a:latin typeface="微软雅黑"/>
                <a:ea typeface="微软雅黑"/>
              </a:rPr>
              <a:t>基于协程与用户态中断的异步化</a:t>
            </a:r>
            <a:r>
              <a:rPr lang="en-US" altLang="zh-CN" sz="2400" b="1" spc="300" dirty="0">
                <a:solidFill>
                  <a:prstClr val="white"/>
                </a:solidFill>
                <a:latin typeface="微软雅黑"/>
                <a:ea typeface="微软雅黑"/>
              </a:rPr>
              <a:t>Alien</a:t>
            </a:r>
            <a:r>
              <a:rPr lang="zh-CN" altLang="en-US" sz="2400" b="1" spc="300" dirty="0">
                <a:solidFill>
                  <a:prstClr val="white"/>
                </a:solidFill>
                <a:latin typeface="微软雅黑"/>
                <a:ea typeface="微软雅黑"/>
              </a:rPr>
              <a:t>内核设计与实现</a:t>
            </a:r>
            <a:endParaRPr kumimoji="0" lang="zh-CN" altLang="en-US" sz="24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7" name="businessman_126354">
            <a:extLst>
              <a:ext uri="{FF2B5EF4-FFF2-40B4-BE49-F238E27FC236}">
                <a16:creationId xmlns:a16="http://schemas.microsoft.com/office/drawing/2014/main" id="{C589560B-EF4B-465A-A1F2-2AD9AFE1E4FE}"/>
              </a:ext>
            </a:extLst>
          </p:cNvPr>
          <p:cNvSpPr>
            <a:spLocks noChangeAspect="1"/>
          </p:cNvSpPr>
          <p:nvPr/>
        </p:nvSpPr>
        <p:spPr bwMode="auto">
          <a:xfrm>
            <a:off x="6428005" y="5204669"/>
            <a:ext cx="324490" cy="323999"/>
          </a:xfrm>
          <a:custGeom>
            <a:avLst/>
            <a:gdLst>
              <a:gd name="connsiteX0" fmla="*/ 296829 w 606086"/>
              <a:gd name="connsiteY0" fmla="*/ 111836 h 605169"/>
              <a:gd name="connsiteX1" fmla="*/ 345700 w 606086"/>
              <a:gd name="connsiteY1" fmla="*/ 122069 h 605169"/>
              <a:gd name="connsiteX2" fmla="*/ 369424 w 606086"/>
              <a:gd name="connsiteY2" fmla="*/ 144052 h 605169"/>
              <a:gd name="connsiteX3" fmla="*/ 395520 w 606086"/>
              <a:gd name="connsiteY3" fmla="*/ 226770 h 605169"/>
              <a:gd name="connsiteX4" fmla="*/ 392104 w 606086"/>
              <a:gd name="connsiteY4" fmla="*/ 239561 h 605169"/>
              <a:gd name="connsiteX5" fmla="*/ 400360 w 606086"/>
              <a:gd name="connsiteY5" fmla="*/ 274430 h 605169"/>
              <a:gd name="connsiteX6" fmla="*/ 383469 w 606086"/>
              <a:gd name="connsiteY6" fmla="*/ 303708 h 605169"/>
              <a:gd name="connsiteX7" fmla="*/ 324444 w 606086"/>
              <a:gd name="connsiteY7" fmla="*/ 376666 h 605169"/>
              <a:gd name="connsiteX8" fmla="*/ 281172 w 606086"/>
              <a:gd name="connsiteY8" fmla="*/ 376761 h 605169"/>
              <a:gd name="connsiteX9" fmla="*/ 222147 w 606086"/>
              <a:gd name="connsiteY9" fmla="*/ 303708 h 605169"/>
              <a:gd name="connsiteX10" fmla="*/ 205350 w 606086"/>
              <a:gd name="connsiteY10" fmla="*/ 274430 h 605169"/>
              <a:gd name="connsiteX11" fmla="*/ 213701 w 606086"/>
              <a:gd name="connsiteY11" fmla="*/ 239656 h 605169"/>
              <a:gd name="connsiteX12" fmla="*/ 210285 w 606086"/>
              <a:gd name="connsiteY12" fmla="*/ 226959 h 605169"/>
              <a:gd name="connsiteX13" fmla="*/ 210190 w 606086"/>
              <a:gd name="connsiteY13" fmla="*/ 186216 h 605169"/>
              <a:gd name="connsiteX14" fmla="*/ 233914 w 606086"/>
              <a:gd name="connsiteY14" fmla="*/ 144715 h 605169"/>
              <a:gd name="connsiteX15" fmla="*/ 255929 w 606086"/>
              <a:gd name="connsiteY15" fmla="*/ 126523 h 605169"/>
              <a:gd name="connsiteX16" fmla="*/ 277376 w 606086"/>
              <a:gd name="connsiteY16" fmla="*/ 115531 h 605169"/>
              <a:gd name="connsiteX17" fmla="*/ 296829 w 606086"/>
              <a:gd name="connsiteY17" fmla="*/ 111836 h 605169"/>
              <a:gd name="connsiteX18" fmla="*/ 304039 w 606086"/>
              <a:gd name="connsiteY18" fmla="*/ 58271 h 605169"/>
              <a:gd name="connsiteX19" fmla="*/ 59309 w 606086"/>
              <a:gd name="connsiteY19" fmla="*/ 302537 h 605169"/>
              <a:gd name="connsiteX20" fmla="*/ 113398 w 606086"/>
              <a:gd name="connsiteY20" fmla="*/ 455559 h 605169"/>
              <a:gd name="connsiteX21" fmla="*/ 149078 w 606086"/>
              <a:gd name="connsiteY21" fmla="*/ 407331 h 605169"/>
              <a:gd name="connsiteX22" fmla="*/ 236001 w 606086"/>
              <a:gd name="connsiteY22" fmla="*/ 367725 h 605169"/>
              <a:gd name="connsiteX23" fmla="*/ 272155 w 606086"/>
              <a:gd name="connsiteY23" fmla="*/ 481804 h 605169"/>
              <a:gd name="connsiteX24" fmla="*/ 277090 w 606086"/>
              <a:gd name="connsiteY24" fmla="*/ 497249 h 605169"/>
              <a:gd name="connsiteX25" fmla="*/ 293316 w 606086"/>
              <a:gd name="connsiteY25" fmla="*/ 451484 h 605169"/>
              <a:gd name="connsiteX26" fmla="*/ 304039 w 606086"/>
              <a:gd name="connsiteY26" fmla="*/ 397193 h 605169"/>
              <a:gd name="connsiteX27" fmla="*/ 314762 w 606086"/>
              <a:gd name="connsiteY27" fmla="*/ 451484 h 605169"/>
              <a:gd name="connsiteX28" fmla="*/ 330894 w 606086"/>
              <a:gd name="connsiteY28" fmla="*/ 496965 h 605169"/>
              <a:gd name="connsiteX29" fmla="*/ 335829 w 606086"/>
              <a:gd name="connsiteY29" fmla="*/ 481710 h 605169"/>
              <a:gd name="connsiteX30" fmla="*/ 335924 w 606086"/>
              <a:gd name="connsiteY30" fmla="*/ 481994 h 605169"/>
              <a:gd name="connsiteX31" fmla="*/ 341617 w 606086"/>
              <a:gd name="connsiteY31" fmla="*/ 463897 h 605169"/>
              <a:gd name="connsiteX32" fmla="*/ 371983 w 606086"/>
              <a:gd name="connsiteY32" fmla="*/ 367915 h 605169"/>
              <a:gd name="connsiteX33" fmla="*/ 458906 w 606086"/>
              <a:gd name="connsiteY33" fmla="*/ 407426 h 605169"/>
              <a:gd name="connsiteX34" fmla="*/ 494586 w 606086"/>
              <a:gd name="connsiteY34" fmla="*/ 455653 h 605169"/>
              <a:gd name="connsiteX35" fmla="*/ 548770 w 606086"/>
              <a:gd name="connsiteY35" fmla="*/ 302537 h 605169"/>
              <a:gd name="connsiteX36" fmla="*/ 304039 w 606086"/>
              <a:gd name="connsiteY36" fmla="*/ 58271 h 605169"/>
              <a:gd name="connsiteX37" fmla="*/ 302996 w 606086"/>
              <a:gd name="connsiteY37" fmla="*/ 0 h 605169"/>
              <a:gd name="connsiteX38" fmla="*/ 606086 w 606086"/>
              <a:gd name="connsiteY38" fmla="*/ 302537 h 605169"/>
              <a:gd name="connsiteX39" fmla="*/ 302996 w 606086"/>
              <a:gd name="connsiteY39" fmla="*/ 605169 h 605169"/>
              <a:gd name="connsiteX40" fmla="*/ 0 w 606086"/>
              <a:gd name="connsiteY40" fmla="*/ 302537 h 605169"/>
              <a:gd name="connsiteX41" fmla="*/ 302996 w 606086"/>
              <a:gd name="connsiteY41" fmla="*/ 0 h 605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06086" h="605169">
                <a:moveTo>
                  <a:pt x="296829" y="111836"/>
                </a:moveTo>
                <a:cubicBezTo>
                  <a:pt x="318086" y="109941"/>
                  <a:pt x="334123" y="115247"/>
                  <a:pt x="345700" y="122069"/>
                </a:cubicBezTo>
                <a:cubicBezTo>
                  <a:pt x="362876" y="131544"/>
                  <a:pt x="369424" y="144052"/>
                  <a:pt x="369424" y="144052"/>
                </a:cubicBezTo>
                <a:cubicBezTo>
                  <a:pt x="369424" y="144052"/>
                  <a:pt x="408806" y="146799"/>
                  <a:pt x="395520" y="226770"/>
                </a:cubicBezTo>
                <a:cubicBezTo>
                  <a:pt x="394761" y="231128"/>
                  <a:pt x="393622" y="235297"/>
                  <a:pt x="392104" y="239561"/>
                </a:cubicBezTo>
                <a:cubicBezTo>
                  <a:pt x="400075" y="238803"/>
                  <a:pt x="409280" y="243351"/>
                  <a:pt x="400360" y="274430"/>
                </a:cubicBezTo>
                <a:cubicBezTo>
                  <a:pt x="394002" y="297075"/>
                  <a:pt x="388023" y="303329"/>
                  <a:pt x="383469" y="303708"/>
                </a:cubicBezTo>
                <a:cubicBezTo>
                  <a:pt x="379293" y="330522"/>
                  <a:pt x="357942" y="364538"/>
                  <a:pt x="324444" y="376666"/>
                </a:cubicBezTo>
                <a:cubicBezTo>
                  <a:pt x="310494" y="381688"/>
                  <a:pt x="295026" y="381688"/>
                  <a:pt x="281172" y="376761"/>
                </a:cubicBezTo>
                <a:cubicBezTo>
                  <a:pt x="247009" y="364728"/>
                  <a:pt x="226322" y="330617"/>
                  <a:pt x="222147" y="303708"/>
                </a:cubicBezTo>
                <a:cubicBezTo>
                  <a:pt x="217782" y="303329"/>
                  <a:pt x="211803" y="297075"/>
                  <a:pt x="205350" y="274430"/>
                </a:cubicBezTo>
                <a:cubicBezTo>
                  <a:pt x="196525" y="243446"/>
                  <a:pt x="205825" y="238898"/>
                  <a:pt x="213701" y="239656"/>
                </a:cubicBezTo>
                <a:cubicBezTo>
                  <a:pt x="212183" y="235392"/>
                  <a:pt x="211044" y="231128"/>
                  <a:pt x="210285" y="226959"/>
                </a:cubicBezTo>
                <a:cubicBezTo>
                  <a:pt x="207533" y="212557"/>
                  <a:pt x="206774" y="199102"/>
                  <a:pt x="210190" y="186216"/>
                </a:cubicBezTo>
                <a:cubicBezTo>
                  <a:pt x="214176" y="169066"/>
                  <a:pt x="223475" y="155327"/>
                  <a:pt x="233914" y="144715"/>
                </a:cubicBezTo>
                <a:cubicBezTo>
                  <a:pt x="240556" y="137609"/>
                  <a:pt x="247958" y="131544"/>
                  <a:pt x="255929" y="126523"/>
                </a:cubicBezTo>
                <a:cubicBezTo>
                  <a:pt x="262382" y="121975"/>
                  <a:pt x="269499" y="118184"/>
                  <a:pt x="277376" y="115531"/>
                </a:cubicBezTo>
                <a:cubicBezTo>
                  <a:pt x="283544" y="113447"/>
                  <a:pt x="289997" y="112215"/>
                  <a:pt x="296829" y="111836"/>
                </a:cubicBezTo>
                <a:close/>
                <a:moveTo>
                  <a:pt x="304039" y="58271"/>
                </a:moveTo>
                <a:cubicBezTo>
                  <a:pt x="168911" y="58271"/>
                  <a:pt x="59309" y="167613"/>
                  <a:pt x="59309" y="302537"/>
                </a:cubicBezTo>
                <a:cubicBezTo>
                  <a:pt x="59309" y="360524"/>
                  <a:pt x="79616" y="413774"/>
                  <a:pt x="113398" y="455559"/>
                </a:cubicBezTo>
                <a:cubicBezTo>
                  <a:pt x="115675" y="435851"/>
                  <a:pt x="124026" y="413584"/>
                  <a:pt x="149078" y="407331"/>
                </a:cubicBezTo>
                <a:cubicBezTo>
                  <a:pt x="196999" y="395203"/>
                  <a:pt x="236001" y="367725"/>
                  <a:pt x="236001" y="367725"/>
                </a:cubicBezTo>
                <a:lnTo>
                  <a:pt x="272155" y="481804"/>
                </a:lnTo>
                <a:lnTo>
                  <a:pt x="277090" y="497249"/>
                </a:lnTo>
                <a:lnTo>
                  <a:pt x="293316" y="451484"/>
                </a:lnTo>
                <a:cubicBezTo>
                  <a:pt x="252797" y="395013"/>
                  <a:pt x="304039" y="397193"/>
                  <a:pt x="304039" y="397193"/>
                </a:cubicBezTo>
                <a:cubicBezTo>
                  <a:pt x="304039" y="397193"/>
                  <a:pt x="355377" y="395013"/>
                  <a:pt x="314762" y="451484"/>
                </a:cubicBezTo>
                <a:lnTo>
                  <a:pt x="330894" y="496965"/>
                </a:lnTo>
                <a:lnTo>
                  <a:pt x="335829" y="481710"/>
                </a:lnTo>
                <a:lnTo>
                  <a:pt x="335924" y="481994"/>
                </a:lnTo>
                <a:lnTo>
                  <a:pt x="341617" y="463897"/>
                </a:lnTo>
                <a:lnTo>
                  <a:pt x="371983" y="367915"/>
                </a:lnTo>
                <a:cubicBezTo>
                  <a:pt x="371983" y="367915"/>
                  <a:pt x="410985" y="395298"/>
                  <a:pt x="458906" y="407426"/>
                </a:cubicBezTo>
                <a:cubicBezTo>
                  <a:pt x="483958" y="413774"/>
                  <a:pt x="492308" y="435945"/>
                  <a:pt x="494586" y="455653"/>
                </a:cubicBezTo>
                <a:cubicBezTo>
                  <a:pt x="528368" y="413774"/>
                  <a:pt x="548770" y="360524"/>
                  <a:pt x="548770" y="302537"/>
                </a:cubicBezTo>
                <a:cubicBezTo>
                  <a:pt x="548770" y="167613"/>
                  <a:pt x="439168" y="58271"/>
                  <a:pt x="304039" y="58271"/>
                </a:cubicBezTo>
                <a:close/>
                <a:moveTo>
                  <a:pt x="302996" y="0"/>
                </a:moveTo>
                <a:cubicBezTo>
                  <a:pt x="470388" y="0"/>
                  <a:pt x="606086" y="135398"/>
                  <a:pt x="606086" y="302537"/>
                </a:cubicBezTo>
                <a:cubicBezTo>
                  <a:pt x="606086" y="469676"/>
                  <a:pt x="470388" y="605169"/>
                  <a:pt x="302996" y="605169"/>
                </a:cubicBezTo>
                <a:cubicBezTo>
                  <a:pt x="135603" y="605169"/>
                  <a:pt x="0" y="469676"/>
                  <a:pt x="0" y="302537"/>
                </a:cubicBezTo>
                <a:cubicBezTo>
                  <a:pt x="0" y="135398"/>
                  <a:pt x="135603" y="0"/>
                  <a:pt x="302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88" name="user-avatar-profile_70039">
            <a:extLst>
              <a:ext uri="{FF2B5EF4-FFF2-40B4-BE49-F238E27FC236}">
                <a16:creationId xmlns:a16="http://schemas.microsoft.com/office/drawing/2014/main" id="{DFEAB79E-9B44-4809-BCBF-AC94DC3CC1A9}"/>
              </a:ext>
            </a:extLst>
          </p:cNvPr>
          <p:cNvSpPr>
            <a:spLocks noChangeAspect="1"/>
          </p:cNvSpPr>
          <p:nvPr/>
        </p:nvSpPr>
        <p:spPr bwMode="auto">
          <a:xfrm>
            <a:off x="3404689" y="5200185"/>
            <a:ext cx="324453" cy="324000"/>
          </a:xfrm>
          <a:custGeom>
            <a:avLst/>
            <a:gdLst>
              <a:gd name="connsiteX0" fmla="*/ 203130 w 605451"/>
              <a:gd name="connsiteY0" fmla="*/ 345841 h 604605"/>
              <a:gd name="connsiteX1" fmla="*/ 302807 w 605451"/>
              <a:gd name="connsiteY1" fmla="*/ 396386 h 604605"/>
              <a:gd name="connsiteX2" fmla="*/ 402301 w 605451"/>
              <a:gd name="connsiteY2" fmla="*/ 345933 h 604605"/>
              <a:gd name="connsiteX3" fmla="*/ 450630 w 605451"/>
              <a:gd name="connsiteY3" fmla="*/ 394101 h 604605"/>
              <a:gd name="connsiteX4" fmla="*/ 469119 w 605451"/>
              <a:gd name="connsiteY4" fmla="*/ 433038 h 604605"/>
              <a:gd name="connsiteX5" fmla="*/ 302807 w 605451"/>
              <a:gd name="connsiteY5" fmla="*/ 513928 h 604605"/>
              <a:gd name="connsiteX6" fmla="*/ 136403 w 605451"/>
              <a:gd name="connsiteY6" fmla="*/ 432947 h 604605"/>
              <a:gd name="connsiteX7" fmla="*/ 154893 w 605451"/>
              <a:gd name="connsiteY7" fmla="*/ 394101 h 604605"/>
              <a:gd name="connsiteX8" fmla="*/ 203130 w 605451"/>
              <a:gd name="connsiteY8" fmla="*/ 345841 h 604605"/>
              <a:gd name="connsiteX9" fmla="*/ 302771 w 605451"/>
              <a:gd name="connsiteY9" fmla="*/ 170278 h 604605"/>
              <a:gd name="connsiteX10" fmla="*/ 240548 w 605451"/>
              <a:gd name="connsiteY10" fmla="*/ 248130 h 604605"/>
              <a:gd name="connsiteX11" fmla="*/ 302771 w 605451"/>
              <a:gd name="connsiteY11" fmla="*/ 325798 h 604605"/>
              <a:gd name="connsiteX12" fmla="*/ 364903 w 605451"/>
              <a:gd name="connsiteY12" fmla="*/ 248130 h 604605"/>
              <a:gd name="connsiteX13" fmla="*/ 302771 w 605451"/>
              <a:gd name="connsiteY13" fmla="*/ 170278 h 604605"/>
              <a:gd name="connsiteX14" fmla="*/ 302771 w 605451"/>
              <a:gd name="connsiteY14" fmla="*/ 129982 h 604605"/>
              <a:gd name="connsiteX15" fmla="*/ 405257 w 605451"/>
              <a:gd name="connsiteY15" fmla="*/ 248130 h 604605"/>
              <a:gd name="connsiteX16" fmla="*/ 302771 w 605451"/>
              <a:gd name="connsiteY16" fmla="*/ 366094 h 604605"/>
              <a:gd name="connsiteX17" fmla="*/ 200194 w 605451"/>
              <a:gd name="connsiteY17" fmla="*/ 248130 h 604605"/>
              <a:gd name="connsiteX18" fmla="*/ 302771 w 605451"/>
              <a:gd name="connsiteY18" fmla="*/ 129982 h 604605"/>
              <a:gd name="connsiteX19" fmla="*/ 302771 w 605451"/>
              <a:gd name="connsiteY19" fmla="*/ 60415 h 604605"/>
              <a:gd name="connsiteX20" fmla="*/ 60591 w 605451"/>
              <a:gd name="connsiteY20" fmla="*/ 302348 h 604605"/>
              <a:gd name="connsiteX21" fmla="*/ 302771 w 605451"/>
              <a:gd name="connsiteY21" fmla="*/ 544190 h 604605"/>
              <a:gd name="connsiteX22" fmla="*/ 544952 w 605451"/>
              <a:gd name="connsiteY22" fmla="*/ 302348 h 604605"/>
              <a:gd name="connsiteX23" fmla="*/ 302771 w 605451"/>
              <a:gd name="connsiteY23" fmla="*/ 60415 h 604605"/>
              <a:gd name="connsiteX24" fmla="*/ 302771 w 605451"/>
              <a:gd name="connsiteY24" fmla="*/ 0 h 604605"/>
              <a:gd name="connsiteX25" fmla="*/ 605451 w 605451"/>
              <a:gd name="connsiteY25" fmla="*/ 302348 h 604605"/>
              <a:gd name="connsiteX26" fmla="*/ 302771 w 605451"/>
              <a:gd name="connsiteY26" fmla="*/ 604605 h 604605"/>
              <a:gd name="connsiteX27" fmla="*/ 0 w 605451"/>
              <a:gd name="connsiteY27" fmla="*/ 302348 h 604605"/>
              <a:gd name="connsiteX28" fmla="*/ 302771 w 605451"/>
              <a:gd name="connsiteY28" fmla="*/ 0 h 604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5451" h="604605">
                <a:moveTo>
                  <a:pt x="203130" y="345841"/>
                </a:moveTo>
                <a:cubicBezTo>
                  <a:pt x="227568" y="376735"/>
                  <a:pt x="263082" y="396386"/>
                  <a:pt x="302807" y="396386"/>
                </a:cubicBezTo>
                <a:cubicBezTo>
                  <a:pt x="342440" y="396386"/>
                  <a:pt x="378046" y="376735"/>
                  <a:pt x="402301" y="345933"/>
                </a:cubicBezTo>
                <a:cubicBezTo>
                  <a:pt x="423079" y="355895"/>
                  <a:pt x="440378" y="372530"/>
                  <a:pt x="450630" y="394101"/>
                </a:cubicBezTo>
                <a:lnTo>
                  <a:pt x="469119" y="433038"/>
                </a:lnTo>
                <a:cubicBezTo>
                  <a:pt x="430310" y="482212"/>
                  <a:pt x="370174" y="513928"/>
                  <a:pt x="302807" y="513928"/>
                </a:cubicBezTo>
                <a:cubicBezTo>
                  <a:pt x="235257" y="513928"/>
                  <a:pt x="175212" y="482212"/>
                  <a:pt x="136403" y="432947"/>
                </a:cubicBezTo>
                <a:lnTo>
                  <a:pt x="154893" y="394101"/>
                </a:lnTo>
                <a:cubicBezTo>
                  <a:pt x="165144" y="372530"/>
                  <a:pt x="182443" y="355804"/>
                  <a:pt x="203130" y="345841"/>
                </a:cubicBezTo>
                <a:close/>
                <a:moveTo>
                  <a:pt x="302771" y="170278"/>
                </a:moveTo>
                <a:cubicBezTo>
                  <a:pt x="268457" y="170278"/>
                  <a:pt x="240548" y="205184"/>
                  <a:pt x="240548" y="248130"/>
                </a:cubicBezTo>
                <a:cubicBezTo>
                  <a:pt x="240548" y="290984"/>
                  <a:pt x="268457" y="325798"/>
                  <a:pt x="302771" y="325798"/>
                </a:cubicBezTo>
                <a:cubicBezTo>
                  <a:pt x="336994" y="325798"/>
                  <a:pt x="364903" y="290984"/>
                  <a:pt x="364903" y="248130"/>
                </a:cubicBezTo>
                <a:cubicBezTo>
                  <a:pt x="364903" y="205184"/>
                  <a:pt x="336994" y="170278"/>
                  <a:pt x="302771" y="170278"/>
                </a:cubicBezTo>
                <a:close/>
                <a:moveTo>
                  <a:pt x="302771" y="129982"/>
                </a:moveTo>
                <a:cubicBezTo>
                  <a:pt x="359230" y="129982"/>
                  <a:pt x="405257" y="182980"/>
                  <a:pt x="405257" y="248130"/>
                </a:cubicBezTo>
                <a:cubicBezTo>
                  <a:pt x="405257" y="313188"/>
                  <a:pt x="359230" y="366094"/>
                  <a:pt x="302771" y="366094"/>
                </a:cubicBezTo>
                <a:cubicBezTo>
                  <a:pt x="246221" y="366094"/>
                  <a:pt x="200194" y="313188"/>
                  <a:pt x="200194" y="248130"/>
                </a:cubicBezTo>
                <a:cubicBezTo>
                  <a:pt x="200194" y="182980"/>
                  <a:pt x="246221" y="129982"/>
                  <a:pt x="302771" y="129982"/>
                </a:cubicBezTo>
                <a:close/>
                <a:moveTo>
                  <a:pt x="302771" y="60415"/>
                </a:moveTo>
                <a:cubicBezTo>
                  <a:pt x="169142" y="60415"/>
                  <a:pt x="60591" y="168997"/>
                  <a:pt x="60591" y="302348"/>
                </a:cubicBezTo>
                <a:cubicBezTo>
                  <a:pt x="60591" y="435700"/>
                  <a:pt x="169142" y="544190"/>
                  <a:pt x="302771" y="544190"/>
                </a:cubicBezTo>
                <a:cubicBezTo>
                  <a:pt x="436309" y="544190"/>
                  <a:pt x="544952" y="435700"/>
                  <a:pt x="544952" y="302348"/>
                </a:cubicBezTo>
                <a:cubicBezTo>
                  <a:pt x="544952" y="168997"/>
                  <a:pt x="436309" y="60415"/>
                  <a:pt x="302771" y="60415"/>
                </a:cubicBezTo>
                <a:close/>
                <a:moveTo>
                  <a:pt x="302771" y="0"/>
                </a:moveTo>
                <a:cubicBezTo>
                  <a:pt x="469717" y="0"/>
                  <a:pt x="605451" y="135636"/>
                  <a:pt x="605451" y="302348"/>
                </a:cubicBezTo>
                <a:cubicBezTo>
                  <a:pt x="605451" y="468969"/>
                  <a:pt x="469717" y="604605"/>
                  <a:pt x="302771" y="604605"/>
                </a:cubicBezTo>
                <a:cubicBezTo>
                  <a:pt x="135826" y="604605"/>
                  <a:pt x="0" y="468969"/>
                  <a:pt x="0" y="302348"/>
                </a:cubicBezTo>
                <a:cubicBezTo>
                  <a:pt x="0" y="135636"/>
                  <a:pt x="135826" y="0"/>
                  <a:pt x="3027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367B0324-FF9E-4585-881B-E51156A34A57}"/>
              </a:ext>
            </a:extLst>
          </p:cNvPr>
          <p:cNvSpPr txBox="1"/>
          <p:nvPr/>
        </p:nvSpPr>
        <p:spPr>
          <a:xfrm>
            <a:off x="3893776" y="5210059"/>
            <a:ext cx="2534229" cy="304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答辩人：胡嘉晨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8CEBD2B3-AE9A-4A71-9E7A-FEE758DC5249}"/>
              </a:ext>
            </a:extLst>
          </p:cNvPr>
          <p:cNvSpPr txBox="1"/>
          <p:nvPr/>
        </p:nvSpPr>
        <p:spPr>
          <a:xfrm>
            <a:off x="6917092" y="5214543"/>
            <a:ext cx="3714570" cy="304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导　师：陆慧梅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3E6F58A3-2EEB-4EF9-9DAD-5628A3B313EA}"/>
              </a:ext>
            </a:extLst>
          </p:cNvPr>
          <p:cNvSpPr txBox="1"/>
          <p:nvPr/>
        </p:nvSpPr>
        <p:spPr>
          <a:xfrm>
            <a:off x="4174139" y="5973866"/>
            <a:ext cx="3855403" cy="405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F5614F4-CA07-4450-AD4F-84AA8A8D6B40}" type="datetime2">
              <a:rPr kumimoji="0" lang="zh-CN" altLang="en-US" sz="1800" b="0" i="0" u="none" strike="noStrike" kern="1200" cap="none" spc="30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2026年4月2日</a:t>
            </a:fld>
            <a:endParaRPr kumimoji="0" lang="zh-CN" altLang="en-US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144017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9">
            <a:extLst>
              <a:ext uri="{FF2B5EF4-FFF2-40B4-BE49-F238E27FC236}">
                <a16:creationId xmlns:a16="http://schemas.microsoft.com/office/drawing/2014/main" id="{D6C6CD6F-C4DD-4132-B940-A678FA889E35}"/>
              </a:ext>
            </a:extLst>
          </p:cNvPr>
          <p:cNvSpPr txBox="1">
            <a:spLocks/>
          </p:cNvSpPr>
          <p:nvPr/>
        </p:nvSpPr>
        <p:spPr bwMode="auto">
          <a:xfrm>
            <a:off x="1279525" y="2528666"/>
            <a:ext cx="1806575" cy="675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6000" b="1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23" name="内容占位符 10">
            <a:extLst>
              <a:ext uri="{FF2B5EF4-FFF2-40B4-BE49-F238E27FC236}">
                <a16:creationId xmlns:a16="http://schemas.microsoft.com/office/drawing/2014/main" id="{CF7F6C6B-EBA6-4DCB-ABA7-830DDD2F4334}"/>
              </a:ext>
            </a:extLst>
          </p:cNvPr>
          <p:cNvSpPr txBox="1">
            <a:spLocks/>
          </p:cNvSpPr>
          <p:nvPr/>
        </p:nvSpPr>
        <p:spPr bwMode="auto">
          <a:xfrm>
            <a:off x="1122361" y="3936012"/>
            <a:ext cx="2120900" cy="399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1"/>
                </a:solidFill>
              </a:rPr>
              <a:t>CONTENTS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778395" y="3607163"/>
            <a:ext cx="808832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F022EDC2-0163-4D59-8AEE-B77C7B56ACDC}"/>
              </a:ext>
            </a:extLst>
          </p:cNvPr>
          <p:cNvGrpSpPr/>
          <p:nvPr/>
        </p:nvGrpSpPr>
        <p:grpSpPr>
          <a:xfrm>
            <a:off x="5142304" y="1015156"/>
            <a:ext cx="7612874" cy="1098506"/>
            <a:chOff x="5337036" y="1031947"/>
            <a:chExt cx="7612874" cy="1098506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49C81708-2DD4-42D2-8E80-8ABAEF83EBE2}"/>
                </a:ext>
              </a:extLst>
            </p:cNvPr>
            <p:cNvSpPr txBox="1"/>
            <p:nvPr/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6000" b="1" i="1" dirty="0">
                  <a:solidFill>
                    <a:schemeClr val="accent1"/>
                  </a:solidFill>
                  <a:cs typeface="+mn-ea"/>
                  <a:sym typeface="+mn-lt"/>
                </a:rPr>
                <a:t>1</a:t>
              </a:r>
              <a:endParaRPr lang="zh-CN" altLang="en-US" sz="5400" b="1" i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5C5D337B-57EC-400D-BC7A-F1EF82A84720}"/>
                </a:ext>
              </a:extLst>
            </p:cNvPr>
            <p:cNvGrpSpPr/>
            <p:nvPr/>
          </p:nvGrpSpPr>
          <p:grpSpPr>
            <a:xfrm>
              <a:off x="6384010" y="1248904"/>
              <a:ext cx="6565900" cy="800826"/>
              <a:chOff x="6384011" y="1247332"/>
              <a:chExt cx="6565900" cy="793848"/>
            </a:xfrm>
          </p:grpSpPr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DA740C2E-C38D-4F96-A002-B3F79BAE1788}"/>
                  </a:ext>
                </a:extLst>
              </p:cNvPr>
              <p:cNvSpPr txBox="1"/>
              <p:nvPr/>
            </p:nvSpPr>
            <p:spPr>
              <a:xfrm>
                <a:off x="6384011" y="1247332"/>
                <a:ext cx="6565900" cy="5361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3200" b="1" dirty="0">
                    <a:latin typeface="微软雅黑" panose="020B0503020204020204" pitchFamily="34" charset="-122"/>
                    <a:cs typeface="+mn-ea"/>
                    <a:sym typeface="+mn-lt"/>
                  </a:rPr>
                  <a:t>研究内容、进展情况及取得成果</a:t>
                </a: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8CA0DF6C-F8E1-46CD-840C-DFE27F91D659}"/>
                  </a:ext>
                </a:extLst>
              </p:cNvPr>
              <p:cNvSpPr txBox="1"/>
              <p:nvPr/>
            </p:nvSpPr>
            <p:spPr>
              <a:xfrm>
                <a:off x="6384142" y="1773078"/>
                <a:ext cx="4541051" cy="2681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600" dirty="0">
                    <a:solidFill>
                      <a:schemeClr val="bg2">
                        <a:lumMod val="75000"/>
                      </a:schemeClr>
                    </a:solidFill>
                    <a:cs typeface="+mn-ea"/>
                    <a:sym typeface="+mn-lt"/>
                  </a:rPr>
                  <a:t>Research content, progress, and achievements</a:t>
                </a:r>
                <a:endParaRPr lang="zh-CN" altLang="en-US" sz="1600" dirty="0">
                  <a:solidFill>
                    <a:schemeClr val="bg2">
                      <a:lumMod val="7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BE300563-CF9C-4E5F-98A6-A489FEF59EBB}"/>
              </a:ext>
            </a:extLst>
          </p:cNvPr>
          <p:cNvGrpSpPr/>
          <p:nvPr/>
        </p:nvGrpSpPr>
        <p:grpSpPr>
          <a:xfrm>
            <a:off x="5142304" y="2751245"/>
            <a:ext cx="5561030" cy="1098506"/>
            <a:chOff x="5337036" y="1031947"/>
            <a:chExt cx="5561030" cy="1098506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C93C7166-B910-44BC-9A1A-11B7DFB2D36D}"/>
                </a:ext>
              </a:extLst>
            </p:cNvPr>
            <p:cNvSpPr txBox="1"/>
            <p:nvPr/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6000" b="1" i="1" dirty="0">
                  <a:solidFill>
                    <a:schemeClr val="accent1"/>
                  </a:solidFill>
                  <a:cs typeface="+mn-ea"/>
                  <a:sym typeface="+mn-lt"/>
                </a:rPr>
                <a:t>2</a:t>
              </a:r>
              <a:endParaRPr lang="zh-CN" altLang="en-US" sz="6000" b="1" i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B659A6B8-5979-4C40-B01D-250DCE134000}"/>
                </a:ext>
              </a:extLst>
            </p:cNvPr>
            <p:cNvGrpSpPr/>
            <p:nvPr/>
          </p:nvGrpSpPr>
          <p:grpSpPr>
            <a:xfrm>
              <a:off x="6384010" y="1248904"/>
              <a:ext cx="4514056" cy="800826"/>
              <a:chOff x="6384011" y="1247332"/>
              <a:chExt cx="4514056" cy="793848"/>
            </a:xfrm>
          </p:grpSpPr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6CF46444-6738-4E06-AA31-F49884B01C20}"/>
                  </a:ext>
                </a:extLst>
              </p:cNvPr>
              <p:cNvSpPr txBox="1"/>
              <p:nvPr/>
            </p:nvSpPr>
            <p:spPr>
              <a:xfrm>
                <a:off x="6384011" y="1247332"/>
                <a:ext cx="4514056" cy="536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3200" b="1" dirty="0">
                    <a:latin typeface="微软雅黑" panose="020B0503020204020204" pitchFamily="34" charset="-122"/>
                    <a:cs typeface="+mn-ea"/>
                    <a:sym typeface="+mn-lt"/>
                  </a:rPr>
                  <a:t>存在的问题和拟解决方案</a:t>
                </a:r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15401AAD-A138-42AD-AFE0-A9635F662C46}"/>
                  </a:ext>
                </a:extLst>
              </p:cNvPr>
              <p:cNvSpPr txBox="1"/>
              <p:nvPr/>
            </p:nvSpPr>
            <p:spPr>
              <a:xfrm>
                <a:off x="6384142" y="1773078"/>
                <a:ext cx="3805850" cy="2681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600" dirty="0">
                    <a:solidFill>
                      <a:schemeClr val="bg2">
                        <a:lumMod val="75000"/>
                      </a:schemeClr>
                    </a:solidFill>
                    <a:cs typeface="+mn-ea"/>
                    <a:sym typeface="+mn-lt"/>
                  </a:rPr>
                  <a:t>Existing Issues and Proposed Solutions</a:t>
                </a:r>
                <a:endParaRPr lang="zh-CN" altLang="en-US" sz="1600" dirty="0">
                  <a:solidFill>
                    <a:schemeClr val="bg2">
                      <a:lumMod val="7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604B901-DEF0-4DA5-8081-584EDB1B10EB}"/>
              </a:ext>
            </a:extLst>
          </p:cNvPr>
          <p:cNvGrpSpPr/>
          <p:nvPr/>
        </p:nvGrpSpPr>
        <p:grpSpPr>
          <a:xfrm>
            <a:off x="5142304" y="4487335"/>
            <a:ext cx="5971399" cy="1098506"/>
            <a:chOff x="5337036" y="1031947"/>
            <a:chExt cx="5971399" cy="1098506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F93BA0B9-4FDA-4DEE-A82A-8733841DB5D6}"/>
                </a:ext>
              </a:extLst>
            </p:cNvPr>
            <p:cNvSpPr txBox="1"/>
            <p:nvPr/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6000" b="1" i="1" dirty="0">
                  <a:solidFill>
                    <a:schemeClr val="accent1"/>
                  </a:solidFill>
                  <a:cs typeface="+mn-ea"/>
                  <a:sym typeface="+mn-lt"/>
                </a:rPr>
                <a:t>3</a:t>
              </a:r>
              <a:endParaRPr lang="zh-CN" altLang="en-US" sz="6000" b="1" i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39E73199-5063-4C49-B0F2-EB4D0DE1A904}"/>
                </a:ext>
              </a:extLst>
            </p:cNvPr>
            <p:cNvGrpSpPr/>
            <p:nvPr/>
          </p:nvGrpSpPr>
          <p:grpSpPr>
            <a:xfrm>
              <a:off x="6384010" y="1248904"/>
              <a:ext cx="4924425" cy="800826"/>
              <a:chOff x="6384011" y="1247332"/>
              <a:chExt cx="4924425" cy="793848"/>
            </a:xfrm>
          </p:grpSpPr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EAF4F4A3-E3E5-4ACB-B7C5-0D9279E93E0F}"/>
                  </a:ext>
                </a:extLst>
              </p:cNvPr>
              <p:cNvSpPr txBox="1"/>
              <p:nvPr/>
            </p:nvSpPr>
            <p:spPr>
              <a:xfrm>
                <a:off x="6384011" y="1247332"/>
                <a:ext cx="4924425" cy="536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3200" b="1" dirty="0">
                    <a:latin typeface="微软雅黑" panose="020B0503020204020204" pitchFamily="34" charset="-122"/>
                    <a:cs typeface="+mn-ea"/>
                    <a:sym typeface="+mn-lt"/>
                  </a:rPr>
                  <a:t>下一步研究任务与进度安排</a:t>
                </a:r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FA9F0505-2260-4EBA-9C18-F0E4167E158E}"/>
                  </a:ext>
                </a:extLst>
              </p:cNvPr>
              <p:cNvSpPr txBox="1"/>
              <p:nvPr/>
            </p:nvSpPr>
            <p:spPr>
              <a:xfrm>
                <a:off x="6384142" y="1773078"/>
                <a:ext cx="4505079" cy="2681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600" dirty="0">
                    <a:solidFill>
                      <a:schemeClr val="bg2">
                        <a:lumMod val="75000"/>
                      </a:schemeClr>
                    </a:solidFill>
                    <a:cs typeface="+mn-ea"/>
                    <a:sym typeface="+mn-lt"/>
                  </a:rPr>
                  <a:t>Next research task and schedule arrangement</a:t>
                </a:r>
                <a:endParaRPr lang="zh-CN" altLang="en-US" sz="1600" dirty="0">
                  <a:solidFill>
                    <a:schemeClr val="bg2">
                      <a:lumMod val="7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80949148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6730376" y="1183561"/>
            <a:ext cx="4498317" cy="4810163"/>
            <a:chOff x="6783717" y="1353082"/>
            <a:chExt cx="4498317" cy="4810163"/>
          </a:xfrm>
        </p:grpSpPr>
        <p:sp>
          <p:nvSpPr>
            <p:cNvPr id="48" name="文本占位符 11">
              <a:extLst>
                <a:ext uri="{FF2B5EF4-FFF2-40B4-BE49-F238E27FC236}">
                  <a16:creationId xmlns:a16="http://schemas.microsoft.com/office/drawing/2014/main" id="{66267EB0-2290-4266-B111-351AB19F67B3}"/>
                </a:ext>
              </a:extLst>
            </p:cNvPr>
            <p:cNvSpPr txBox="1">
              <a:spLocks/>
            </p:cNvSpPr>
            <p:nvPr/>
          </p:nvSpPr>
          <p:spPr>
            <a:xfrm>
              <a:off x="6783718" y="3796076"/>
              <a:ext cx="4498316" cy="102220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 Light"/>
                  <a:sym typeface="+mn-lt"/>
                </a:rPr>
                <a:t>Research content, progress &amp; achievements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/>
                <a:sym typeface="+mn-lt"/>
              </a:endParaRPr>
            </a:p>
          </p:txBody>
        </p:sp>
        <p:sp>
          <p:nvSpPr>
            <p:cNvPr id="49" name="文本占位符 12">
              <a:extLst>
                <a:ext uri="{FF2B5EF4-FFF2-40B4-BE49-F238E27FC236}">
                  <a16:creationId xmlns:a16="http://schemas.microsoft.com/office/drawing/2014/main" id="{0F7673E7-C907-4517-B8BE-868E548CB899}"/>
                </a:ext>
              </a:extLst>
            </p:cNvPr>
            <p:cNvSpPr txBox="1">
              <a:spLocks/>
            </p:cNvSpPr>
            <p:nvPr/>
          </p:nvSpPr>
          <p:spPr>
            <a:xfrm>
              <a:off x="6783717" y="3021167"/>
              <a:ext cx="4498317" cy="795391"/>
            </a:xfrm>
            <a:prstGeom prst="rect">
              <a:avLst/>
            </a:prstGeom>
          </p:spPr>
          <p:txBody>
            <a:bodyPr vert="horz" lIns="0" tIns="0" rIns="0" bIns="0" rtlCol="0" anchor="ctr">
              <a:normAutofit fontScale="62500" lnSpcReduction="200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40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/>
                  <a:cs typeface="+mn-cs"/>
                  <a:sym typeface="+mn-lt"/>
                </a:rPr>
                <a:t>研究内容、进展情况及取得成果</a:t>
              </a:r>
            </a:p>
          </p:txBody>
        </p:sp>
        <p:sp>
          <p:nvSpPr>
            <p:cNvPr id="50" name="books-group_25777">
              <a:extLst>
                <a:ext uri="{FF2B5EF4-FFF2-40B4-BE49-F238E27FC236}">
                  <a16:creationId xmlns:a16="http://schemas.microsoft.com/office/drawing/2014/main" id="{2100669A-CD68-4296-B44A-A183804D66B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62135" y="1353082"/>
              <a:ext cx="1084804" cy="1419262"/>
            </a:xfrm>
            <a:custGeom>
              <a:avLst/>
              <a:gdLst>
                <a:gd name="T0" fmla="*/ 278945 h 440259"/>
                <a:gd name="T1" fmla="*/ 278945 h 440259"/>
                <a:gd name="T2" fmla="*/ 278945 h 440259"/>
                <a:gd name="T3" fmla="*/ 278945 h 440259"/>
                <a:gd name="T4" fmla="*/ 278945 h 440259"/>
                <a:gd name="T5" fmla="*/ 278945 h 440259"/>
                <a:gd name="T6" fmla="*/ 278945 h 440259"/>
                <a:gd name="T7" fmla="*/ 278945 h 440259"/>
                <a:gd name="T8" fmla="*/ 278945 h 440259"/>
                <a:gd name="T9" fmla="*/ 278945 h 440259"/>
                <a:gd name="T10" fmla="*/ 278945 h 440259"/>
                <a:gd name="T11" fmla="*/ 278945 h 440259"/>
                <a:gd name="T12" fmla="*/ 278945 h 440259"/>
                <a:gd name="T13" fmla="*/ 278945 h 440259"/>
                <a:gd name="T14" fmla="*/ 278945 h 440259"/>
                <a:gd name="T15" fmla="*/ 278945 h 440259"/>
                <a:gd name="T16" fmla="*/ 278945 h 440259"/>
                <a:gd name="T17" fmla="*/ 278945 h 440259"/>
                <a:gd name="T18" fmla="*/ 278945 h 440259"/>
                <a:gd name="T19" fmla="*/ 278945 h 440259"/>
                <a:gd name="T20" fmla="*/ 278945 h 440259"/>
                <a:gd name="T21" fmla="*/ 278945 h 440259"/>
                <a:gd name="T22" fmla="*/ 278945 h 440259"/>
                <a:gd name="T23" fmla="*/ 278945 h 440259"/>
                <a:gd name="T24" fmla="*/ 278945 h 440259"/>
                <a:gd name="T25" fmla="*/ 278945 h 440259"/>
                <a:gd name="T26" fmla="*/ 278945 h 440259"/>
                <a:gd name="T27" fmla="*/ 278945 h 440259"/>
                <a:gd name="T28" fmla="*/ 278945 h 440259"/>
                <a:gd name="T29" fmla="*/ 278945 h 440259"/>
                <a:gd name="T30" fmla="*/ 278945 h 440259"/>
                <a:gd name="T31" fmla="*/ 278945 h 440259"/>
                <a:gd name="T32" fmla="*/ 278945 h 440259"/>
                <a:gd name="T33" fmla="*/ 278945 h 440259"/>
                <a:gd name="T34" fmla="*/ 278945 h 440259"/>
                <a:gd name="T35" fmla="*/ 278945 h 440259"/>
                <a:gd name="T36" fmla="*/ 278945 h 440259"/>
                <a:gd name="T37" fmla="*/ 278945 h 440259"/>
                <a:gd name="T38" fmla="*/ 278945 h 440259"/>
                <a:gd name="T39" fmla="*/ 278945 h 440259"/>
                <a:gd name="T40" fmla="*/ 278945 h 440259"/>
                <a:gd name="T41" fmla="*/ 278945 h 440259"/>
                <a:gd name="T42" fmla="*/ 278945 h 440259"/>
                <a:gd name="T43" fmla="*/ 278945 h 440259"/>
                <a:gd name="T44" fmla="*/ 278945 h 440259"/>
                <a:gd name="T45" fmla="*/ 278945 h 440259"/>
                <a:gd name="T46" fmla="*/ 278945 h 440259"/>
                <a:gd name="T47" fmla="*/ 278945 h 440259"/>
                <a:gd name="T48" fmla="*/ 278945 h 440259"/>
                <a:gd name="T49" fmla="*/ 278945 h 440259"/>
                <a:gd name="T50" fmla="*/ 278945 h 440259"/>
                <a:gd name="T51" fmla="*/ 278945 h 440259"/>
                <a:gd name="T52" fmla="*/ 278945 h 440259"/>
                <a:gd name="T53" fmla="*/ 278945 h 440259"/>
                <a:gd name="T54" fmla="*/ 278945 h 440259"/>
                <a:gd name="T55" fmla="*/ 278945 h 440259"/>
                <a:gd name="T56" fmla="*/ 88862 h 440259"/>
                <a:gd name="T57" fmla="*/ 88862 h 440259"/>
                <a:gd name="T58" fmla="*/ 278945 h 440259"/>
                <a:gd name="T59" fmla="*/ 278945 h 440259"/>
                <a:gd name="T60" fmla="*/ 278945 h 440259"/>
                <a:gd name="T61" fmla="*/ 278945 h 440259"/>
                <a:gd name="T62" fmla="*/ 88862 h 440259"/>
                <a:gd name="T63" fmla="*/ 88862 h 440259"/>
                <a:gd name="T64" fmla="*/ 278945 h 440259"/>
                <a:gd name="T65" fmla="*/ 278945 h 440259"/>
                <a:gd name="T66" fmla="*/ 278945 h 440259"/>
                <a:gd name="T67" fmla="*/ 278945 h 440259"/>
                <a:gd name="T68" fmla="*/ 278945 h 440259"/>
                <a:gd name="T69" fmla="*/ 278945 h 440259"/>
                <a:gd name="T70" fmla="*/ 88862 h 440259"/>
                <a:gd name="T71" fmla="*/ 88862 h 440259"/>
                <a:gd name="T72" fmla="*/ 278945 h 440259"/>
                <a:gd name="T73" fmla="*/ 278945 h 440259"/>
                <a:gd name="T74" fmla="*/ 278945 h 440259"/>
                <a:gd name="T75" fmla="*/ 278945 h 440259"/>
                <a:gd name="T76" fmla="*/ 278945 h 440259"/>
                <a:gd name="T77" fmla="*/ 278945 h 440259"/>
                <a:gd name="T78" fmla="*/ 278945 h 440259"/>
                <a:gd name="T79" fmla="*/ 278945 h 440259"/>
                <a:gd name="T80" fmla="*/ 278945 h 440259"/>
                <a:gd name="T81" fmla="*/ 278945 h 440259"/>
                <a:gd name="T82" fmla="*/ 278945 h 440259"/>
                <a:gd name="T83" fmla="*/ 278945 h 440259"/>
                <a:gd name="T84" fmla="*/ 278945 h 440259"/>
                <a:gd name="T85" fmla="*/ 278945 h 440259"/>
                <a:gd name="T86" fmla="*/ 278945 h 440259"/>
                <a:gd name="T87" fmla="*/ 278945 h 440259"/>
                <a:gd name="T88" fmla="*/ 278945 h 440259"/>
                <a:gd name="T89" fmla="*/ 278945 h 440259"/>
                <a:gd name="T90" fmla="*/ 278945 h 440259"/>
                <a:gd name="T91" fmla="*/ 278945 h 440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886" h="5092">
                  <a:moveTo>
                    <a:pt x="3542" y="4509"/>
                  </a:moveTo>
                  <a:lnTo>
                    <a:pt x="3260" y="4509"/>
                  </a:lnTo>
                  <a:lnTo>
                    <a:pt x="3181" y="2195"/>
                  </a:lnTo>
                  <a:cubicBezTo>
                    <a:pt x="3180" y="1744"/>
                    <a:pt x="2970" y="1596"/>
                    <a:pt x="2891" y="1540"/>
                  </a:cubicBezTo>
                  <a:cubicBezTo>
                    <a:pt x="2888" y="1538"/>
                    <a:pt x="2579" y="1327"/>
                    <a:pt x="2579" y="1327"/>
                  </a:cubicBezTo>
                  <a:lnTo>
                    <a:pt x="2641" y="1222"/>
                  </a:lnTo>
                  <a:cubicBezTo>
                    <a:pt x="2669" y="1174"/>
                    <a:pt x="2653" y="1113"/>
                    <a:pt x="2606" y="1085"/>
                  </a:cubicBezTo>
                  <a:lnTo>
                    <a:pt x="2547" y="1050"/>
                  </a:lnTo>
                  <a:lnTo>
                    <a:pt x="2700" y="790"/>
                  </a:lnTo>
                  <a:lnTo>
                    <a:pt x="2789" y="842"/>
                  </a:lnTo>
                  <a:cubicBezTo>
                    <a:pt x="2804" y="851"/>
                    <a:pt x="2822" y="856"/>
                    <a:pt x="2839" y="856"/>
                  </a:cubicBezTo>
                  <a:cubicBezTo>
                    <a:pt x="2848" y="856"/>
                    <a:pt x="2856" y="855"/>
                    <a:pt x="2865" y="853"/>
                  </a:cubicBezTo>
                  <a:cubicBezTo>
                    <a:pt x="2890" y="846"/>
                    <a:pt x="2912" y="829"/>
                    <a:pt x="2926" y="806"/>
                  </a:cubicBezTo>
                  <a:lnTo>
                    <a:pt x="3073" y="556"/>
                  </a:lnTo>
                  <a:cubicBezTo>
                    <a:pt x="3101" y="508"/>
                    <a:pt x="3085" y="447"/>
                    <a:pt x="3038" y="419"/>
                  </a:cubicBezTo>
                  <a:lnTo>
                    <a:pt x="2354" y="17"/>
                  </a:lnTo>
                  <a:cubicBezTo>
                    <a:pt x="2331" y="3"/>
                    <a:pt x="2304" y="0"/>
                    <a:pt x="2279" y="6"/>
                  </a:cubicBezTo>
                  <a:cubicBezTo>
                    <a:pt x="2253" y="13"/>
                    <a:pt x="2231" y="29"/>
                    <a:pt x="2217" y="52"/>
                  </a:cubicBezTo>
                  <a:lnTo>
                    <a:pt x="2070" y="303"/>
                  </a:lnTo>
                  <a:cubicBezTo>
                    <a:pt x="2042" y="351"/>
                    <a:pt x="2058" y="412"/>
                    <a:pt x="2105" y="440"/>
                  </a:cubicBezTo>
                  <a:lnTo>
                    <a:pt x="2194" y="492"/>
                  </a:lnTo>
                  <a:lnTo>
                    <a:pt x="2041" y="753"/>
                  </a:lnTo>
                  <a:lnTo>
                    <a:pt x="1982" y="718"/>
                  </a:lnTo>
                  <a:cubicBezTo>
                    <a:pt x="1959" y="704"/>
                    <a:pt x="1932" y="701"/>
                    <a:pt x="1906" y="707"/>
                  </a:cubicBezTo>
                  <a:cubicBezTo>
                    <a:pt x="1881" y="714"/>
                    <a:pt x="1859" y="731"/>
                    <a:pt x="1845" y="753"/>
                  </a:cubicBezTo>
                  <a:lnTo>
                    <a:pt x="880" y="2395"/>
                  </a:lnTo>
                  <a:cubicBezTo>
                    <a:pt x="852" y="2443"/>
                    <a:pt x="868" y="2504"/>
                    <a:pt x="915" y="2532"/>
                  </a:cubicBezTo>
                  <a:lnTo>
                    <a:pt x="1023" y="2595"/>
                  </a:lnTo>
                  <a:lnTo>
                    <a:pt x="838" y="2910"/>
                  </a:lnTo>
                  <a:cubicBezTo>
                    <a:pt x="824" y="2933"/>
                    <a:pt x="821" y="2960"/>
                    <a:pt x="827" y="2986"/>
                  </a:cubicBezTo>
                  <a:cubicBezTo>
                    <a:pt x="834" y="3011"/>
                    <a:pt x="851" y="3033"/>
                    <a:pt x="873" y="3047"/>
                  </a:cubicBezTo>
                  <a:lnTo>
                    <a:pt x="1109" y="3185"/>
                  </a:lnTo>
                  <a:cubicBezTo>
                    <a:pt x="1125" y="3195"/>
                    <a:pt x="1143" y="3199"/>
                    <a:pt x="1160" y="3199"/>
                  </a:cubicBezTo>
                  <a:cubicBezTo>
                    <a:pt x="1194" y="3199"/>
                    <a:pt x="1227" y="3182"/>
                    <a:pt x="1246" y="3150"/>
                  </a:cubicBezTo>
                  <a:lnTo>
                    <a:pt x="1431" y="2835"/>
                  </a:lnTo>
                  <a:lnTo>
                    <a:pt x="1539" y="2899"/>
                  </a:lnTo>
                  <a:cubicBezTo>
                    <a:pt x="1554" y="2908"/>
                    <a:pt x="1572" y="2913"/>
                    <a:pt x="1589" y="2913"/>
                  </a:cubicBezTo>
                  <a:cubicBezTo>
                    <a:pt x="1598" y="2913"/>
                    <a:pt x="1606" y="2911"/>
                    <a:pt x="1615" y="2909"/>
                  </a:cubicBezTo>
                  <a:cubicBezTo>
                    <a:pt x="1640" y="2903"/>
                    <a:pt x="1662" y="2886"/>
                    <a:pt x="1676" y="2863"/>
                  </a:cubicBezTo>
                  <a:lnTo>
                    <a:pt x="1825" y="2609"/>
                  </a:lnTo>
                  <a:lnTo>
                    <a:pt x="2067" y="2751"/>
                  </a:lnTo>
                  <a:cubicBezTo>
                    <a:pt x="2130" y="2788"/>
                    <a:pt x="2174" y="2847"/>
                    <a:pt x="2192" y="2917"/>
                  </a:cubicBezTo>
                  <a:cubicBezTo>
                    <a:pt x="2210" y="2988"/>
                    <a:pt x="2200" y="3061"/>
                    <a:pt x="2163" y="3123"/>
                  </a:cubicBezTo>
                  <a:lnTo>
                    <a:pt x="1734" y="3854"/>
                  </a:lnTo>
                  <a:lnTo>
                    <a:pt x="1565" y="3755"/>
                  </a:lnTo>
                  <a:lnTo>
                    <a:pt x="1589" y="3713"/>
                  </a:lnTo>
                  <a:cubicBezTo>
                    <a:pt x="1617" y="3665"/>
                    <a:pt x="1601" y="3604"/>
                    <a:pt x="1554" y="3576"/>
                  </a:cubicBezTo>
                  <a:lnTo>
                    <a:pt x="316" y="2848"/>
                  </a:lnTo>
                  <a:cubicBezTo>
                    <a:pt x="293" y="2834"/>
                    <a:pt x="266" y="2831"/>
                    <a:pt x="240" y="2837"/>
                  </a:cubicBezTo>
                  <a:cubicBezTo>
                    <a:pt x="214" y="2844"/>
                    <a:pt x="193" y="2861"/>
                    <a:pt x="179" y="2883"/>
                  </a:cubicBezTo>
                  <a:lnTo>
                    <a:pt x="28" y="3140"/>
                  </a:lnTo>
                  <a:cubicBezTo>
                    <a:pt x="0" y="3187"/>
                    <a:pt x="16" y="3249"/>
                    <a:pt x="64" y="3277"/>
                  </a:cubicBezTo>
                  <a:lnTo>
                    <a:pt x="251" y="3387"/>
                  </a:lnTo>
                  <a:lnTo>
                    <a:pt x="161" y="3541"/>
                  </a:lnTo>
                  <a:cubicBezTo>
                    <a:pt x="133" y="3588"/>
                    <a:pt x="149" y="3650"/>
                    <a:pt x="196" y="3678"/>
                  </a:cubicBezTo>
                  <a:lnTo>
                    <a:pt x="887" y="4084"/>
                  </a:lnTo>
                  <a:cubicBezTo>
                    <a:pt x="902" y="4093"/>
                    <a:pt x="920" y="4098"/>
                    <a:pt x="937" y="4098"/>
                  </a:cubicBezTo>
                  <a:cubicBezTo>
                    <a:pt x="946" y="4098"/>
                    <a:pt x="954" y="4097"/>
                    <a:pt x="963" y="4094"/>
                  </a:cubicBezTo>
                  <a:cubicBezTo>
                    <a:pt x="988" y="4088"/>
                    <a:pt x="1010" y="4071"/>
                    <a:pt x="1024" y="4048"/>
                  </a:cubicBezTo>
                  <a:lnTo>
                    <a:pt x="1114" y="3894"/>
                  </a:lnTo>
                  <a:lnTo>
                    <a:pt x="1216" y="3954"/>
                  </a:lnTo>
                  <a:lnTo>
                    <a:pt x="889" y="4509"/>
                  </a:lnTo>
                  <a:lnTo>
                    <a:pt x="397" y="4509"/>
                  </a:lnTo>
                  <a:cubicBezTo>
                    <a:pt x="207" y="4509"/>
                    <a:pt x="53" y="4663"/>
                    <a:pt x="53" y="4852"/>
                  </a:cubicBezTo>
                  <a:lnTo>
                    <a:pt x="53" y="4992"/>
                  </a:lnTo>
                  <a:cubicBezTo>
                    <a:pt x="53" y="5047"/>
                    <a:pt x="97" y="5092"/>
                    <a:pt x="153" y="5092"/>
                  </a:cubicBezTo>
                  <a:lnTo>
                    <a:pt x="3786" y="5092"/>
                  </a:lnTo>
                  <a:cubicBezTo>
                    <a:pt x="3842" y="5092"/>
                    <a:pt x="3886" y="5047"/>
                    <a:pt x="3886" y="4992"/>
                  </a:cubicBezTo>
                  <a:lnTo>
                    <a:pt x="3886" y="4852"/>
                  </a:lnTo>
                  <a:cubicBezTo>
                    <a:pt x="3886" y="4663"/>
                    <a:pt x="3732" y="4509"/>
                    <a:pt x="3542" y="4509"/>
                  </a:cubicBezTo>
                  <a:close/>
                  <a:moveTo>
                    <a:pt x="2339" y="240"/>
                  </a:moveTo>
                  <a:lnTo>
                    <a:pt x="2850" y="540"/>
                  </a:lnTo>
                  <a:lnTo>
                    <a:pt x="2804" y="619"/>
                  </a:lnTo>
                  <a:lnTo>
                    <a:pt x="2293" y="318"/>
                  </a:lnTo>
                  <a:lnTo>
                    <a:pt x="2339" y="240"/>
                  </a:lnTo>
                  <a:close/>
                  <a:moveTo>
                    <a:pt x="2367" y="594"/>
                  </a:moveTo>
                  <a:lnTo>
                    <a:pt x="2527" y="688"/>
                  </a:lnTo>
                  <a:lnTo>
                    <a:pt x="2374" y="949"/>
                  </a:lnTo>
                  <a:lnTo>
                    <a:pt x="2369" y="945"/>
                  </a:lnTo>
                  <a:lnTo>
                    <a:pt x="2214" y="854"/>
                  </a:lnTo>
                  <a:lnTo>
                    <a:pt x="2367" y="594"/>
                  </a:lnTo>
                  <a:close/>
                  <a:moveTo>
                    <a:pt x="1124" y="2962"/>
                  </a:moveTo>
                  <a:lnTo>
                    <a:pt x="1061" y="2925"/>
                  </a:lnTo>
                  <a:lnTo>
                    <a:pt x="1195" y="2697"/>
                  </a:lnTo>
                  <a:lnTo>
                    <a:pt x="1259" y="2734"/>
                  </a:lnTo>
                  <a:lnTo>
                    <a:pt x="1124" y="2962"/>
                  </a:lnTo>
                  <a:close/>
                  <a:moveTo>
                    <a:pt x="1811" y="2238"/>
                  </a:moveTo>
                  <a:lnTo>
                    <a:pt x="1554" y="2676"/>
                  </a:lnTo>
                  <a:lnTo>
                    <a:pt x="1103" y="2410"/>
                  </a:lnTo>
                  <a:lnTo>
                    <a:pt x="1967" y="941"/>
                  </a:lnTo>
                  <a:lnTo>
                    <a:pt x="2418" y="1206"/>
                  </a:lnTo>
                  <a:lnTo>
                    <a:pt x="2229" y="1528"/>
                  </a:lnTo>
                  <a:cubicBezTo>
                    <a:pt x="2190" y="1516"/>
                    <a:pt x="2150" y="1510"/>
                    <a:pt x="2110" y="1510"/>
                  </a:cubicBezTo>
                  <a:cubicBezTo>
                    <a:pt x="1959" y="1510"/>
                    <a:pt x="1819" y="1590"/>
                    <a:pt x="1743" y="1720"/>
                  </a:cubicBezTo>
                  <a:cubicBezTo>
                    <a:pt x="1642" y="1891"/>
                    <a:pt x="1675" y="2105"/>
                    <a:pt x="1811" y="2238"/>
                  </a:cubicBezTo>
                  <a:close/>
                  <a:moveTo>
                    <a:pt x="1915" y="1821"/>
                  </a:moveTo>
                  <a:cubicBezTo>
                    <a:pt x="1955" y="1753"/>
                    <a:pt x="2030" y="1710"/>
                    <a:pt x="2110" y="1710"/>
                  </a:cubicBezTo>
                  <a:cubicBezTo>
                    <a:pt x="2149" y="1710"/>
                    <a:pt x="2189" y="1721"/>
                    <a:pt x="2223" y="1741"/>
                  </a:cubicBezTo>
                  <a:cubicBezTo>
                    <a:pt x="2330" y="1804"/>
                    <a:pt x="2366" y="1942"/>
                    <a:pt x="2303" y="2049"/>
                  </a:cubicBezTo>
                  <a:cubicBezTo>
                    <a:pt x="2263" y="2118"/>
                    <a:pt x="2188" y="2160"/>
                    <a:pt x="2109" y="2160"/>
                  </a:cubicBezTo>
                  <a:cubicBezTo>
                    <a:pt x="2069" y="2160"/>
                    <a:pt x="2030" y="2150"/>
                    <a:pt x="1995" y="2129"/>
                  </a:cubicBezTo>
                  <a:cubicBezTo>
                    <a:pt x="1888" y="2066"/>
                    <a:pt x="1852" y="1928"/>
                    <a:pt x="1915" y="1821"/>
                  </a:cubicBezTo>
                  <a:close/>
                  <a:moveTo>
                    <a:pt x="902" y="3861"/>
                  </a:moveTo>
                  <a:lnTo>
                    <a:pt x="384" y="3556"/>
                  </a:lnTo>
                  <a:lnTo>
                    <a:pt x="424" y="3488"/>
                  </a:lnTo>
                  <a:lnTo>
                    <a:pt x="942" y="3793"/>
                  </a:lnTo>
                  <a:lnTo>
                    <a:pt x="902" y="3861"/>
                  </a:lnTo>
                  <a:close/>
                  <a:moveTo>
                    <a:pt x="251" y="3155"/>
                  </a:moveTo>
                  <a:lnTo>
                    <a:pt x="301" y="3071"/>
                  </a:lnTo>
                  <a:lnTo>
                    <a:pt x="1366" y="3698"/>
                  </a:lnTo>
                  <a:lnTo>
                    <a:pt x="1317" y="3782"/>
                  </a:lnTo>
                  <a:lnTo>
                    <a:pt x="251" y="3155"/>
                  </a:lnTo>
                  <a:close/>
                  <a:moveTo>
                    <a:pt x="1463" y="3927"/>
                  </a:moveTo>
                  <a:lnTo>
                    <a:pt x="1718" y="4077"/>
                  </a:lnTo>
                  <a:cubicBezTo>
                    <a:pt x="1734" y="4086"/>
                    <a:pt x="1751" y="4091"/>
                    <a:pt x="1769" y="4091"/>
                  </a:cubicBezTo>
                  <a:cubicBezTo>
                    <a:pt x="1777" y="4091"/>
                    <a:pt x="1786" y="4090"/>
                    <a:pt x="1794" y="4088"/>
                  </a:cubicBezTo>
                  <a:cubicBezTo>
                    <a:pt x="1820" y="4081"/>
                    <a:pt x="1842" y="4065"/>
                    <a:pt x="1855" y="4042"/>
                  </a:cubicBezTo>
                  <a:lnTo>
                    <a:pt x="2336" y="3225"/>
                  </a:lnTo>
                  <a:cubicBezTo>
                    <a:pt x="2400" y="3116"/>
                    <a:pt x="2418" y="2989"/>
                    <a:pt x="2386" y="2867"/>
                  </a:cubicBezTo>
                  <a:cubicBezTo>
                    <a:pt x="2354" y="2745"/>
                    <a:pt x="2277" y="2643"/>
                    <a:pt x="2168" y="2579"/>
                  </a:cubicBezTo>
                  <a:lnTo>
                    <a:pt x="1927" y="2437"/>
                  </a:lnTo>
                  <a:lnTo>
                    <a:pt x="1983" y="2341"/>
                  </a:lnTo>
                  <a:cubicBezTo>
                    <a:pt x="2024" y="2354"/>
                    <a:pt x="2066" y="2360"/>
                    <a:pt x="2109" y="2360"/>
                  </a:cubicBezTo>
                  <a:cubicBezTo>
                    <a:pt x="2259" y="2360"/>
                    <a:pt x="2400" y="2280"/>
                    <a:pt x="2476" y="2151"/>
                  </a:cubicBezTo>
                  <a:cubicBezTo>
                    <a:pt x="2578" y="1977"/>
                    <a:pt x="2542" y="1761"/>
                    <a:pt x="2402" y="1628"/>
                  </a:cubicBezTo>
                  <a:lnTo>
                    <a:pt x="2478" y="1500"/>
                  </a:lnTo>
                  <a:cubicBezTo>
                    <a:pt x="2478" y="1500"/>
                    <a:pt x="2772" y="1701"/>
                    <a:pt x="2776" y="1704"/>
                  </a:cubicBezTo>
                  <a:cubicBezTo>
                    <a:pt x="2837" y="1747"/>
                    <a:pt x="2981" y="1848"/>
                    <a:pt x="2981" y="2197"/>
                  </a:cubicBezTo>
                  <a:cubicBezTo>
                    <a:pt x="2981" y="2198"/>
                    <a:pt x="2981" y="2199"/>
                    <a:pt x="2981" y="2200"/>
                  </a:cubicBezTo>
                  <a:lnTo>
                    <a:pt x="3060" y="4509"/>
                  </a:lnTo>
                  <a:lnTo>
                    <a:pt x="1121" y="4509"/>
                  </a:lnTo>
                  <a:lnTo>
                    <a:pt x="1463" y="3927"/>
                  </a:lnTo>
                  <a:close/>
                  <a:moveTo>
                    <a:pt x="3686" y="4892"/>
                  </a:moveTo>
                  <a:lnTo>
                    <a:pt x="253" y="4892"/>
                  </a:lnTo>
                  <a:lnTo>
                    <a:pt x="253" y="4852"/>
                  </a:lnTo>
                  <a:cubicBezTo>
                    <a:pt x="253" y="4773"/>
                    <a:pt x="317" y="4709"/>
                    <a:pt x="397" y="4709"/>
                  </a:cubicBezTo>
                  <a:lnTo>
                    <a:pt x="3542" y="4709"/>
                  </a:lnTo>
                  <a:cubicBezTo>
                    <a:pt x="3622" y="4709"/>
                    <a:pt x="3686" y="4773"/>
                    <a:pt x="3686" y="4852"/>
                  </a:cubicBezTo>
                  <a:lnTo>
                    <a:pt x="3686" y="48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 Light"/>
              </a:endParaRPr>
            </a:p>
          </p:txBody>
        </p: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49C46E4E-1680-4444-B2E7-B5900D0C713D}"/>
                </a:ext>
              </a:extLst>
            </p:cNvPr>
            <p:cNvGrpSpPr/>
            <p:nvPr/>
          </p:nvGrpSpPr>
          <p:grpSpPr>
            <a:xfrm>
              <a:off x="8666395" y="6008342"/>
              <a:ext cx="578056" cy="154903"/>
              <a:chOff x="8361527" y="5844321"/>
              <a:chExt cx="871231" cy="233466"/>
            </a:xfrm>
          </p:grpSpPr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635C9A06-3DF1-49D2-9C7E-7677C54850AD}"/>
                  </a:ext>
                </a:extLst>
              </p:cNvPr>
              <p:cNvSpPr/>
              <p:nvPr userDrawn="1"/>
            </p:nvSpPr>
            <p:spPr>
              <a:xfrm>
                <a:off x="8361527" y="5844323"/>
                <a:ext cx="233464" cy="233464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6A61EDAA-C778-4F23-9691-362D8AECD54F}"/>
                  </a:ext>
                </a:extLst>
              </p:cNvPr>
              <p:cNvSpPr/>
              <p:nvPr userDrawn="1"/>
            </p:nvSpPr>
            <p:spPr>
              <a:xfrm>
                <a:off x="8680406" y="5844323"/>
                <a:ext cx="233464" cy="233464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8E80934E-E9F5-492A-A277-5ED64C5DCCD3}"/>
                  </a:ext>
                </a:extLst>
              </p:cNvPr>
              <p:cNvSpPr/>
              <p:nvPr userDrawn="1"/>
            </p:nvSpPr>
            <p:spPr>
              <a:xfrm>
                <a:off x="8999294" y="5844321"/>
                <a:ext cx="233464" cy="233464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8101522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F8FD-9C7E-358D-E473-997E34FEF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2D814AE3-CAD7-8EFC-62D3-221F76074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研究目标</a:t>
            </a:r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C719AE14-1985-8E20-2E49-3CFFD99FA7FA}"/>
              </a:ext>
            </a:extLst>
          </p:cNvPr>
          <p:cNvSpPr txBox="1">
            <a:spLocks/>
          </p:cNvSpPr>
          <p:nvPr/>
        </p:nvSpPr>
        <p:spPr>
          <a:xfrm>
            <a:off x="1539631" y="1527368"/>
            <a:ext cx="9580684" cy="420662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将</a:t>
            </a:r>
            <a:r>
              <a:rPr kumimoji="0" lang="en-US" altLang="zh-CN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Alien</a:t>
            </a: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内核从</a:t>
            </a:r>
            <a:r>
              <a:rPr kumimoji="0" lang="en-US" altLang="zh-CN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RISC‑V</a:t>
            </a: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移植至</a:t>
            </a:r>
            <a:r>
              <a:rPr kumimoji="0" lang="en-US" altLang="zh-CN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x86‑64</a:t>
            </a: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平台（</a:t>
            </a:r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</a:rPr>
              <a:t>包括</a:t>
            </a:r>
            <a:r>
              <a:rPr kumimoji="0" lang="en-US" altLang="zh-CN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QEMU</a:t>
            </a: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模拟器与物理机），并基于</a:t>
            </a:r>
            <a:r>
              <a:rPr kumimoji="0" lang="en-US" altLang="zh-CN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x86‑64</a:t>
            </a: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用户态中断机制与协程，设计实现一</a:t>
            </a:r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</a:rPr>
              <a:t>个</a:t>
            </a: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异步化任务调度与中断处理内核。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移植</a:t>
            </a:r>
            <a:r>
              <a:rPr kumimoji="0" lang="en-US" altLang="zh-CN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Alien</a:t>
            </a: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到</a:t>
            </a:r>
            <a:r>
              <a:rPr kumimoji="0" lang="en-US" altLang="zh-CN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x86_64</a:t>
            </a: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平台虚拟机和物理机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加入</a:t>
            </a:r>
            <a:r>
              <a:rPr kumimoji="0" lang="en-US" altLang="zh-CN" sz="2800" b="0" i="0" u="none" strike="noStrike" kern="1200" cap="none" spc="3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vDSO</a:t>
            </a:r>
            <a:r>
              <a:rPr kumimoji="0" lang="zh-CN" altLang="en-US" sz="28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实现内核和用户共享调度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</a:rPr>
              <a:t>引入用户态中断，完善共享调度框架</a:t>
            </a:r>
            <a:endParaRPr kumimoji="0" lang="zh-CN" altLang="en-US" sz="28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半闭框 11">
            <a:extLst>
              <a:ext uri="{FF2B5EF4-FFF2-40B4-BE49-F238E27FC236}">
                <a16:creationId xmlns:a16="http://schemas.microsoft.com/office/drawing/2014/main" id="{03C61BB3-0ABA-C3DE-36C6-8B98472BF07C}"/>
              </a:ext>
            </a:extLst>
          </p:cNvPr>
          <p:cNvSpPr/>
          <p:nvPr/>
        </p:nvSpPr>
        <p:spPr>
          <a:xfrm>
            <a:off x="1058985" y="1459875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半闭框 12">
            <a:extLst>
              <a:ext uri="{FF2B5EF4-FFF2-40B4-BE49-F238E27FC236}">
                <a16:creationId xmlns:a16="http://schemas.microsoft.com/office/drawing/2014/main" id="{4E4B3A0E-1B6B-341E-E4B7-E4376C83C78C}"/>
              </a:ext>
            </a:extLst>
          </p:cNvPr>
          <p:cNvSpPr/>
          <p:nvPr/>
        </p:nvSpPr>
        <p:spPr>
          <a:xfrm flipH="1" flipV="1">
            <a:off x="10639669" y="5185859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482837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6751819-2754-C252-BAE9-68D82315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31CA227A-396E-7F09-3221-D26C81F9E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进展情况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8213D12-C982-0509-705C-0A6AD8DC8D87}"/>
              </a:ext>
            </a:extLst>
          </p:cNvPr>
          <p:cNvGrpSpPr/>
          <p:nvPr/>
        </p:nvGrpSpPr>
        <p:grpSpPr>
          <a:xfrm>
            <a:off x="2454614" y="1943862"/>
            <a:ext cx="3762986" cy="1889592"/>
            <a:chOff x="2440101" y="1526767"/>
            <a:chExt cx="3762986" cy="1889592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D5E6E8F6-05CF-41AE-394F-6242A9B21FF9}"/>
                </a:ext>
              </a:extLst>
            </p:cNvPr>
            <p:cNvSpPr/>
            <p:nvPr/>
          </p:nvSpPr>
          <p:spPr>
            <a:xfrm>
              <a:off x="4076785" y="1558445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4365609C-D501-17A0-6525-34509AC06B9C}"/>
                </a:ext>
              </a:extLst>
            </p:cNvPr>
            <p:cNvSpPr/>
            <p:nvPr/>
          </p:nvSpPr>
          <p:spPr>
            <a:xfrm>
              <a:off x="4035058" y="1526767"/>
              <a:ext cx="550893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D2A0BCA-F338-5A79-D3E1-3FC5419414E1}"/>
                </a:ext>
              </a:extLst>
            </p:cNvPr>
            <p:cNvSpPr txBox="1"/>
            <p:nvPr/>
          </p:nvSpPr>
          <p:spPr>
            <a:xfrm>
              <a:off x="2673819" y="2191796"/>
              <a:ext cx="32733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zh-CN" altLang="en-US" sz="2800" b="1" kern="0" spc="300" dirty="0">
                  <a:solidFill>
                    <a:srgbClr val="A13F0B"/>
                  </a:solidFill>
                </a:rPr>
                <a:t>构建与基础架构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2B39F27-1DC2-86B1-62EF-7AA58754A477}"/>
                </a:ext>
              </a:extLst>
            </p:cNvPr>
            <p:cNvSpPr txBox="1"/>
            <p:nvPr/>
          </p:nvSpPr>
          <p:spPr>
            <a:xfrm>
              <a:off x="2440101" y="2731235"/>
              <a:ext cx="3762986" cy="6851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修改</a:t>
              </a:r>
              <a:r>
                <a:rPr kumimoji="0" lang="en-US" altLang="zh-CN" sz="1800" b="0" i="0" u="none" strike="noStrike" kern="0" cap="none" spc="30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Makefile</a:t>
              </a:r>
              <a:r>
                <a:rPr kumimoji="0" lang="en-US" altLang="zh-CN" sz="1800" b="0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, cargo</a:t>
              </a: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配置等</a:t>
              </a:r>
              <a:br>
                <a:rPr kumimoji="0" lang="en-US" altLang="zh-CN" sz="1800" b="0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</a:b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支持 </a:t>
              </a:r>
              <a:r>
                <a:rPr kumimoji="0" lang="en-US" altLang="zh-CN" sz="1800" b="0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x86_64 </a:t>
              </a: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编译与运行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B3B7B39-B41B-E869-51F8-0382E985A497}"/>
              </a:ext>
            </a:extLst>
          </p:cNvPr>
          <p:cNvGrpSpPr/>
          <p:nvPr/>
        </p:nvGrpSpPr>
        <p:grpSpPr>
          <a:xfrm>
            <a:off x="6385959" y="1975539"/>
            <a:ext cx="3913599" cy="1836923"/>
            <a:chOff x="6244813" y="1579436"/>
            <a:chExt cx="3698322" cy="1836923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8A3E2AA4-2917-3854-4104-93F127D1964B}"/>
                </a:ext>
              </a:extLst>
            </p:cNvPr>
            <p:cNvSpPr/>
            <p:nvPr/>
          </p:nvSpPr>
          <p:spPr>
            <a:xfrm>
              <a:off x="7857959" y="1610680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4268C30C-56A1-881D-CB7B-5AAC0133D35A}"/>
                </a:ext>
              </a:extLst>
            </p:cNvPr>
            <p:cNvSpPr/>
            <p:nvPr/>
          </p:nvSpPr>
          <p:spPr>
            <a:xfrm>
              <a:off x="7833678" y="1579436"/>
              <a:ext cx="520590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2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2B24741E-30A4-537B-E476-553F4BAA75E3}"/>
                </a:ext>
              </a:extLst>
            </p:cNvPr>
            <p:cNvSpPr txBox="1"/>
            <p:nvPr/>
          </p:nvSpPr>
          <p:spPr>
            <a:xfrm>
              <a:off x="6457289" y="2202802"/>
              <a:ext cx="32733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30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引导与基础设施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5B4DDABE-2B28-DD3D-68D6-2565CB6EA45E}"/>
                </a:ext>
              </a:extLst>
            </p:cNvPr>
            <p:cNvSpPr txBox="1"/>
            <p:nvPr/>
          </p:nvSpPr>
          <p:spPr>
            <a:xfrm>
              <a:off x="6244813" y="2731235"/>
              <a:ext cx="3698322" cy="6851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通过</a:t>
              </a:r>
              <a:r>
                <a:rPr kumimoji="0" lang="en-US" altLang="zh-CN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multiboot</a:t>
              </a: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协议引导，进入</a:t>
              </a:r>
              <a:r>
                <a:rPr kumimoji="0" lang="en-US" altLang="zh-CN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64</a:t>
              </a: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位后通过串口输出内容</a:t>
              </a: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404A5996-77C3-E8D7-9C8D-0090220B9120}"/>
              </a:ext>
            </a:extLst>
          </p:cNvPr>
          <p:cNvGrpSpPr/>
          <p:nvPr/>
        </p:nvGrpSpPr>
        <p:grpSpPr>
          <a:xfrm>
            <a:off x="4473829" y="4114307"/>
            <a:ext cx="3273369" cy="1889592"/>
            <a:chOff x="4459315" y="3916867"/>
            <a:chExt cx="3273369" cy="1889592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5DF3CD38-2B13-29AC-6854-E7FEEAC7B89E}"/>
                </a:ext>
              </a:extLst>
            </p:cNvPr>
            <p:cNvSpPr/>
            <p:nvPr/>
          </p:nvSpPr>
          <p:spPr>
            <a:xfrm>
              <a:off x="5862281" y="3948545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6DAEA825-AC02-BCA4-1924-2DCF8AA66C18}"/>
                </a:ext>
              </a:extLst>
            </p:cNvPr>
            <p:cNvSpPr/>
            <p:nvPr/>
          </p:nvSpPr>
          <p:spPr>
            <a:xfrm>
              <a:off x="5820554" y="3916867"/>
              <a:ext cx="550893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4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3428E5AA-FD0D-5C3D-CE57-2DFDA32DFB3C}"/>
                </a:ext>
              </a:extLst>
            </p:cNvPr>
            <p:cNvSpPr txBox="1"/>
            <p:nvPr/>
          </p:nvSpPr>
          <p:spPr>
            <a:xfrm>
              <a:off x="4459315" y="4581896"/>
              <a:ext cx="32733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30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内存管理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C4FD2536-1A4F-3959-1356-CFD64F384386}"/>
                </a:ext>
              </a:extLst>
            </p:cNvPr>
            <p:cNvSpPr txBox="1"/>
            <p:nvPr/>
          </p:nvSpPr>
          <p:spPr>
            <a:xfrm>
              <a:off x="4459315" y="5121335"/>
              <a:ext cx="3273369" cy="6851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管理物理页帧</a:t>
              </a:r>
              <a:br>
                <a:rPr kumimoji="0" lang="en-US" altLang="zh-CN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</a:br>
              <a:r>
                <a:rPr lang="zh-CN" altLang="en-US" sz="1800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rPr>
                <a:t>建立内核虚拟地址空间</a:t>
              </a:r>
              <a:endPara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49B937D1-6354-F4F0-6F26-56F7AE67CAA8}"/>
              </a:ext>
            </a:extLst>
          </p:cNvPr>
          <p:cNvGrpSpPr/>
          <p:nvPr/>
        </p:nvGrpSpPr>
        <p:grpSpPr>
          <a:xfrm>
            <a:off x="7896012" y="4117482"/>
            <a:ext cx="3273369" cy="1883242"/>
            <a:chOff x="7881498" y="3926541"/>
            <a:chExt cx="3273369" cy="1883242"/>
          </a:xfrm>
        </p:grpSpPr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CF4ED271-9769-4283-A354-3263EFF089D4}"/>
                </a:ext>
              </a:extLst>
            </p:cNvPr>
            <p:cNvSpPr/>
            <p:nvPr/>
          </p:nvSpPr>
          <p:spPr>
            <a:xfrm>
              <a:off x="9284464" y="3958219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C2EAE545-4A93-E3F1-B7CF-40EC97333684}"/>
                </a:ext>
              </a:extLst>
            </p:cNvPr>
            <p:cNvSpPr/>
            <p:nvPr/>
          </p:nvSpPr>
          <p:spPr>
            <a:xfrm>
              <a:off x="9242737" y="3926541"/>
              <a:ext cx="550893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5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4B17CFE9-73FD-6438-A196-18D1057CF54D}"/>
                </a:ext>
              </a:extLst>
            </p:cNvPr>
            <p:cNvSpPr txBox="1"/>
            <p:nvPr/>
          </p:nvSpPr>
          <p:spPr>
            <a:xfrm>
              <a:off x="7881498" y="4591570"/>
              <a:ext cx="32733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kern="0" spc="300" dirty="0">
                  <a:solidFill>
                    <a:srgbClr val="A13F0B"/>
                  </a:solidFill>
                  <a:latin typeface="微软雅黑"/>
                  <a:ea typeface="微软雅黑"/>
                </a:rPr>
                <a:t>设备探测</a:t>
              </a:r>
              <a:endPara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346866BF-BE0F-A8C9-670D-054BD4BACA5C}"/>
                </a:ext>
              </a:extLst>
            </p:cNvPr>
            <p:cNvSpPr txBox="1"/>
            <p:nvPr/>
          </p:nvSpPr>
          <p:spPr>
            <a:xfrm>
              <a:off x="7881498" y="5124659"/>
              <a:ext cx="3273369" cy="6851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通过</a:t>
              </a:r>
              <a:r>
                <a:rPr kumimoji="0" lang="en-US" altLang="zh-CN" sz="1800" b="0" i="0" u="none" strike="noStrike" kern="0" cap="none" spc="300" normalizeH="0" baseline="0" noProof="0" dirty="0" err="1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acpi</a:t>
              </a: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和</a:t>
              </a:r>
              <a:r>
                <a:rPr kumimoji="0" lang="en-US" altLang="zh-CN" sz="1800" b="0" i="0" u="none" strike="noStrike" kern="0" cap="none" spc="300" normalizeH="0" baseline="0" noProof="0" dirty="0" err="1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pci</a:t>
              </a: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探测外部设备，绑定设备驱动</a:t>
              </a: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593BA743-D37C-55B8-2AE8-FCA6F9C3DEB3}"/>
              </a:ext>
            </a:extLst>
          </p:cNvPr>
          <p:cNvGrpSpPr/>
          <p:nvPr/>
        </p:nvGrpSpPr>
        <p:grpSpPr>
          <a:xfrm>
            <a:off x="1051648" y="4114307"/>
            <a:ext cx="3273369" cy="1889592"/>
            <a:chOff x="1037134" y="3929346"/>
            <a:chExt cx="3273369" cy="1889592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9C5BEFC2-A04F-0CB5-563E-3F3A64373EA1}"/>
                </a:ext>
              </a:extLst>
            </p:cNvPr>
            <p:cNvSpPr/>
            <p:nvPr/>
          </p:nvSpPr>
          <p:spPr>
            <a:xfrm>
              <a:off x="2440100" y="3961024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42F3CDA5-4E04-832D-F57E-BCBF6EEDE493}"/>
                </a:ext>
              </a:extLst>
            </p:cNvPr>
            <p:cNvSpPr/>
            <p:nvPr/>
          </p:nvSpPr>
          <p:spPr>
            <a:xfrm>
              <a:off x="2398373" y="3929346"/>
              <a:ext cx="550893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3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C5E4570D-F292-C50C-1345-FD1B96247E66}"/>
                </a:ext>
              </a:extLst>
            </p:cNvPr>
            <p:cNvSpPr txBox="1"/>
            <p:nvPr/>
          </p:nvSpPr>
          <p:spPr>
            <a:xfrm>
              <a:off x="1037134" y="4594375"/>
              <a:ext cx="32733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800" b="1" kern="0" spc="300" dirty="0">
                  <a:solidFill>
                    <a:srgbClr val="A13F0B"/>
                  </a:solidFill>
                  <a:latin typeface="微软雅黑"/>
                  <a:ea typeface="微软雅黑"/>
                </a:rPr>
                <a:t>中断与系统调用</a:t>
              </a: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5E76E4C5-2391-3025-CB3E-6F0F268E7FBC}"/>
                </a:ext>
              </a:extLst>
            </p:cNvPr>
            <p:cNvSpPr txBox="1"/>
            <p:nvPr/>
          </p:nvSpPr>
          <p:spPr>
            <a:xfrm>
              <a:off x="1037134" y="5133814"/>
              <a:ext cx="3273369" cy="6851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建立内核与用户中断机制，额外设置</a:t>
              </a:r>
              <a:r>
                <a:rPr kumimoji="0" lang="en-US" altLang="zh-CN" sz="1800" b="0" i="0" u="none" strike="noStrike" kern="0" cap="none" spc="300" normalizeH="0" baseline="0" noProof="0" dirty="0" err="1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syscall</a:t>
              </a: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通路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FA5A259-F1A6-F4FE-5868-A55D13F4B1B0}"/>
              </a:ext>
            </a:extLst>
          </p:cNvPr>
          <p:cNvSpPr txBox="1"/>
          <p:nvPr/>
        </p:nvSpPr>
        <p:spPr>
          <a:xfrm>
            <a:off x="1446963" y="1135464"/>
            <a:ext cx="9083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kern="0" spc="300" dirty="0">
                <a:solidFill>
                  <a:srgbClr val="A13F0B"/>
                </a:solidFill>
                <a:latin typeface="微软雅黑"/>
                <a:ea typeface="微软雅黑"/>
              </a:rPr>
              <a:t>进展情况 </a:t>
            </a:r>
            <a:r>
              <a:rPr lang="zh-CN" altLang="en-US" sz="2800" dirty="0"/>
              <a:t>到</a:t>
            </a:r>
            <a:r>
              <a:rPr lang="en-US" altLang="zh-CN" sz="2800" dirty="0"/>
              <a:t>x86_64</a:t>
            </a:r>
            <a:r>
              <a:rPr lang="zh-CN" altLang="en-US" sz="2800" dirty="0"/>
              <a:t> </a:t>
            </a:r>
            <a:r>
              <a:rPr lang="en-US" altLang="zh-CN" sz="2800" dirty="0"/>
              <a:t>QEMU</a:t>
            </a:r>
            <a:r>
              <a:rPr lang="zh-CN" altLang="en-US" sz="2800" dirty="0"/>
              <a:t>模拟器的移植工作有所成就</a:t>
            </a:r>
          </a:p>
        </p:txBody>
      </p:sp>
    </p:spTree>
    <p:extLst>
      <p:ext uri="{BB962C8B-B14F-4D97-AF65-F5344CB8AC3E}">
        <p14:creationId xmlns:p14="http://schemas.microsoft.com/office/powerpoint/2010/main" val="33179416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AA265-195B-C70B-11FF-6BEB88D73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8548C4AA-89E7-D836-1F35-2DE4DFC64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进展情况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07B77CB-B71E-4A8A-F633-EE34A5F741C5}"/>
              </a:ext>
            </a:extLst>
          </p:cNvPr>
          <p:cNvGrpSpPr/>
          <p:nvPr/>
        </p:nvGrpSpPr>
        <p:grpSpPr>
          <a:xfrm>
            <a:off x="5984443" y="987610"/>
            <a:ext cx="216000" cy="5003800"/>
            <a:chOff x="5984443" y="987610"/>
            <a:chExt cx="216000" cy="5003800"/>
          </a:xfrm>
        </p:grpSpPr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DC53E779-B177-0FBF-459D-D854BCEF8170}"/>
                </a:ext>
              </a:extLst>
            </p:cNvPr>
            <p:cNvCxnSpPr/>
            <p:nvPr/>
          </p:nvCxnSpPr>
          <p:spPr>
            <a:xfrm>
              <a:off x="6096000" y="987610"/>
              <a:ext cx="0" cy="5003800"/>
            </a:xfrm>
            <a:prstGeom prst="line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A6BB5F1F-5C49-F874-6B32-100CC2CA04AA}"/>
                </a:ext>
              </a:extLst>
            </p:cNvPr>
            <p:cNvSpPr/>
            <p:nvPr/>
          </p:nvSpPr>
          <p:spPr>
            <a:xfrm>
              <a:off x="5984443" y="1452664"/>
              <a:ext cx="216000" cy="216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3E5C059D-816D-A270-86BB-A653AD48E2FB}"/>
                </a:ext>
              </a:extLst>
            </p:cNvPr>
            <p:cNvSpPr/>
            <p:nvPr/>
          </p:nvSpPr>
          <p:spPr>
            <a:xfrm>
              <a:off x="5984443" y="3143128"/>
              <a:ext cx="216000" cy="216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3B66B998-7061-62A0-A5A1-E1C55642426B}"/>
                </a:ext>
              </a:extLst>
            </p:cNvPr>
            <p:cNvSpPr/>
            <p:nvPr/>
          </p:nvSpPr>
          <p:spPr>
            <a:xfrm>
              <a:off x="5984443" y="4833593"/>
              <a:ext cx="216000" cy="216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E37EC2F-174A-58EF-A346-B4A2270E2A3A}"/>
              </a:ext>
            </a:extLst>
          </p:cNvPr>
          <p:cNvCxnSpPr/>
          <p:nvPr/>
        </p:nvCxnSpPr>
        <p:spPr>
          <a:xfrm>
            <a:off x="5080000" y="1554262"/>
            <a:ext cx="2032000" cy="0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6E8B98B0-6A2C-E0C8-93C8-10F1D48C8479}"/>
              </a:ext>
            </a:extLst>
          </p:cNvPr>
          <p:cNvCxnSpPr/>
          <p:nvPr/>
        </p:nvCxnSpPr>
        <p:spPr>
          <a:xfrm>
            <a:off x="5080000" y="3251128"/>
            <a:ext cx="2032000" cy="0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F11E387-C5A0-AFC7-53FA-AEF2196EF73D}"/>
              </a:ext>
            </a:extLst>
          </p:cNvPr>
          <p:cNvCxnSpPr/>
          <p:nvPr/>
        </p:nvCxnSpPr>
        <p:spPr>
          <a:xfrm>
            <a:off x="5080000" y="4941593"/>
            <a:ext cx="2032000" cy="0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9D91D74F-3E78-E7FE-C5BA-5AF74DF755CD}"/>
              </a:ext>
            </a:extLst>
          </p:cNvPr>
          <p:cNvSpPr txBox="1"/>
          <p:nvPr/>
        </p:nvSpPr>
        <p:spPr>
          <a:xfrm>
            <a:off x="1224232" y="1336968"/>
            <a:ext cx="327336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r">
              <a:defRPr/>
            </a:pPr>
            <a:r>
              <a:rPr lang="zh-CN" altLang="en-US" sz="2800" b="1" kern="0" spc="300" dirty="0">
                <a:solidFill>
                  <a:srgbClr val="A13F0B"/>
                </a:solidFill>
              </a:rPr>
              <a:t>构建与基础架构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CEDFBD8-ECAC-8287-221B-FC52E190706C}"/>
              </a:ext>
            </a:extLst>
          </p:cNvPr>
          <p:cNvSpPr txBox="1"/>
          <p:nvPr/>
        </p:nvSpPr>
        <p:spPr>
          <a:xfrm>
            <a:off x="749864" y="1876407"/>
            <a:ext cx="3747738" cy="6851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z="14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修改</a:t>
            </a:r>
            <a:r>
              <a:rPr kumimoji="0" lang="en-US" altLang="zh-CN" sz="18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Makefile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, cargo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配置等</a:t>
            </a:r>
            <a:b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</a:b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支持 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x86_64 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编译与运行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88B78F7-EF60-0B8A-98AA-555F761325FB}"/>
              </a:ext>
            </a:extLst>
          </p:cNvPr>
          <p:cNvSpPr txBox="1"/>
          <p:nvPr/>
        </p:nvSpPr>
        <p:spPr>
          <a:xfrm>
            <a:off x="1224232" y="3031899"/>
            <a:ext cx="327336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引导与基础设施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5455146-2CDF-C1DC-377C-DE580D514F87}"/>
              </a:ext>
            </a:extLst>
          </p:cNvPr>
          <p:cNvSpPr txBox="1"/>
          <p:nvPr/>
        </p:nvSpPr>
        <p:spPr>
          <a:xfrm>
            <a:off x="749864" y="3571338"/>
            <a:ext cx="3747738" cy="6851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z="14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通过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multiboot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协议引导，进入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64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位后通过串口输出内容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9A79877-ADD6-7759-0CC3-EC0AB82C1EB4}"/>
              </a:ext>
            </a:extLst>
          </p:cNvPr>
          <p:cNvSpPr txBox="1"/>
          <p:nvPr/>
        </p:nvSpPr>
        <p:spPr>
          <a:xfrm>
            <a:off x="1224232" y="4709952"/>
            <a:ext cx="327336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r>
              <a:rPr lang="zh-CN" altLang="en-US" sz="2800" b="1" kern="0" spc="300" dirty="0">
                <a:solidFill>
                  <a:srgbClr val="A13F0B"/>
                </a:solidFill>
              </a:rPr>
              <a:t>中断与系统调用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7C706C9-5FC8-67C9-E4E8-4F5EF315CC79}"/>
              </a:ext>
            </a:extLst>
          </p:cNvPr>
          <p:cNvSpPr txBox="1"/>
          <p:nvPr/>
        </p:nvSpPr>
        <p:spPr>
          <a:xfrm>
            <a:off x="1224232" y="5249391"/>
            <a:ext cx="3273369" cy="6846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z="14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algn="r">
              <a:defRPr/>
            </a:pPr>
            <a:r>
              <a:rPr lang="zh-CN" altLang="en-US" sz="1800" kern="0" dirty="0">
                <a:solidFill>
                  <a:srgbClr val="000000">
                    <a:lumMod val="85000"/>
                    <a:lumOff val="15000"/>
                  </a:srgbClr>
                </a:solidFill>
              </a:rPr>
              <a:t>建立内核与用户中断机制，额外设置</a:t>
            </a:r>
            <a:r>
              <a:rPr lang="en-US" altLang="zh-CN" sz="1800" kern="0" dirty="0" err="1">
                <a:solidFill>
                  <a:srgbClr val="000000">
                    <a:lumMod val="85000"/>
                    <a:lumOff val="15000"/>
                  </a:srgbClr>
                </a:solidFill>
              </a:rPr>
              <a:t>syscall</a:t>
            </a:r>
            <a:r>
              <a:rPr lang="zh-CN" altLang="en-US" sz="1800" kern="0" dirty="0">
                <a:solidFill>
                  <a:srgbClr val="000000">
                    <a:lumMod val="85000"/>
                    <a:lumOff val="15000"/>
                  </a:srgbClr>
                </a:solidFill>
              </a:rPr>
              <a:t>通路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53F7B0E-5275-B5D3-3332-0BF58B8B8442}"/>
              </a:ext>
            </a:extLst>
          </p:cNvPr>
          <p:cNvSpPr txBox="1"/>
          <p:nvPr/>
        </p:nvSpPr>
        <p:spPr>
          <a:xfrm>
            <a:off x="7676294" y="1336968"/>
            <a:ext cx="327336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zh-CN" altLang="en-US" sz="2800" b="1" kern="0" spc="300" dirty="0">
                <a:solidFill>
                  <a:srgbClr val="A13F0B"/>
                </a:solidFill>
              </a:rPr>
              <a:t>内存管理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5E9FC316-9050-F651-B11A-5D9567C600F3}"/>
              </a:ext>
            </a:extLst>
          </p:cNvPr>
          <p:cNvSpPr txBox="1"/>
          <p:nvPr/>
        </p:nvSpPr>
        <p:spPr>
          <a:xfrm>
            <a:off x="7676294" y="1876407"/>
            <a:ext cx="3273369" cy="6851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z="14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algn="l">
              <a:defRPr/>
            </a:pPr>
            <a:r>
              <a:rPr lang="zh-CN" altLang="en-US" sz="1800" kern="0" dirty="0">
                <a:solidFill>
                  <a:srgbClr val="000000">
                    <a:lumMod val="85000"/>
                    <a:lumOff val="15000"/>
                  </a:srgbClr>
                </a:solidFill>
              </a:rPr>
              <a:t>管理物理页帧</a:t>
            </a:r>
            <a:br>
              <a:rPr lang="en-US" altLang="zh-CN" sz="1800" kern="0" dirty="0">
                <a:solidFill>
                  <a:srgbClr val="000000">
                    <a:lumMod val="85000"/>
                    <a:lumOff val="15000"/>
                  </a:srgbClr>
                </a:solidFill>
              </a:rPr>
            </a:br>
            <a:r>
              <a:rPr lang="zh-CN" altLang="en-US" sz="1800" kern="0" dirty="0">
                <a:solidFill>
                  <a:srgbClr val="000000">
                    <a:lumMod val="85000"/>
                    <a:lumOff val="15000"/>
                  </a:srgbClr>
                </a:solidFill>
              </a:rPr>
              <a:t>建立内核虚拟地址空间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236B669-4326-0AFB-D256-E73DCD887BA7}"/>
              </a:ext>
            </a:extLst>
          </p:cNvPr>
          <p:cNvSpPr txBox="1"/>
          <p:nvPr/>
        </p:nvSpPr>
        <p:spPr>
          <a:xfrm>
            <a:off x="7676294" y="3031899"/>
            <a:ext cx="327336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设备探测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5EB5E38-1AC3-B174-5729-6E799ADE58B0}"/>
              </a:ext>
            </a:extLst>
          </p:cNvPr>
          <p:cNvSpPr txBox="1"/>
          <p:nvPr/>
        </p:nvSpPr>
        <p:spPr>
          <a:xfrm>
            <a:off x="7676294" y="3571338"/>
            <a:ext cx="3273369" cy="6846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z="14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通过</a:t>
            </a:r>
            <a:r>
              <a:rPr kumimoji="0" lang="en-US" altLang="zh-CN" sz="18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acpi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和</a:t>
            </a:r>
            <a:r>
              <a:rPr kumimoji="0" lang="en-US" altLang="zh-CN" sz="18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pci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探测外部设备，绑定设备驱动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2FE0120-739A-314D-D0AB-9ED45609D065}"/>
              </a:ext>
            </a:extLst>
          </p:cNvPr>
          <p:cNvSpPr txBox="1"/>
          <p:nvPr/>
        </p:nvSpPr>
        <p:spPr>
          <a:xfrm>
            <a:off x="7676294" y="4709952"/>
            <a:ext cx="327336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阻塞点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BBFBB3E-A0C0-BE18-E3ED-CD74FABE3154}"/>
              </a:ext>
            </a:extLst>
          </p:cNvPr>
          <p:cNvSpPr txBox="1"/>
          <p:nvPr/>
        </p:nvSpPr>
        <p:spPr>
          <a:xfrm>
            <a:off x="7676294" y="5249391"/>
            <a:ext cx="3273369" cy="6851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 sz="14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/>
                <a:ea typeface="微软雅黑"/>
              </a:rPr>
              <a:t>无法切换至用户</a:t>
            </a:r>
            <a:r>
              <a:rPr lang="en-US" altLang="zh-CN" sz="1800" dirty="0">
                <a:solidFill>
                  <a:prstClr val="black"/>
                </a:solidFill>
                <a:latin typeface="微软雅黑"/>
                <a:ea typeface="微软雅黑"/>
              </a:rPr>
              <a:t>/</a:t>
            </a:r>
            <a:r>
              <a:rPr lang="en-US" altLang="zh-CN" sz="1800" dirty="0" err="1">
                <a:solidFill>
                  <a:prstClr val="black"/>
                </a:solidFill>
                <a:latin typeface="微软雅黑"/>
                <a:ea typeface="微软雅黑"/>
              </a:rPr>
              <a:t>init</a:t>
            </a:r>
            <a:r>
              <a:rPr lang="zh-CN" altLang="en-US" sz="1800" dirty="0">
                <a:solidFill>
                  <a:prstClr val="black"/>
                </a:solidFill>
                <a:latin typeface="微软雅黑"/>
                <a:ea typeface="微软雅黑"/>
              </a:rPr>
              <a:t>任务时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8E630699-D8FC-EB88-03F2-222414C4C51B}"/>
              </a:ext>
            </a:extLst>
          </p:cNvPr>
          <p:cNvGrpSpPr/>
          <p:nvPr/>
        </p:nvGrpSpPr>
        <p:grpSpPr>
          <a:xfrm>
            <a:off x="6687312" y="2985510"/>
            <a:ext cx="504000" cy="504000"/>
            <a:chOff x="7982080" y="4240456"/>
            <a:chExt cx="504000" cy="504000"/>
          </a:xfrm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340C1632-3A75-FD8A-6D8E-674C9E1D529F}"/>
                </a:ext>
              </a:extLst>
            </p:cNvPr>
            <p:cNvSpPr/>
            <p:nvPr/>
          </p:nvSpPr>
          <p:spPr>
            <a:xfrm>
              <a:off x="7982080" y="4240456"/>
              <a:ext cx="504000" cy="504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73" name="Freeform 108">
              <a:extLst>
                <a:ext uri="{FF2B5EF4-FFF2-40B4-BE49-F238E27FC236}">
                  <a16:creationId xmlns:a16="http://schemas.microsoft.com/office/drawing/2014/main" id="{51B01AC1-E454-E6E6-96EF-FF572B4F321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054080" y="4382788"/>
              <a:ext cx="360000" cy="219337"/>
            </a:xfrm>
            <a:custGeom>
              <a:avLst/>
              <a:gdLst>
                <a:gd name="T0" fmla="*/ 126 w 128"/>
                <a:gd name="T1" fmla="*/ 74 h 78"/>
                <a:gd name="T2" fmla="*/ 114 w 128"/>
                <a:gd name="T3" fmla="*/ 74 h 78"/>
                <a:gd name="T4" fmla="*/ 114 w 128"/>
                <a:gd name="T5" fmla="*/ 50 h 78"/>
                <a:gd name="T6" fmla="*/ 108 w 128"/>
                <a:gd name="T7" fmla="*/ 44 h 78"/>
                <a:gd name="T8" fmla="*/ 94 w 128"/>
                <a:gd name="T9" fmla="*/ 44 h 78"/>
                <a:gd name="T10" fmla="*/ 88 w 128"/>
                <a:gd name="T11" fmla="*/ 50 h 78"/>
                <a:gd name="T12" fmla="*/ 88 w 128"/>
                <a:gd name="T13" fmla="*/ 74 h 78"/>
                <a:gd name="T14" fmla="*/ 77 w 128"/>
                <a:gd name="T15" fmla="*/ 74 h 78"/>
                <a:gd name="T16" fmla="*/ 77 w 128"/>
                <a:gd name="T17" fmla="*/ 6 h 78"/>
                <a:gd name="T18" fmla="*/ 71 w 128"/>
                <a:gd name="T19" fmla="*/ 0 h 78"/>
                <a:gd name="T20" fmla="*/ 57 w 128"/>
                <a:gd name="T21" fmla="*/ 0 h 78"/>
                <a:gd name="T22" fmla="*/ 51 w 128"/>
                <a:gd name="T23" fmla="*/ 6 h 78"/>
                <a:gd name="T24" fmla="*/ 51 w 128"/>
                <a:gd name="T25" fmla="*/ 74 h 78"/>
                <a:gd name="T26" fmla="*/ 40 w 128"/>
                <a:gd name="T27" fmla="*/ 74 h 78"/>
                <a:gd name="T28" fmla="*/ 40 w 128"/>
                <a:gd name="T29" fmla="*/ 35 h 78"/>
                <a:gd name="T30" fmla="*/ 34 w 128"/>
                <a:gd name="T31" fmla="*/ 29 h 78"/>
                <a:gd name="T32" fmla="*/ 20 w 128"/>
                <a:gd name="T33" fmla="*/ 29 h 78"/>
                <a:gd name="T34" fmla="*/ 14 w 128"/>
                <a:gd name="T35" fmla="*/ 35 h 78"/>
                <a:gd name="T36" fmla="*/ 14 w 128"/>
                <a:gd name="T37" fmla="*/ 74 h 78"/>
                <a:gd name="T38" fmla="*/ 2 w 128"/>
                <a:gd name="T39" fmla="*/ 74 h 78"/>
                <a:gd name="T40" fmla="*/ 0 w 128"/>
                <a:gd name="T41" fmla="*/ 76 h 78"/>
                <a:gd name="T42" fmla="*/ 2 w 128"/>
                <a:gd name="T43" fmla="*/ 78 h 78"/>
                <a:gd name="T44" fmla="*/ 126 w 128"/>
                <a:gd name="T45" fmla="*/ 78 h 78"/>
                <a:gd name="T46" fmla="*/ 128 w 128"/>
                <a:gd name="T47" fmla="*/ 76 h 78"/>
                <a:gd name="T48" fmla="*/ 126 w 128"/>
                <a:gd name="T49" fmla="*/ 74 h 78"/>
                <a:gd name="T50" fmla="*/ 36 w 128"/>
                <a:gd name="T51" fmla="*/ 74 h 78"/>
                <a:gd name="T52" fmla="*/ 18 w 128"/>
                <a:gd name="T53" fmla="*/ 74 h 78"/>
                <a:gd name="T54" fmla="*/ 18 w 128"/>
                <a:gd name="T55" fmla="*/ 34 h 78"/>
                <a:gd name="T56" fmla="*/ 36 w 128"/>
                <a:gd name="T57" fmla="*/ 34 h 78"/>
                <a:gd name="T58" fmla="*/ 36 w 128"/>
                <a:gd name="T59" fmla="*/ 74 h 78"/>
                <a:gd name="T60" fmla="*/ 73 w 128"/>
                <a:gd name="T61" fmla="*/ 74 h 78"/>
                <a:gd name="T62" fmla="*/ 55 w 128"/>
                <a:gd name="T63" fmla="*/ 74 h 78"/>
                <a:gd name="T64" fmla="*/ 55 w 128"/>
                <a:gd name="T65" fmla="*/ 4 h 78"/>
                <a:gd name="T66" fmla="*/ 73 w 128"/>
                <a:gd name="T67" fmla="*/ 4 h 78"/>
                <a:gd name="T68" fmla="*/ 73 w 128"/>
                <a:gd name="T69" fmla="*/ 74 h 78"/>
                <a:gd name="T70" fmla="*/ 110 w 128"/>
                <a:gd name="T71" fmla="*/ 74 h 78"/>
                <a:gd name="T72" fmla="*/ 92 w 128"/>
                <a:gd name="T73" fmla="*/ 74 h 78"/>
                <a:gd name="T74" fmla="*/ 92 w 128"/>
                <a:gd name="T75" fmla="*/ 49 h 78"/>
                <a:gd name="T76" fmla="*/ 110 w 128"/>
                <a:gd name="T77" fmla="*/ 49 h 78"/>
                <a:gd name="T78" fmla="*/ 110 w 128"/>
                <a:gd name="T79" fmla="*/ 7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8" h="78">
                  <a:moveTo>
                    <a:pt x="126" y="74"/>
                  </a:moveTo>
                  <a:cubicBezTo>
                    <a:pt x="114" y="74"/>
                    <a:pt x="114" y="74"/>
                    <a:pt x="114" y="74"/>
                  </a:cubicBezTo>
                  <a:cubicBezTo>
                    <a:pt x="114" y="50"/>
                    <a:pt x="114" y="50"/>
                    <a:pt x="114" y="50"/>
                  </a:cubicBezTo>
                  <a:cubicBezTo>
                    <a:pt x="114" y="47"/>
                    <a:pt x="112" y="44"/>
                    <a:pt x="108" y="44"/>
                  </a:cubicBezTo>
                  <a:cubicBezTo>
                    <a:pt x="94" y="44"/>
                    <a:pt x="94" y="44"/>
                    <a:pt x="94" y="44"/>
                  </a:cubicBezTo>
                  <a:cubicBezTo>
                    <a:pt x="90" y="44"/>
                    <a:pt x="88" y="47"/>
                    <a:pt x="88" y="50"/>
                  </a:cubicBezTo>
                  <a:cubicBezTo>
                    <a:pt x="88" y="74"/>
                    <a:pt x="88" y="74"/>
                    <a:pt x="88" y="74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2"/>
                    <a:pt x="75" y="0"/>
                    <a:pt x="71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3" y="0"/>
                    <a:pt x="51" y="2"/>
                    <a:pt x="51" y="6"/>
                  </a:cubicBezTo>
                  <a:cubicBezTo>
                    <a:pt x="51" y="74"/>
                    <a:pt x="51" y="74"/>
                    <a:pt x="51" y="74"/>
                  </a:cubicBezTo>
                  <a:cubicBezTo>
                    <a:pt x="40" y="74"/>
                    <a:pt x="40" y="74"/>
                    <a:pt x="40" y="7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0" y="32"/>
                    <a:pt x="38" y="29"/>
                    <a:pt x="34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16" y="29"/>
                    <a:pt x="14" y="32"/>
                    <a:pt x="14" y="3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2" y="74"/>
                    <a:pt x="2" y="74"/>
                    <a:pt x="2" y="74"/>
                  </a:cubicBezTo>
                  <a:cubicBezTo>
                    <a:pt x="1" y="74"/>
                    <a:pt x="0" y="75"/>
                    <a:pt x="0" y="76"/>
                  </a:cubicBezTo>
                  <a:cubicBezTo>
                    <a:pt x="0" y="77"/>
                    <a:pt x="1" y="78"/>
                    <a:pt x="2" y="78"/>
                  </a:cubicBezTo>
                  <a:cubicBezTo>
                    <a:pt x="126" y="78"/>
                    <a:pt x="126" y="78"/>
                    <a:pt x="126" y="78"/>
                  </a:cubicBezTo>
                  <a:cubicBezTo>
                    <a:pt x="127" y="78"/>
                    <a:pt x="128" y="77"/>
                    <a:pt x="128" y="76"/>
                  </a:cubicBezTo>
                  <a:cubicBezTo>
                    <a:pt x="128" y="75"/>
                    <a:pt x="127" y="74"/>
                    <a:pt x="126" y="74"/>
                  </a:cubicBezTo>
                  <a:close/>
                  <a:moveTo>
                    <a:pt x="36" y="74"/>
                  </a:moveTo>
                  <a:cubicBezTo>
                    <a:pt x="18" y="74"/>
                    <a:pt x="18" y="74"/>
                    <a:pt x="18" y="7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36" y="34"/>
                    <a:pt x="36" y="34"/>
                    <a:pt x="36" y="34"/>
                  </a:cubicBezTo>
                  <a:lnTo>
                    <a:pt x="36" y="74"/>
                  </a:lnTo>
                  <a:close/>
                  <a:moveTo>
                    <a:pt x="73" y="74"/>
                  </a:moveTo>
                  <a:cubicBezTo>
                    <a:pt x="55" y="74"/>
                    <a:pt x="55" y="74"/>
                    <a:pt x="55" y="74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73" y="4"/>
                    <a:pt x="73" y="4"/>
                    <a:pt x="73" y="4"/>
                  </a:cubicBezTo>
                  <a:lnTo>
                    <a:pt x="73" y="74"/>
                  </a:lnTo>
                  <a:close/>
                  <a:moveTo>
                    <a:pt x="110" y="74"/>
                  </a:moveTo>
                  <a:cubicBezTo>
                    <a:pt x="92" y="74"/>
                    <a:pt x="92" y="74"/>
                    <a:pt x="92" y="74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110" y="49"/>
                    <a:pt x="110" y="49"/>
                    <a:pt x="110" y="49"/>
                  </a:cubicBezTo>
                  <a:lnTo>
                    <a:pt x="110" y="7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4A532DC6-87C3-B3FA-6956-8A8E907FA342}"/>
              </a:ext>
            </a:extLst>
          </p:cNvPr>
          <p:cNvGrpSpPr/>
          <p:nvPr/>
        </p:nvGrpSpPr>
        <p:grpSpPr>
          <a:xfrm>
            <a:off x="6687312" y="4699168"/>
            <a:ext cx="504000" cy="504000"/>
            <a:chOff x="7982080" y="5312514"/>
            <a:chExt cx="504000" cy="504000"/>
          </a:xfrm>
        </p:grpSpPr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5A2AB015-7AF8-3EFC-16CB-54CCB3C180F1}"/>
                </a:ext>
              </a:extLst>
            </p:cNvPr>
            <p:cNvSpPr/>
            <p:nvPr/>
          </p:nvSpPr>
          <p:spPr>
            <a:xfrm>
              <a:off x="7982080" y="5312514"/>
              <a:ext cx="504000" cy="504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76" name="Freeform 96">
              <a:extLst>
                <a:ext uri="{FF2B5EF4-FFF2-40B4-BE49-F238E27FC236}">
                  <a16:creationId xmlns:a16="http://schemas.microsoft.com/office/drawing/2014/main" id="{0AAAB75B-1DCC-E1D8-4530-AA11EB9080F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072080" y="5401977"/>
              <a:ext cx="324000" cy="325074"/>
            </a:xfrm>
            <a:custGeom>
              <a:avLst/>
              <a:gdLst>
                <a:gd name="T0" fmla="*/ 64 w 128"/>
                <a:gd name="T1" fmla="*/ 128 h 128"/>
                <a:gd name="T2" fmla="*/ 20 w 128"/>
                <a:gd name="T3" fmla="*/ 24 h 128"/>
                <a:gd name="T4" fmla="*/ 48 w 128"/>
                <a:gd name="T5" fmla="*/ 7 h 128"/>
                <a:gd name="T6" fmla="*/ 33 w 128"/>
                <a:gd name="T7" fmla="*/ 30 h 128"/>
                <a:gd name="T8" fmla="*/ 21 w 128"/>
                <a:gd name="T9" fmla="*/ 26 h 128"/>
                <a:gd name="T10" fmla="*/ 5 w 128"/>
                <a:gd name="T11" fmla="*/ 60 h 128"/>
                <a:gd name="T12" fmla="*/ 16 w 128"/>
                <a:gd name="T13" fmla="*/ 29 h 128"/>
                <a:gd name="T14" fmla="*/ 30 w 128"/>
                <a:gd name="T15" fmla="*/ 35 h 128"/>
                <a:gd name="T16" fmla="*/ 24 w 128"/>
                <a:gd name="T17" fmla="*/ 62 h 128"/>
                <a:gd name="T18" fmla="*/ 17 w 128"/>
                <a:gd name="T19" fmla="*/ 98 h 128"/>
                <a:gd name="T20" fmla="*/ 9 w 128"/>
                <a:gd name="T21" fmla="*/ 87 h 128"/>
                <a:gd name="T22" fmla="*/ 24 w 128"/>
                <a:gd name="T23" fmla="*/ 66 h 128"/>
                <a:gd name="T24" fmla="*/ 30 w 128"/>
                <a:gd name="T25" fmla="*/ 93 h 128"/>
                <a:gd name="T26" fmla="*/ 48 w 128"/>
                <a:gd name="T27" fmla="*/ 121 h 128"/>
                <a:gd name="T28" fmla="*/ 20 w 128"/>
                <a:gd name="T29" fmla="*/ 104 h 128"/>
                <a:gd name="T30" fmla="*/ 31 w 128"/>
                <a:gd name="T31" fmla="*/ 98 h 128"/>
                <a:gd name="T32" fmla="*/ 49 w 128"/>
                <a:gd name="T33" fmla="*/ 119 h 128"/>
                <a:gd name="T34" fmla="*/ 62 w 128"/>
                <a:gd name="T35" fmla="*/ 122 h 128"/>
                <a:gd name="T36" fmla="*/ 37 w 128"/>
                <a:gd name="T37" fmla="*/ 97 h 128"/>
                <a:gd name="T38" fmla="*/ 60 w 128"/>
                <a:gd name="T39" fmla="*/ 92 h 128"/>
                <a:gd name="T40" fmla="*/ 62 w 128"/>
                <a:gd name="T41" fmla="*/ 88 h 128"/>
                <a:gd name="T42" fmla="*/ 34 w 128"/>
                <a:gd name="T43" fmla="*/ 92 h 128"/>
                <a:gd name="T44" fmla="*/ 29 w 128"/>
                <a:gd name="T45" fmla="*/ 66 h 128"/>
                <a:gd name="T46" fmla="*/ 62 w 128"/>
                <a:gd name="T47" fmla="*/ 62 h 128"/>
                <a:gd name="T48" fmla="*/ 34 w 128"/>
                <a:gd name="T49" fmla="*/ 38 h 128"/>
                <a:gd name="T50" fmla="*/ 60 w 128"/>
                <a:gd name="T51" fmla="*/ 40 h 128"/>
                <a:gd name="T52" fmla="*/ 62 w 128"/>
                <a:gd name="T53" fmla="*/ 36 h 128"/>
                <a:gd name="T54" fmla="*/ 36 w 128"/>
                <a:gd name="T55" fmla="*/ 32 h 128"/>
                <a:gd name="T56" fmla="*/ 60 w 128"/>
                <a:gd name="T57" fmla="*/ 7 h 128"/>
                <a:gd name="T58" fmla="*/ 111 w 128"/>
                <a:gd name="T59" fmla="*/ 30 h 128"/>
                <a:gd name="T60" fmla="*/ 119 w 128"/>
                <a:gd name="T61" fmla="*/ 41 h 128"/>
                <a:gd name="T62" fmla="*/ 104 w 128"/>
                <a:gd name="T63" fmla="*/ 62 h 128"/>
                <a:gd name="T64" fmla="*/ 98 w 128"/>
                <a:gd name="T65" fmla="*/ 35 h 128"/>
                <a:gd name="T66" fmla="*/ 80 w 128"/>
                <a:gd name="T67" fmla="*/ 7 h 128"/>
                <a:gd name="T68" fmla="*/ 108 w 128"/>
                <a:gd name="T69" fmla="*/ 24 h 128"/>
                <a:gd name="T70" fmla="*/ 97 w 128"/>
                <a:gd name="T71" fmla="*/ 30 h 128"/>
                <a:gd name="T72" fmla="*/ 79 w 128"/>
                <a:gd name="T73" fmla="*/ 9 h 128"/>
                <a:gd name="T74" fmla="*/ 66 w 128"/>
                <a:gd name="T75" fmla="*/ 6 h 128"/>
                <a:gd name="T76" fmla="*/ 91 w 128"/>
                <a:gd name="T77" fmla="*/ 31 h 128"/>
                <a:gd name="T78" fmla="*/ 68 w 128"/>
                <a:gd name="T79" fmla="*/ 36 h 128"/>
                <a:gd name="T80" fmla="*/ 66 w 128"/>
                <a:gd name="T81" fmla="*/ 40 h 128"/>
                <a:gd name="T82" fmla="*/ 94 w 128"/>
                <a:gd name="T83" fmla="*/ 36 h 128"/>
                <a:gd name="T84" fmla="*/ 99 w 128"/>
                <a:gd name="T85" fmla="*/ 62 h 128"/>
                <a:gd name="T86" fmla="*/ 66 w 128"/>
                <a:gd name="T87" fmla="*/ 66 h 128"/>
                <a:gd name="T88" fmla="*/ 94 w 128"/>
                <a:gd name="T89" fmla="*/ 90 h 128"/>
                <a:gd name="T90" fmla="*/ 68 w 128"/>
                <a:gd name="T91" fmla="*/ 88 h 128"/>
                <a:gd name="T92" fmla="*/ 66 w 128"/>
                <a:gd name="T93" fmla="*/ 122 h 128"/>
                <a:gd name="T94" fmla="*/ 90 w 128"/>
                <a:gd name="T95" fmla="*/ 95 h 128"/>
                <a:gd name="T96" fmla="*/ 80 w 128"/>
                <a:gd name="T97" fmla="*/ 112 h 128"/>
                <a:gd name="T98" fmla="*/ 108 w 128"/>
                <a:gd name="T99" fmla="*/ 104 h 128"/>
                <a:gd name="T100" fmla="*/ 80 w 128"/>
                <a:gd name="T101" fmla="*/ 121 h 128"/>
                <a:gd name="T102" fmla="*/ 95 w 128"/>
                <a:gd name="T103" fmla="*/ 98 h 128"/>
                <a:gd name="T104" fmla="*/ 107 w 128"/>
                <a:gd name="T105" fmla="*/ 102 h 128"/>
                <a:gd name="T106" fmla="*/ 123 w 128"/>
                <a:gd name="T107" fmla="*/ 68 h 128"/>
                <a:gd name="T108" fmla="*/ 112 w 128"/>
                <a:gd name="T109" fmla="*/ 99 h 128"/>
                <a:gd name="T110" fmla="*/ 98 w 128"/>
                <a:gd name="T111" fmla="*/ 93 h 128"/>
                <a:gd name="T112" fmla="*/ 104 w 128"/>
                <a:gd name="T113" fmla="*/ 6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20" y="24"/>
                  </a:moveTo>
                  <a:cubicBezTo>
                    <a:pt x="21" y="23"/>
                    <a:pt x="21" y="23"/>
                    <a:pt x="22" y="22"/>
                  </a:cubicBezTo>
                  <a:cubicBezTo>
                    <a:pt x="27" y="17"/>
                    <a:pt x="34" y="12"/>
                    <a:pt x="41" y="9"/>
                  </a:cubicBezTo>
                  <a:cubicBezTo>
                    <a:pt x="43" y="8"/>
                    <a:pt x="46" y="7"/>
                    <a:pt x="48" y="7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3" y="15"/>
                    <a:pt x="37" y="22"/>
                    <a:pt x="33" y="30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30"/>
                    <a:pt x="31" y="30"/>
                  </a:cubicBezTo>
                  <a:cubicBezTo>
                    <a:pt x="27" y="29"/>
                    <a:pt x="24" y="28"/>
                    <a:pt x="21" y="26"/>
                  </a:cubicBezTo>
                  <a:cubicBezTo>
                    <a:pt x="19" y="25"/>
                    <a:pt x="19" y="25"/>
                    <a:pt x="19" y="25"/>
                  </a:cubicBezTo>
                  <a:lnTo>
                    <a:pt x="20" y="24"/>
                  </a:lnTo>
                  <a:close/>
                  <a:moveTo>
                    <a:pt x="5" y="60"/>
                  </a:moveTo>
                  <a:cubicBezTo>
                    <a:pt x="5" y="54"/>
                    <a:pt x="7" y="47"/>
                    <a:pt x="9" y="41"/>
                  </a:cubicBezTo>
                  <a:cubicBezTo>
                    <a:pt x="11" y="37"/>
                    <a:pt x="13" y="33"/>
                    <a:pt x="15" y="30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1" y="31"/>
                    <a:pt x="25" y="33"/>
                    <a:pt x="29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6" y="44"/>
                    <a:pt x="24" y="52"/>
                    <a:pt x="24" y="60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5" y="62"/>
                    <a:pt x="5" y="62"/>
                    <a:pt x="5" y="62"/>
                  </a:cubicBezTo>
                  <a:lnTo>
                    <a:pt x="5" y="60"/>
                  </a:lnTo>
                  <a:close/>
                  <a:moveTo>
                    <a:pt x="17" y="98"/>
                  </a:moveTo>
                  <a:cubicBezTo>
                    <a:pt x="16" y="99"/>
                    <a:pt x="16" y="99"/>
                    <a:pt x="16" y="99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3" y="95"/>
                    <a:pt x="11" y="91"/>
                    <a:pt x="9" y="87"/>
                  </a:cubicBezTo>
                  <a:cubicBezTo>
                    <a:pt x="7" y="81"/>
                    <a:pt x="5" y="74"/>
                    <a:pt x="5" y="68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4" y="76"/>
                    <a:pt x="26" y="84"/>
                    <a:pt x="29" y="92"/>
                  </a:cubicBezTo>
                  <a:cubicBezTo>
                    <a:pt x="30" y="93"/>
                    <a:pt x="30" y="93"/>
                    <a:pt x="30" y="93"/>
                  </a:cubicBezTo>
                  <a:cubicBezTo>
                    <a:pt x="29" y="94"/>
                    <a:pt x="29" y="94"/>
                    <a:pt x="29" y="94"/>
                  </a:cubicBezTo>
                  <a:cubicBezTo>
                    <a:pt x="25" y="95"/>
                    <a:pt x="21" y="97"/>
                    <a:pt x="17" y="98"/>
                  </a:cubicBezTo>
                  <a:close/>
                  <a:moveTo>
                    <a:pt x="48" y="121"/>
                  </a:moveTo>
                  <a:cubicBezTo>
                    <a:pt x="46" y="121"/>
                    <a:pt x="43" y="120"/>
                    <a:pt x="41" y="119"/>
                  </a:cubicBezTo>
                  <a:cubicBezTo>
                    <a:pt x="34" y="116"/>
                    <a:pt x="27" y="112"/>
                    <a:pt x="22" y="106"/>
                  </a:cubicBezTo>
                  <a:cubicBezTo>
                    <a:pt x="21" y="105"/>
                    <a:pt x="21" y="105"/>
                    <a:pt x="20" y="104"/>
                  </a:cubicBezTo>
                  <a:cubicBezTo>
                    <a:pt x="19" y="103"/>
                    <a:pt x="19" y="103"/>
                    <a:pt x="19" y="103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24" y="100"/>
                    <a:pt x="27" y="99"/>
                    <a:pt x="31" y="98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7" y="106"/>
                    <a:pt x="43" y="113"/>
                    <a:pt x="49" y="119"/>
                  </a:cubicBezTo>
                  <a:cubicBezTo>
                    <a:pt x="54" y="123"/>
                    <a:pt x="54" y="123"/>
                    <a:pt x="54" y="123"/>
                  </a:cubicBezTo>
                  <a:lnTo>
                    <a:pt x="48" y="121"/>
                  </a:lnTo>
                  <a:close/>
                  <a:moveTo>
                    <a:pt x="62" y="122"/>
                  </a:moveTo>
                  <a:cubicBezTo>
                    <a:pt x="60" y="121"/>
                    <a:pt x="60" y="121"/>
                    <a:pt x="60" y="121"/>
                  </a:cubicBezTo>
                  <a:cubicBezTo>
                    <a:pt x="55" y="118"/>
                    <a:pt x="52" y="115"/>
                    <a:pt x="48" y="112"/>
                  </a:cubicBezTo>
                  <a:cubicBezTo>
                    <a:pt x="44" y="107"/>
                    <a:pt x="40" y="103"/>
                    <a:pt x="37" y="97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8" y="95"/>
                    <a:pt x="38" y="95"/>
                    <a:pt x="38" y="95"/>
                  </a:cubicBezTo>
                  <a:cubicBezTo>
                    <a:pt x="45" y="94"/>
                    <a:pt x="53" y="93"/>
                    <a:pt x="60" y="92"/>
                  </a:cubicBezTo>
                  <a:cubicBezTo>
                    <a:pt x="62" y="92"/>
                    <a:pt x="62" y="92"/>
                    <a:pt x="62" y="92"/>
                  </a:cubicBezTo>
                  <a:lnTo>
                    <a:pt x="62" y="122"/>
                  </a:lnTo>
                  <a:close/>
                  <a:moveTo>
                    <a:pt x="62" y="88"/>
                  </a:moveTo>
                  <a:cubicBezTo>
                    <a:pt x="60" y="88"/>
                    <a:pt x="60" y="88"/>
                    <a:pt x="60" y="88"/>
                  </a:cubicBezTo>
                  <a:cubicBezTo>
                    <a:pt x="52" y="88"/>
                    <a:pt x="44" y="89"/>
                    <a:pt x="36" y="91"/>
                  </a:cubicBezTo>
                  <a:cubicBezTo>
                    <a:pt x="34" y="92"/>
                    <a:pt x="34" y="92"/>
                    <a:pt x="34" y="92"/>
                  </a:cubicBezTo>
                  <a:cubicBezTo>
                    <a:pt x="34" y="90"/>
                    <a:pt x="34" y="90"/>
                    <a:pt x="34" y="90"/>
                  </a:cubicBezTo>
                  <a:cubicBezTo>
                    <a:pt x="31" y="83"/>
                    <a:pt x="29" y="76"/>
                    <a:pt x="29" y="68"/>
                  </a:cubicBezTo>
                  <a:cubicBezTo>
                    <a:pt x="29" y="66"/>
                    <a:pt x="29" y="66"/>
                    <a:pt x="29" y="66"/>
                  </a:cubicBezTo>
                  <a:cubicBezTo>
                    <a:pt x="62" y="66"/>
                    <a:pt x="62" y="66"/>
                    <a:pt x="62" y="66"/>
                  </a:cubicBezTo>
                  <a:lnTo>
                    <a:pt x="62" y="88"/>
                  </a:lnTo>
                  <a:close/>
                  <a:moveTo>
                    <a:pt x="62" y="62"/>
                  </a:moveTo>
                  <a:cubicBezTo>
                    <a:pt x="29" y="62"/>
                    <a:pt x="29" y="62"/>
                    <a:pt x="29" y="62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9" y="52"/>
                    <a:pt x="31" y="45"/>
                    <a:pt x="34" y="38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44" y="39"/>
                    <a:pt x="52" y="40"/>
                    <a:pt x="60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2" y="62"/>
                  </a:lnTo>
                  <a:close/>
                  <a:moveTo>
                    <a:pt x="62" y="36"/>
                  </a:moveTo>
                  <a:cubicBezTo>
                    <a:pt x="60" y="36"/>
                    <a:pt x="60" y="36"/>
                    <a:pt x="60" y="36"/>
                  </a:cubicBezTo>
                  <a:cubicBezTo>
                    <a:pt x="53" y="35"/>
                    <a:pt x="45" y="34"/>
                    <a:pt x="38" y="33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40" y="25"/>
                    <a:pt x="44" y="21"/>
                    <a:pt x="48" y="17"/>
                  </a:cubicBezTo>
                  <a:cubicBezTo>
                    <a:pt x="52" y="13"/>
                    <a:pt x="55" y="10"/>
                    <a:pt x="60" y="7"/>
                  </a:cubicBezTo>
                  <a:cubicBezTo>
                    <a:pt x="62" y="6"/>
                    <a:pt x="62" y="6"/>
                    <a:pt x="62" y="6"/>
                  </a:cubicBezTo>
                  <a:lnTo>
                    <a:pt x="62" y="36"/>
                  </a:lnTo>
                  <a:close/>
                  <a:moveTo>
                    <a:pt x="111" y="30"/>
                  </a:moveTo>
                  <a:cubicBezTo>
                    <a:pt x="112" y="29"/>
                    <a:pt x="112" y="29"/>
                    <a:pt x="112" y="29"/>
                  </a:cubicBezTo>
                  <a:cubicBezTo>
                    <a:pt x="113" y="30"/>
                    <a:pt x="113" y="30"/>
                    <a:pt x="113" y="30"/>
                  </a:cubicBezTo>
                  <a:cubicBezTo>
                    <a:pt x="115" y="33"/>
                    <a:pt x="117" y="37"/>
                    <a:pt x="119" y="41"/>
                  </a:cubicBezTo>
                  <a:cubicBezTo>
                    <a:pt x="121" y="47"/>
                    <a:pt x="123" y="54"/>
                    <a:pt x="123" y="60"/>
                  </a:cubicBezTo>
                  <a:cubicBezTo>
                    <a:pt x="123" y="62"/>
                    <a:pt x="123" y="62"/>
                    <a:pt x="123" y="62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4" y="60"/>
                    <a:pt x="104" y="60"/>
                    <a:pt x="104" y="60"/>
                  </a:cubicBezTo>
                  <a:cubicBezTo>
                    <a:pt x="104" y="52"/>
                    <a:pt x="102" y="44"/>
                    <a:pt x="98" y="36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3" y="33"/>
                    <a:pt x="107" y="31"/>
                    <a:pt x="111" y="30"/>
                  </a:cubicBezTo>
                  <a:close/>
                  <a:moveTo>
                    <a:pt x="80" y="7"/>
                  </a:moveTo>
                  <a:cubicBezTo>
                    <a:pt x="82" y="7"/>
                    <a:pt x="85" y="8"/>
                    <a:pt x="87" y="9"/>
                  </a:cubicBezTo>
                  <a:cubicBezTo>
                    <a:pt x="94" y="12"/>
                    <a:pt x="101" y="17"/>
                    <a:pt x="106" y="22"/>
                  </a:cubicBezTo>
                  <a:cubicBezTo>
                    <a:pt x="107" y="23"/>
                    <a:pt x="107" y="23"/>
                    <a:pt x="108" y="24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4" y="28"/>
                    <a:pt x="101" y="29"/>
                    <a:pt x="97" y="30"/>
                  </a:cubicBezTo>
                  <a:cubicBezTo>
                    <a:pt x="96" y="31"/>
                    <a:pt x="96" y="31"/>
                    <a:pt x="96" y="31"/>
                  </a:cubicBezTo>
                  <a:cubicBezTo>
                    <a:pt x="95" y="30"/>
                    <a:pt x="95" y="30"/>
                    <a:pt x="95" y="30"/>
                  </a:cubicBezTo>
                  <a:cubicBezTo>
                    <a:pt x="91" y="22"/>
                    <a:pt x="85" y="15"/>
                    <a:pt x="79" y="9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80" y="7"/>
                  </a:lnTo>
                  <a:close/>
                  <a:moveTo>
                    <a:pt x="66" y="6"/>
                  </a:moveTo>
                  <a:cubicBezTo>
                    <a:pt x="68" y="7"/>
                    <a:pt x="68" y="7"/>
                    <a:pt x="68" y="7"/>
                  </a:cubicBezTo>
                  <a:cubicBezTo>
                    <a:pt x="73" y="10"/>
                    <a:pt x="76" y="13"/>
                    <a:pt x="80" y="16"/>
                  </a:cubicBezTo>
                  <a:cubicBezTo>
                    <a:pt x="84" y="21"/>
                    <a:pt x="88" y="25"/>
                    <a:pt x="91" y="31"/>
                  </a:cubicBezTo>
                  <a:cubicBezTo>
                    <a:pt x="91" y="32"/>
                    <a:pt x="91" y="32"/>
                    <a:pt x="91" y="32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83" y="34"/>
                    <a:pt x="75" y="35"/>
                    <a:pt x="68" y="36"/>
                  </a:cubicBezTo>
                  <a:cubicBezTo>
                    <a:pt x="66" y="36"/>
                    <a:pt x="66" y="36"/>
                    <a:pt x="66" y="36"/>
                  </a:cubicBezTo>
                  <a:lnTo>
                    <a:pt x="66" y="6"/>
                  </a:lnTo>
                  <a:close/>
                  <a:moveTo>
                    <a:pt x="66" y="40"/>
                  </a:moveTo>
                  <a:cubicBezTo>
                    <a:pt x="68" y="40"/>
                    <a:pt x="68" y="40"/>
                    <a:pt x="68" y="40"/>
                  </a:cubicBezTo>
                  <a:cubicBezTo>
                    <a:pt x="76" y="40"/>
                    <a:pt x="84" y="39"/>
                    <a:pt x="92" y="37"/>
                  </a:cubicBezTo>
                  <a:cubicBezTo>
                    <a:pt x="94" y="36"/>
                    <a:pt x="94" y="36"/>
                    <a:pt x="94" y="36"/>
                  </a:cubicBezTo>
                  <a:cubicBezTo>
                    <a:pt x="94" y="38"/>
                    <a:pt x="94" y="38"/>
                    <a:pt x="94" y="38"/>
                  </a:cubicBezTo>
                  <a:cubicBezTo>
                    <a:pt x="97" y="45"/>
                    <a:pt x="99" y="52"/>
                    <a:pt x="99" y="60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66" y="62"/>
                    <a:pt x="66" y="62"/>
                    <a:pt x="66" y="62"/>
                  </a:cubicBezTo>
                  <a:lnTo>
                    <a:pt x="66" y="40"/>
                  </a:lnTo>
                  <a:close/>
                  <a:moveTo>
                    <a:pt x="66" y="66"/>
                  </a:moveTo>
                  <a:cubicBezTo>
                    <a:pt x="99" y="66"/>
                    <a:pt x="99" y="66"/>
                    <a:pt x="99" y="66"/>
                  </a:cubicBezTo>
                  <a:cubicBezTo>
                    <a:pt x="99" y="68"/>
                    <a:pt x="99" y="68"/>
                    <a:pt x="99" y="68"/>
                  </a:cubicBezTo>
                  <a:cubicBezTo>
                    <a:pt x="99" y="76"/>
                    <a:pt x="97" y="83"/>
                    <a:pt x="94" y="90"/>
                  </a:cubicBezTo>
                  <a:cubicBezTo>
                    <a:pt x="94" y="91"/>
                    <a:pt x="94" y="91"/>
                    <a:pt x="94" y="91"/>
                  </a:cubicBezTo>
                  <a:cubicBezTo>
                    <a:pt x="92" y="91"/>
                    <a:pt x="92" y="91"/>
                    <a:pt x="92" y="91"/>
                  </a:cubicBezTo>
                  <a:cubicBezTo>
                    <a:pt x="84" y="89"/>
                    <a:pt x="76" y="88"/>
                    <a:pt x="68" y="88"/>
                  </a:cubicBezTo>
                  <a:cubicBezTo>
                    <a:pt x="66" y="88"/>
                    <a:pt x="66" y="88"/>
                    <a:pt x="66" y="88"/>
                  </a:cubicBezTo>
                  <a:lnTo>
                    <a:pt x="66" y="66"/>
                  </a:lnTo>
                  <a:close/>
                  <a:moveTo>
                    <a:pt x="66" y="122"/>
                  </a:moveTo>
                  <a:cubicBezTo>
                    <a:pt x="66" y="92"/>
                    <a:pt x="66" y="92"/>
                    <a:pt x="66" y="92"/>
                  </a:cubicBezTo>
                  <a:cubicBezTo>
                    <a:pt x="68" y="92"/>
                    <a:pt x="68" y="92"/>
                    <a:pt x="68" y="92"/>
                  </a:cubicBezTo>
                  <a:cubicBezTo>
                    <a:pt x="75" y="93"/>
                    <a:pt x="83" y="94"/>
                    <a:pt x="90" y="95"/>
                  </a:cubicBezTo>
                  <a:cubicBezTo>
                    <a:pt x="91" y="96"/>
                    <a:pt x="91" y="96"/>
                    <a:pt x="91" y="96"/>
                  </a:cubicBezTo>
                  <a:cubicBezTo>
                    <a:pt x="91" y="97"/>
                    <a:pt x="91" y="97"/>
                    <a:pt x="91" y="97"/>
                  </a:cubicBezTo>
                  <a:cubicBezTo>
                    <a:pt x="88" y="103"/>
                    <a:pt x="84" y="107"/>
                    <a:pt x="80" y="112"/>
                  </a:cubicBezTo>
                  <a:cubicBezTo>
                    <a:pt x="76" y="115"/>
                    <a:pt x="73" y="118"/>
                    <a:pt x="68" y="121"/>
                  </a:cubicBezTo>
                  <a:lnTo>
                    <a:pt x="66" y="122"/>
                  </a:lnTo>
                  <a:close/>
                  <a:moveTo>
                    <a:pt x="108" y="104"/>
                  </a:moveTo>
                  <a:cubicBezTo>
                    <a:pt x="107" y="105"/>
                    <a:pt x="107" y="105"/>
                    <a:pt x="106" y="106"/>
                  </a:cubicBezTo>
                  <a:cubicBezTo>
                    <a:pt x="101" y="112"/>
                    <a:pt x="94" y="116"/>
                    <a:pt x="87" y="119"/>
                  </a:cubicBezTo>
                  <a:cubicBezTo>
                    <a:pt x="85" y="120"/>
                    <a:pt x="82" y="121"/>
                    <a:pt x="80" y="121"/>
                  </a:cubicBezTo>
                  <a:cubicBezTo>
                    <a:pt x="74" y="123"/>
                    <a:pt x="74" y="123"/>
                    <a:pt x="74" y="123"/>
                  </a:cubicBezTo>
                  <a:cubicBezTo>
                    <a:pt x="79" y="119"/>
                    <a:pt x="79" y="119"/>
                    <a:pt x="79" y="119"/>
                  </a:cubicBezTo>
                  <a:cubicBezTo>
                    <a:pt x="85" y="113"/>
                    <a:pt x="91" y="106"/>
                    <a:pt x="95" y="98"/>
                  </a:cubicBezTo>
                  <a:cubicBezTo>
                    <a:pt x="96" y="97"/>
                    <a:pt x="96" y="97"/>
                    <a:pt x="96" y="97"/>
                  </a:cubicBezTo>
                  <a:cubicBezTo>
                    <a:pt x="97" y="98"/>
                    <a:pt x="97" y="98"/>
                    <a:pt x="97" y="98"/>
                  </a:cubicBezTo>
                  <a:cubicBezTo>
                    <a:pt x="101" y="99"/>
                    <a:pt x="104" y="100"/>
                    <a:pt x="107" y="102"/>
                  </a:cubicBezTo>
                  <a:cubicBezTo>
                    <a:pt x="109" y="103"/>
                    <a:pt x="109" y="103"/>
                    <a:pt x="109" y="103"/>
                  </a:cubicBezTo>
                  <a:lnTo>
                    <a:pt x="108" y="104"/>
                  </a:lnTo>
                  <a:close/>
                  <a:moveTo>
                    <a:pt x="123" y="68"/>
                  </a:moveTo>
                  <a:cubicBezTo>
                    <a:pt x="123" y="74"/>
                    <a:pt x="121" y="81"/>
                    <a:pt x="119" y="87"/>
                  </a:cubicBezTo>
                  <a:cubicBezTo>
                    <a:pt x="117" y="91"/>
                    <a:pt x="115" y="95"/>
                    <a:pt x="113" y="98"/>
                  </a:cubicBezTo>
                  <a:cubicBezTo>
                    <a:pt x="112" y="99"/>
                    <a:pt x="112" y="99"/>
                    <a:pt x="112" y="99"/>
                  </a:cubicBezTo>
                  <a:cubicBezTo>
                    <a:pt x="111" y="98"/>
                    <a:pt x="111" y="98"/>
                    <a:pt x="111" y="98"/>
                  </a:cubicBezTo>
                  <a:cubicBezTo>
                    <a:pt x="107" y="97"/>
                    <a:pt x="103" y="95"/>
                    <a:pt x="99" y="94"/>
                  </a:cubicBezTo>
                  <a:cubicBezTo>
                    <a:pt x="98" y="93"/>
                    <a:pt x="98" y="93"/>
                    <a:pt x="98" y="93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102" y="84"/>
                    <a:pt x="104" y="76"/>
                    <a:pt x="104" y="68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23" y="66"/>
                    <a:pt x="123" y="66"/>
                    <a:pt x="123" y="66"/>
                  </a:cubicBezTo>
                  <a:lnTo>
                    <a:pt x="123" y="6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388EF3E4-B969-B17E-3111-215E8820BF64}"/>
              </a:ext>
            </a:extLst>
          </p:cNvPr>
          <p:cNvGrpSpPr/>
          <p:nvPr/>
        </p:nvGrpSpPr>
        <p:grpSpPr>
          <a:xfrm>
            <a:off x="5008701" y="2987611"/>
            <a:ext cx="504000" cy="504000"/>
            <a:chOff x="4613213" y="4247997"/>
            <a:chExt cx="504000" cy="504000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4E7917DB-7AEA-ED8D-9B3D-C586B7373E34}"/>
                </a:ext>
              </a:extLst>
            </p:cNvPr>
            <p:cNvSpPr/>
            <p:nvPr/>
          </p:nvSpPr>
          <p:spPr>
            <a:xfrm>
              <a:off x="4613213" y="4247997"/>
              <a:ext cx="504000" cy="504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79" name="Freeform 70">
              <a:extLst>
                <a:ext uri="{FF2B5EF4-FFF2-40B4-BE49-F238E27FC236}">
                  <a16:creationId xmlns:a16="http://schemas.microsoft.com/office/drawing/2014/main" id="{17E1FBEB-9998-09A0-89D1-92611C282E4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703213" y="4337463"/>
              <a:ext cx="324000" cy="325068"/>
            </a:xfrm>
            <a:custGeom>
              <a:avLst/>
              <a:gdLst>
                <a:gd name="T0" fmla="*/ 111 w 128"/>
                <a:gd name="T1" fmla="*/ 62 h 128"/>
                <a:gd name="T2" fmla="*/ 68 w 128"/>
                <a:gd name="T3" fmla="*/ 17 h 128"/>
                <a:gd name="T4" fmla="*/ 66 w 128"/>
                <a:gd name="T5" fmla="*/ 2 h 128"/>
                <a:gd name="T6" fmla="*/ 62 w 128"/>
                <a:gd name="T7" fmla="*/ 2 h 128"/>
                <a:gd name="T8" fmla="*/ 60 w 128"/>
                <a:gd name="T9" fmla="*/ 17 h 128"/>
                <a:gd name="T10" fmla="*/ 17 w 128"/>
                <a:gd name="T11" fmla="*/ 62 h 128"/>
                <a:gd name="T12" fmla="*/ 0 w 128"/>
                <a:gd name="T13" fmla="*/ 64 h 128"/>
                <a:gd name="T14" fmla="*/ 17 w 128"/>
                <a:gd name="T15" fmla="*/ 66 h 128"/>
                <a:gd name="T16" fmla="*/ 60 w 128"/>
                <a:gd name="T17" fmla="*/ 111 h 128"/>
                <a:gd name="T18" fmla="*/ 62 w 128"/>
                <a:gd name="T19" fmla="*/ 126 h 128"/>
                <a:gd name="T20" fmla="*/ 66 w 128"/>
                <a:gd name="T21" fmla="*/ 126 h 128"/>
                <a:gd name="T22" fmla="*/ 68 w 128"/>
                <a:gd name="T23" fmla="*/ 111 h 128"/>
                <a:gd name="T24" fmla="*/ 111 w 128"/>
                <a:gd name="T25" fmla="*/ 66 h 128"/>
                <a:gd name="T26" fmla="*/ 128 w 128"/>
                <a:gd name="T27" fmla="*/ 64 h 128"/>
                <a:gd name="T28" fmla="*/ 62 w 128"/>
                <a:gd name="T29" fmla="*/ 106 h 128"/>
                <a:gd name="T30" fmla="*/ 48 w 128"/>
                <a:gd name="T31" fmla="*/ 103 h 128"/>
                <a:gd name="T32" fmla="*/ 25 w 128"/>
                <a:gd name="T33" fmla="*/ 80 h 128"/>
                <a:gd name="T34" fmla="*/ 22 w 128"/>
                <a:gd name="T35" fmla="*/ 66 h 128"/>
                <a:gd name="T36" fmla="*/ 62 w 128"/>
                <a:gd name="T37" fmla="*/ 106 h 128"/>
                <a:gd name="T38" fmla="*/ 22 w 128"/>
                <a:gd name="T39" fmla="*/ 62 h 128"/>
                <a:gd name="T40" fmla="*/ 25 w 128"/>
                <a:gd name="T41" fmla="*/ 48 h 128"/>
                <a:gd name="T42" fmla="*/ 48 w 128"/>
                <a:gd name="T43" fmla="*/ 25 h 128"/>
                <a:gd name="T44" fmla="*/ 62 w 128"/>
                <a:gd name="T45" fmla="*/ 22 h 128"/>
                <a:gd name="T46" fmla="*/ 106 w 128"/>
                <a:gd name="T47" fmla="*/ 68 h 128"/>
                <a:gd name="T48" fmla="*/ 94 w 128"/>
                <a:gd name="T49" fmla="*/ 94 h 128"/>
                <a:gd name="T50" fmla="*/ 68 w 128"/>
                <a:gd name="T51" fmla="*/ 106 h 128"/>
                <a:gd name="T52" fmla="*/ 66 w 128"/>
                <a:gd name="T53" fmla="*/ 66 h 128"/>
                <a:gd name="T54" fmla="*/ 106 w 128"/>
                <a:gd name="T55" fmla="*/ 68 h 128"/>
                <a:gd name="T56" fmla="*/ 66 w 128"/>
                <a:gd name="T57" fmla="*/ 22 h 128"/>
                <a:gd name="T58" fmla="*/ 80 w 128"/>
                <a:gd name="T59" fmla="*/ 25 h 128"/>
                <a:gd name="T60" fmla="*/ 103 w 128"/>
                <a:gd name="T61" fmla="*/ 48 h 128"/>
                <a:gd name="T62" fmla="*/ 106 w 128"/>
                <a:gd name="T63" fmla="*/ 6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8" h="128">
                  <a:moveTo>
                    <a:pt x="126" y="62"/>
                  </a:moveTo>
                  <a:cubicBezTo>
                    <a:pt x="111" y="62"/>
                    <a:pt x="111" y="62"/>
                    <a:pt x="111" y="62"/>
                  </a:cubicBezTo>
                  <a:cubicBezTo>
                    <a:pt x="111" y="60"/>
                    <a:pt x="111" y="60"/>
                    <a:pt x="111" y="60"/>
                  </a:cubicBezTo>
                  <a:cubicBezTo>
                    <a:pt x="109" y="38"/>
                    <a:pt x="90" y="19"/>
                    <a:pt x="68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66" y="1"/>
                    <a:pt x="65" y="0"/>
                    <a:pt x="64" y="0"/>
                  </a:cubicBezTo>
                  <a:cubicBezTo>
                    <a:pt x="63" y="0"/>
                    <a:pt x="62" y="1"/>
                    <a:pt x="62" y="2"/>
                  </a:cubicBezTo>
                  <a:cubicBezTo>
                    <a:pt x="62" y="17"/>
                    <a:pt x="62" y="17"/>
                    <a:pt x="62" y="17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38" y="19"/>
                    <a:pt x="19" y="38"/>
                    <a:pt x="17" y="60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2" y="62"/>
                    <a:pt x="2" y="62"/>
                    <a:pt x="2" y="62"/>
                  </a:cubicBezTo>
                  <a:cubicBezTo>
                    <a:pt x="1" y="62"/>
                    <a:pt x="0" y="63"/>
                    <a:pt x="0" y="64"/>
                  </a:cubicBezTo>
                  <a:cubicBezTo>
                    <a:pt x="0" y="65"/>
                    <a:pt x="1" y="66"/>
                    <a:pt x="2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8"/>
                    <a:pt x="17" y="68"/>
                    <a:pt x="17" y="68"/>
                  </a:cubicBezTo>
                  <a:cubicBezTo>
                    <a:pt x="19" y="90"/>
                    <a:pt x="38" y="109"/>
                    <a:pt x="60" y="111"/>
                  </a:cubicBezTo>
                  <a:cubicBezTo>
                    <a:pt x="62" y="111"/>
                    <a:pt x="62" y="111"/>
                    <a:pt x="62" y="111"/>
                  </a:cubicBezTo>
                  <a:cubicBezTo>
                    <a:pt x="62" y="126"/>
                    <a:pt x="62" y="126"/>
                    <a:pt x="62" y="126"/>
                  </a:cubicBezTo>
                  <a:cubicBezTo>
                    <a:pt x="62" y="127"/>
                    <a:pt x="63" y="128"/>
                    <a:pt x="64" y="128"/>
                  </a:cubicBezTo>
                  <a:cubicBezTo>
                    <a:pt x="65" y="128"/>
                    <a:pt x="66" y="127"/>
                    <a:pt x="66" y="126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8" y="111"/>
                    <a:pt x="68" y="111"/>
                    <a:pt x="68" y="111"/>
                  </a:cubicBezTo>
                  <a:cubicBezTo>
                    <a:pt x="90" y="109"/>
                    <a:pt x="109" y="90"/>
                    <a:pt x="111" y="68"/>
                  </a:cubicBezTo>
                  <a:cubicBezTo>
                    <a:pt x="111" y="66"/>
                    <a:pt x="111" y="66"/>
                    <a:pt x="111" y="66"/>
                  </a:cubicBezTo>
                  <a:cubicBezTo>
                    <a:pt x="126" y="66"/>
                    <a:pt x="126" y="66"/>
                    <a:pt x="126" y="66"/>
                  </a:cubicBezTo>
                  <a:cubicBezTo>
                    <a:pt x="127" y="66"/>
                    <a:pt x="128" y="65"/>
                    <a:pt x="128" y="64"/>
                  </a:cubicBezTo>
                  <a:cubicBezTo>
                    <a:pt x="128" y="63"/>
                    <a:pt x="127" y="62"/>
                    <a:pt x="126" y="62"/>
                  </a:cubicBezTo>
                  <a:close/>
                  <a:moveTo>
                    <a:pt x="62" y="106"/>
                  </a:moveTo>
                  <a:cubicBezTo>
                    <a:pt x="60" y="106"/>
                    <a:pt x="60" y="106"/>
                    <a:pt x="60" y="106"/>
                  </a:cubicBezTo>
                  <a:cubicBezTo>
                    <a:pt x="56" y="106"/>
                    <a:pt x="52" y="105"/>
                    <a:pt x="48" y="103"/>
                  </a:cubicBezTo>
                  <a:cubicBezTo>
                    <a:pt x="43" y="101"/>
                    <a:pt x="38" y="98"/>
                    <a:pt x="34" y="94"/>
                  </a:cubicBezTo>
                  <a:cubicBezTo>
                    <a:pt x="30" y="90"/>
                    <a:pt x="27" y="85"/>
                    <a:pt x="25" y="80"/>
                  </a:cubicBezTo>
                  <a:cubicBezTo>
                    <a:pt x="23" y="76"/>
                    <a:pt x="22" y="72"/>
                    <a:pt x="22" y="68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62" y="66"/>
                    <a:pt x="62" y="66"/>
                    <a:pt x="62" y="66"/>
                  </a:cubicBezTo>
                  <a:lnTo>
                    <a:pt x="62" y="106"/>
                  </a:lnTo>
                  <a:close/>
                  <a:moveTo>
                    <a:pt x="62" y="62"/>
                  </a:moveTo>
                  <a:cubicBezTo>
                    <a:pt x="22" y="62"/>
                    <a:pt x="22" y="62"/>
                    <a:pt x="22" y="62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2" y="56"/>
                    <a:pt x="23" y="52"/>
                    <a:pt x="25" y="48"/>
                  </a:cubicBezTo>
                  <a:cubicBezTo>
                    <a:pt x="27" y="43"/>
                    <a:pt x="30" y="38"/>
                    <a:pt x="34" y="34"/>
                  </a:cubicBezTo>
                  <a:cubicBezTo>
                    <a:pt x="38" y="30"/>
                    <a:pt x="43" y="27"/>
                    <a:pt x="48" y="25"/>
                  </a:cubicBezTo>
                  <a:cubicBezTo>
                    <a:pt x="52" y="23"/>
                    <a:pt x="56" y="22"/>
                    <a:pt x="60" y="22"/>
                  </a:cubicBezTo>
                  <a:cubicBezTo>
                    <a:pt x="62" y="22"/>
                    <a:pt x="62" y="22"/>
                    <a:pt x="62" y="22"/>
                  </a:cubicBezTo>
                  <a:lnTo>
                    <a:pt x="62" y="62"/>
                  </a:lnTo>
                  <a:close/>
                  <a:moveTo>
                    <a:pt x="106" y="68"/>
                  </a:moveTo>
                  <a:cubicBezTo>
                    <a:pt x="106" y="72"/>
                    <a:pt x="105" y="76"/>
                    <a:pt x="103" y="80"/>
                  </a:cubicBezTo>
                  <a:cubicBezTo>
                    <a:pt x="101" y="85"/>
                    <a:pt x="98" y="90"/>
                    <a:pt x="94" y="94"/>
                  </a:cubicBezTo>
                  <a:cubicBezTo>
                    <a:pt x="90" y="98"/>
                    <a:pt x="85" y="101"/>
                    <a:pt x="80" y="103"/>
                  </a:cubicBezTo>
                  <a:cubicBezTo>
                    <a:pt x="76" y="105"/>
                    <a:pt x="72" y="106"/>
                    <a:pt x="68" y="106"/>
                  </a:cubicBezTo>
                  <a:cubicBezTo>
                    <a:pt x="66" y="106"/>
                    <a:pt x="66" y="106"/>
                    <a:pt x="66" y="106"/>
                  </a:cubicBezTo>
                  <a:cubicBezTo>
                    <a:pt x="66" y="66"/>
                    <a:pt x="66" y="66"/>
                    <a:pt x="66" y="66"/>
                  </a:cubicBezTo>
                  <a:cubicBezTo>
                    <a:pt x="106" y="66"/>
                    <a:pt x="106" y="66"/>
                    <a:pt x="106" y="66"/>
                  </a:cubicBezTo>
                  <a:lnTo>
                    <a:pt x="106" y="68"/>
                  </a:lnTo>
                  <a:close/>
                  <a:moveTo>
                    <a:pt x="66" y="62"/>
                  </a:moveTo>
                  <a:cubicBezTo>
                    <a:pt x="66" y="22"/>
                    <a:pt x="66" y="22"/>
                    <a:pt x="66" y="22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72" y="22"/>
                    <a:pt x="76" y="23"/>
                    <a:pt x="80" y="25"/>
                  </a:cubicBezTo>
                  <a:cubicBezTo>
                    <a:pt x="85" y="27"/>
                    <a:pt x="90" y="30"/>
                    <a:pt x="94" y="34"/>
                  </a:cubicBezTo>
                  <a:cubicBezTo>
                    <a:pt x="98" y="38"/>
                    <a:pt x="101" y="43"/>
                    <a:pt x="103" y="48"/>
                  </a:cubicBezTo>
                  <a:cubicBezTo>
                    <a:pt x="105" y="52"/>
                    <a:pt x="106" y="56"/>
                    <a:pt x="106" y="60"/>
                  </a:cubicBezTo>
                  <a:cubicBezTo>
                    <a:pt x="106" y="62"/>
                    <a:pt x="106" y="62"/>
                    <a:pt x="106" y="62"/>
                  </a:cubicBezTo>
                  <a:lnTo>
                    <a:pt x="66" y="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D7274A0C-1522-44BB-3EE7-FC7B71D2715B}"/>
              </a:ext>
            </a:extLst>
          </p:cNvPr>
          <p:cNvGrpSpPr/>
          <p:nvPr/>
        </p:nvGrpSpPr>
        <p:grpSpPr>
          <a:xfrm>
            <a:off x="6687312" y="1325209"/>
            <a:ext cx="504000" cy="504000"/>
            <a:chOff x="7982080" y="3120819"/>
            <a:chExt cx="504000" cy="504000"/>
          </a:xfrm>
        </p:grpSpPr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46D466CF-2EE5-3D0D-A414-58760BC9202D}"/>
                </a:ext>
              </a:extLst>
            </p:cNvPr>
            <p:cNvSpPr/>
            <p:nvPr/>
          </p:nvSpPr>
          <p:spPr>
            <a:xfrm>
              <a:off x="7982080" y="3120819"/>
              <a:ext cx="504000" cy="504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82" name="Freeform 73">
              <a:extLst>
                <a:ext uri="{FF2B5EF4-FFF2-40B4-BE49-F238E27FC236}">
                  <a16:creationId xmlns:a16="http://schemas.microsoft.com/office/drawing/2014/main" id="{7F7CA0F7-0BC1-B024-C92F-5F9B85FA909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072080" y="3190343"/>
              <a:ext cx="324000" cy="364952"/>
            </a:xfrm>
            <a:custGeom>
              <a:avLst/>
              <a:gdLst>
                <a:gd name="T0" fmla="*/ 114 w 114"/>
                <a:gd name="T1" fmla="*/ 95 h 128"/>
                <a:gd name="T2" fmla="*/ 114 w 114"/>
                <a:gd name="T3" fmla="*/ 34 h 128"/>
                <a:gd name="T4" fmla="*/ 112 w 114"/>
                <a:gd name="T5" fmla="*/ 32 h 128"/>
                <a:gd name="T6" fmla="*/ 58 w 114"/>
                <a:gd name="T7" fmla="*/ 1 h 128"/>
                <a:gd name="T8" fmla="*/ 57 w 114"/>
                <a:gd name="T9" fmla="*/ 0 h 128"/>
                <a:gd name="T10" fmla="*/ 56 w 114"/>
                <a:gd name="T11" fmla="*/ 1 h 128"/>
                <a:gd name="T12" fmla="*/ 1 w 114"/>
                <a:gd name="T13" fmla="*/ 32 h 128"/>
                <a:gd name="T14" fmla="*/ 0 w 114"/>
                <a:gd name="T15" fmla="*/ 34 h 128"/>
                <a:gd name="T16" fmla="*/ 0 w 114"/>
                <a:gd name="T17" fmla="*/ 94 h 128"/>
                <a:gd name="T18" fmla="*/ 0 w 114"/>
                <a:gd name="T19" fmla="*/ 95 h 128"/>
                <a:gd name="T20" fmla="*/ 1 w 114"/>
                <a:gd name="T21" fmla="*/ 97 h 128"/>
                <a:gd name="T22" fmla="*/ 56 w 114"/>
                <a:gd name="T23" fmla="*/ 128 h 128"/>
                <a:gd name="T24" fmla="*/ 58 w 114"/>
                <a:gd name="T25" fmla="*/ 128 h 128"/>
                <a:gd name="T26" fmla="*/ 112 w 114"/>
                <a:gd name="T27" fmla="*/ 97 h 128"/>
                <a:gd name="T28" fmla="*/ 114 w 114"/>
                <a:gd name="T29" fmla="*/ 95 h 128"/>
                <a:gd name="T30" fmla="*/ 55 w 114"/>
                <a:gd name="T31" fmla="*/ 122 h 128"/>
                <a:gd name="T32" fmla="*/ 5 w 114"/>
                <a:gd name="T33" fmla="*/ 93 h 128"/>
                <a:gd name="T34" fmla="*/ 5 w 114"/>
                <a:gd name="T35" fmla="*/ 38 h 128"/>
                <a:gd name="T36" fmla="*/ 55 w 114"/>
                <a:gd name="T37" fmla="*/ 67 h 128"/>
                <a:gd name="T38" fmla="*/ 55 w 114"/>
                <a:gd name="T39" fmla="*/ 122 h 128"/>
                <a:gd name="T40" fmla="*/ 57 w 114"/>
                <a:gd name="T41" fmla="*/ 63 h 128"/>
                <a:gd name="T42" fmla="*/ 7 w 114"/>
                <a:gd name="T43" fmla="*/ 34 h 128"/>
                <a:gd name="T44" fmla="*/ 57 w 114"/>
                <a:gd name="T45" fmla="*/ 5 h 128"/>
                <a:gd name="T46" fmla="*/ 107 w 114"/>
                <a:gd name="T47" fmla="*/ 34 h 128"/>
                <a:gd name="T48" fmla="*/ 57 w 114"/>
                <a:gd name="T49" fmla="*/ 63 h 128"/>
                <a:gd name="T50" fmla="*/ 109 w 114"/>
                <a:gd name="T51" fmla="*/ 93 h 128"/>
                <a:gd name="T52" fmla="*/ 59 w 114"/>
                <a:gd name="T53" fmla="*/ 122 h 128"/>
                <a:gd name="T54" fmla="*/ 59 w 114"/>
                <a:gd name="T55" fmla="*/ 67 h 128"/>
                <a:gd name="T56" fmla="*/ 109 w 114"/>
                <a:gd name="T57" fmla="*/ 38 h 128"/>
                <a:gd name="T58" fmla="*/ 109 w 114"/>
                <a:gd name="T59" fmla="*/ 9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14" h="128">
                  <a:moveTo>
                    <a:pt x="114" y="95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3" y="32"/>
                    <a:pt x="112" y="32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8" y="0"/>
                    <a:pt x="57" y="0"/>
                    <a:pt x="57" y="0"/>
                  </a:cubicBezTo>
                  <a:cubicBezTo>
                    <a:pt x="57" y="0"/>
                    <a:pt x="56" y="0"/>
                    <a:pt x="56" y="1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1" y="32"/>
                    <a:pt x="0" y="33"/>
                    <a:pt x="0" y="3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5"/>
                    <a:pt x="0" y="95"/>
                  </a:cubicBezTo>
                  <a:cubicBezTo>
                    <a:pt x="0" y="95"/>
                    <a:pt x="1" y="96"/>
                    <a:pt x="1" y="97"/>
                  </a:cubicBezTo>
                  <a:cubicBezTo>
                    <a:pt x="56" y="128"/>
                    <a:pt x="56" y="128"/>
                    <a:pt x="56" y="128"/>
                  </a:cubicBezTo>
                  <a:cubicBezTo>
                    <a:pt x="56" y="128"/>
                    <a:pt x="57" y="128"/>
                    <a:pt x="58" y="128"/>
                  </a:cubicBezTo>
                  <a:cubicBezTo>
                    <a:pt x="112" y="97"/>
                    <a:pt x="112" y="97"/>
                    <a:pt x="112" y="97"/>
                  </a:cubicBezTo>
                  <a:cubicBezTo>
                    <a:pt x="113" y="96"/>
                    <a:pt x="114" y="95"/>
                    <a:pt x="114" y="95"/>
                  </a:cubicBezTo>
                  <a:close/>
                  <a:moveTo>
                    <a:pt x="55" y="122"/>
                  </a:moveTo>
                  <a:cubicBezTo>
                    <a:pt x="5" y="93"/>
                    <a:pt x="5" y="93"/>
                    <a:pt x="5" y="93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5" y="67"/>
                    <a:pt x="55" y="67"/>
                    <a:pt x="55" y="67"/>
                  </a:cubicBezTo>
                  <a:lnTo>
                    <a:pt x="55" y="122"/>
                  </a:lnTo>
                  <a:close/>
                  <a:moveTo>
                    <a:pt x="57" y="63"/>
                  </a:moveTo>
                  <a:cubicBezTo>
                    <a:pt x="7" y="34"/>
                    <a:pt x="7" y="34"/>
                    <a:pt x="7" y="34"/>
                  </a:cubicBezTo>
                  <a:cubicBezTo>
                    <a:pt x="57" y="5"/>
                    <a:pt x="57" y="5"/>
                    <a:pt x="57" y="5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57" y="63"/>
                  </a:lnTo>
                  <a:close/>
                  <a:moveTo>
                    <a:pt x="109" y="93"/>
                  </a:moveTo>
                  <a:cubicBezTo>
                    <a:pt x="59" y="122"/>
                    <a:pt x="59" y="122"/>
                    <a:pt x="59" y="122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109" y="38"/>
                    <a:pt x="109" y="38"/>
                    <a:pt x="109" y="38"/>
                  </a:cubicBezTo>
                  <a:lnTo>
                    <a:pt x="109" y="9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C1C7138C-E6FF-E4E9-7EB0-B59E0180FA8A}"/>
              </a:ext>
            </a:extLst>
          </p:cNvPr>
          <p:cNvGrpSpPr/>
          <p:nvPr/>
        </p:nvGrpSpPr>
        <p:grpSpPr>
          <a:xfrm>
            <a:off x="5008701" y="4697483"/>
            <a:ext cx="504000" cy="504000"/>
            <a:chOff x="4613213" y="5317762"/>
            <a:chExt cx="504000" cy="504000"/>
          </a:xfrm>
        </p:grpSpPr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26831CFF-5A6F-B9EC-DF44-25BB906C9DBA}"/>
                </a:ext>
              </a:extLst>
            </p:cNvPr>
            <p:cNvSpPr/>
            <p:nvPr/>
          </p:nvSpPr>
          <p:spPr>
            <a:xfrm>
              <a:off x="4613213" y="5317762"/>
              <a:ext cx="504000" cy="504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807B6EAE-3F61-4CEE-5EF8-08E653347A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75213" y="5422357"/>
              <a:ext cx="180000" cy="294810"/>
              <a:chOff x="8350250" y="5110163"/>
              <a:chExt cx="293688" cy="481012"/>
            </a:xfrm>
            <a:solidFill>
              <a:srgbClr val="FFFFFF"/>
            </a:solidFill>
          </p:grpSpPr>
          <p:sp>
            <p:nvSpPr>
              <p:cNvPr id="86" name="Freeform 52">
                <a:extLst>
                  <a:ext uri="{FF2B5EF4-FFF2-40B4-BE49-F238E27FC236}">
                    <a16:creationId xmlns:a16="http://schemas.microsoft.com/office/drawing/2014/main" id="{2DCCC10F-FEFB-07FB-7A67-AF63A95837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50250" y="5327650"/>
                <a:ext cx="293688" cy="263525"/>
              </a:xfrm>
              <a:custGeom>
                <a:avLst/>
                <a:gdLst>
                  <a:gd name="T0" fmla="*/ 69 w 78"/>
                  <a:gd name="T1" fmla="*/ 65 h 70"/>
                  <a:gd name="T2" fmla="*/ 41 w 78"/>
                  <a:gd name="T3" fmla="*/ 65 h 70"/>
                  <a:gd name="T4" fmla="*/ 41 w 78"/>
                  <a:gd name="T5" fmla="*/ 43 h 70"/>
                  <a:gd name="T6" fmla="*/ 43 w 78"/>
                  <a:gd name="T7" fmla="*/ 42 h 70"/>
                  <a:gd name="T8" fmla="*/ 78 w 78"/>
                  <a:gd name="T9" fmla="*/ 3 h 70"/>
                  <a:gd name="T10" fmla="*/ 76 w 78"/>
                  <a:gd name="T11" fmla="*/ 0 h 70"/>
                  <a:gd name="T12" fmla="*/ 74 w 78"/>
                  <a:gd name="T13" fmla="*/ 3 h 70"/>
                  <a:gd name="T14" fmla="*/ 64 w 78"/>
                  <a:gd name="T15" fmla="*/ 27 h 70"/>
                  <a:gd name="T16" fmla="*/ 39 w 78"/>
                  <a:gd name="T17" fmla="*/ 38 h 70"/>
                  <a:gd name="T18" fmla="*/ 14 w 78"/>
                  <a:gd name="T19" fmla="*/ 27 h 70"/>
                  <a:gd name="T20" fmla="*/ 4 w 78"/>
                  <a:gd name="T21" fmla="*/ 4 h 70"/>
                  <a:gd name="T22" fmla="*/ 4 w 78"/>
                  <a:gd name="T23" fmla="*/ 3 h 70"/>
                  <a:gd name="T24" fmla="*/ 2 w 78"/>
                  <a:gd name="T25" fmla="*/ 0 h 70"/>
                  <a:gd name="T26" fmla="*/ 0 w 78"/>
                  <a:gd name="T27" fmla="*/ 2 h 70"/>
                  <a:gd name="T28" fmla="*/ 0 w 78"/>
                  <a:gd name="T29" fmla="*/ 4 h 70"/>
                  <a:gd name="T30" fmla="*/ 35 w 78"/>
                  <a:gd name="T31" fmla="*/ 42 h 70"/>
                  <a:gd name="T32" fmla="*/ 37 w 78"/>
                  <a:gd name="T33" fmla="*/ 43 h 70"/>
                  <a:gd name="T34" fmla="*/ 37 w 78"/>
                  <a:gd name="T35" fmla="*/ 65 h 70"/>
                  <a:gd name="T36" fmla="*/ 9 w 78"/>
                  <a:gd name="T37" fmla="*/ 65 h 70"/>
                  <a:gd name="T38" fmla="*/ 7 w 78"/>
                  <a:gd name="T39" fmla="*/ 68 h 70"/>
                  <a:gd name="T40" fmla="*/ 9 w 78"/>
                  <a:gd name="T41" fmla="*/ 70 h 70"/>
                  <a:gd name="T42" fmla="*/ 69 w 78"/>
                  <a:gd name="T43" fmla="*/ 70 h 70"/>
                  <a:gd name="T44" fmla="*/ 71 w 78"/>
                  <a:gd name="T45" fmla="*/ 68 h 70"/>
                  <a:gd name="T46" fmla="*/ 69 w 78"/>
                  <a:gd name="T47" fmla="*/ 6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8" h="70">
                    <a:moveTo>
                      <a:pt x="69" y="65"/>
                    </a:moveTo>
                    <a:cubicBezTo>
                      <a:pt x="41" y="65"/>
                      <a:pt x="41" y="65"/>
                      <a:pt x="41" y="65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3" y="42"/>
                      <a:pt x="43" y="42"/>
                      <a:pt x="43" y="42"/>
                    </a:cubicBezTo>
                    <a:cubicBezTo>
                      <a:pt x="63" y="40"/>
                      <a:pt x="78" y="23"/>
                      <a:pt x="78" y="3"/>
                    </a:cubicBezTo>
                    <a:cubicBezTo>
                      <a:pt x="78" y="2"/>
                      <a:pt x="77" y="0"/>
                      <a:pt x="76" y="0"/>
                    </a:cubicBezTo>
                    <a:cubicBezTo>
                      <a:pt x="75" y="0"/>
                      <a:pt x="74" y="2"/>
                      <a:pt x="74" y="3"/>
                    </a:cubicBezTo>
                    <a:cubicBezTo>
                      <a:pt x="74" y="12"/>
                      <a:pt x="70" y="21"/>
                      <a:pt x="64" y="27"/>
                    </a:cubicBezTo>
                    <a:cubicBezTo>
                      <a:pt x="57" y="34"/>
                      <a:pt x="48" y="38"/>
                      <a:pt x="39" y="38"/>
                    </a:cubicBezTo>
                    <a:cubicBezTo>
                      <a:pt x="30" y="38"/>
                      <a:pt x="21" y="34"/>
                      <a:pt x="14" y="27"/>
                    </a:cubicBezTo>
                    <a:cubicBezTo>
                      <a:pt x="8" y="21"/>
                      <a:pt x="5" y="13"/>
                      <a:pt x="4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4"/>
                      <a:pt x="15" y="40"/>
                      <a:pt x="35" y="42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7" y="65"/>
                      <a:pt x="37" y="65"/>
                      <a:pt x="37" y="65"/>
                    </a:cubicBezTo>
                    <a:cubicBezTo>
                      <a:pt x="9" y="65"/>
                      <a:pt x="9" y="65"/>
                      <a:pt x="9" y="65"/>
                    </a:cubicBezTo>
                    <a:cubicBezTo>
                      <a:pt x="8" y="65"/>
                      <a:pt x="7" y="66"/>
                      <a:pt x="7" y="68"/>
                    </a:cubicBezTo>
                    <a:cubicBezTo>
                      <a:pt x="7" y="69"/>
                      <a:pt x="8" y="70"/>
                      <a:pt x="9" y="70"/>
                    </a:cubicBezTo>
                    <a:cubicBezTo>
                      <a:pt x="69" y="70"/>
                      <a:pt x="69" y="70"/>
                      <a:pt x="69" y="70"/>
                    </a:cubicBezTo>
                    <a:cubicBezTo>
                      <a:pt x="70" y="70"/>
                      <a:pt x="71" y="69"/>
                      <a:pt x="71" y="68"/>
                    </a:cubicBezTo>
                    <a:cubicBezTo>
                      <a:pt x="71" y="66"/>
                      <a:pt x="70" y="65"/>
                      <a:pt x="69" y="6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  <p:sp>
            <p:nvSpPr>
              <p:cNvPr id="87" name="Freeform 53">
                <a:extLst>
                  <a:ext uri="{FF2B5EF4-FFF2-40B4-BE49-F238E27FC236}">
                    <a16:creationId xmlns:a16="http://schemas.microsoft.com/office/drawing/2014/main" id="{9F7B3BA8-21BB-0948-7AFC-C9B63EA20F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02638" y="5110163"/>
                <a:ext cx="187325" cy="319088"/>
              </a:xfrm>
              <a:custGeom>
                <a:avLst/>
                <a:gdLst>
                  <a:gd name="T0" fmla="*/ 25 w 50"/>
                  <a:gd name="T1" fmla="*/ 85 h 85"/>
                  <a:gd name="T2" fmla="*/ 50 w 50"/>
                  <a:gd name="T3" fmla="*/ 61 h 85"/>
                  <a:gd name="T4" fmla="*/ 50 w 50"/>
                  <a:gd name="T5" fmla="*/ 25 h 85"/>
                  <a:gd name="T6" fmla="*/ 25 w 50"/>
                  <a:gd name="T7" fmla="*/ 0 h 85"/>
                  <a:gd name="T8" fmla="*/ 0 w 50"/>
                  <a:gd name="T9" fmla="*/ 25 h 85"/>
                  <a:gd name="T10" fmla="*/ 0 w 50"/>
                  <a:gd name="T11" fmla="*/ 61 h 85"/>
                  <a:gd name="T12" fmla="*/ 25 w 50"/>
                  <a:gd name="T13" fmla="*/ 85 h 85"/>
                  <a:gd name="T14" fmla="*/ 7 w 50"/>
                  <a:gd name="T15" fmla="*/ 16 h 85"/>
                  <a:gd name="T16" fmla="*/ 11 w 50"/>
                  <a:gd name="T17" fmla="*/ 10 h 85"/>
                  <a:gd name="T18" fmla="*/ 25 w 50"/>
                  <a:gd name="T19" fmla="*/ 5 h 85"/>
                  <a:gd name="T20" fmla="*/ 39 w 50"/>
                  <a:gd name="T21" fmla="*/ 10 h 85"/>
                  <a:gd name="T22" fmla="*/ 43 w 50"/>
                  <a:gd name="T23" fmla="*/ 16 h 85"/>
                  <a:gd name="T24" fmla="*/ 44 w 50"/>
                  <a:gd name="T25" fmla="*/ 18 h 85"/>
                  <a:gd name="T26" fmla="*/ 6 w 50"/>
                  <a:gd name="T27" fmla="*/ 18 h 85"/>
                  <a:gd name="T28" fmla="*/ 7 w 50"/>
                  <a:gd name="T29" fmla="*/ 16 h 85"/>
                  <a:gd name="T30" fmla="*/ 5 w 50"/>
                  <a:gd name="T31" fmla="*/ 23 h 85"/>
                  <a:gd name="T32" fmla="*/ 45 w 50"/>
                  <a:gd name="T33" fmla="*/ 23 h 85"/>
                  <a:gd name="T34" fmla="*/ 45 w 50"/>
                  <a:gd name="T35" fmla="*/ 25 h 85"/>
                  <a:gd name="T36" fmla="*/ 45 w 50"/>
                  <a:gd name="T37" fmla="*/ 33 h 85"/>
                  <a:gd name="T38" fmla="*/ 5 w 50"/>
                  <a:gd name="T39" fmla="*/ 33 h 85"/>
                  <a:gd name="T40" fmla="*/ 5 w 50"/>
                  <a:gd name="T41" fmla="*/ 23 h 85"/>
                  <a:gd name="T42" fmla="*/ 5 w 50"/>
                  <a:gd name="T43" fmla="*/ 37 h 85"/>
                  <a:gd name="T44" fmla="*/ 45 w 50"/>
                  <a:gd name="T45" fmla="*/ 37 h 85"/>
                  <a:gd name="T46" fmla="*/ 45 w 50"/>
                  <a:gd name="T47" fmla="*/ 48 h 85"/>
                  <a:gd name="T48" fmla="*/ 5 w 50"/>
                  <a:gd name="T49" fmla="*/ 48 h 85"/>
                  <a:gd name="T50" fmla="*/ 5 w 50"/>
                  <a:gd name="T51" fmla="*/ 37 h 85"/>
                  <a:gd name="T52" fmla="*/ 5 w 50"/>
                  <a:gd name="T53" fmla="*/ 61 h 85"/>
                  <a:gd name="T54" fmla="*/ 5 w 50"/>
                  <a:gd name="T55" fmla="*/ 52 h 85"/>
                  <a:gd name="T56" fmla="*/ 45 w 50"/>
                  <a:gd name="T57" fmla="*/ 52 h 85"/>
                  <a:gd name="T58" fmla="*/ 45 w 50"/>
                  <a:gd name="T59" fmla="*/ 63 h 85"/>
                  <a:gd name="T60" fmla="*/ 5 w 50"/>
                  <a:gd name="T61" fmla="*/ 63 h 85"/>
                  <a:gd name="T62" fmla="*/ 5 w 50"/>
                  <a:gd name="T63" fmla="*/ 61 h 85"/>
                  <a:gd name="T64" fmla="*/ 6 w 50"/>
                  <a:gd name="T65" fmla="*/ 67 h 85"/>
                  <a:gd name="T66" fmla="*/ 44 w 50"/>
                  <a:gd name="T67" fmla="*/ 67 h 85"/>
                  <a:gd name="T68" fmla="*/ 43 w 50"/>
                  <a:gd name="T69" fmla="*/ 69 h 85"/>
                  <a:gd name="T70" fmla="*/ 39 w 50"/>
                  <a:gd name="T71" fmla="*/ 75 h 85"/>
                  <a:gd name="T72" fmla="*/ 25 w 50"/>
                  <a:gd name="T73" fmla="*/ 81 h 85"/>
                  <a:gd name="T74" fmla="*/ 11 w 50"/>
                  <a:gd name="T75" fmla="*/ 75 h 85"/>
                  <a:gd name="T76" fmla="*/ 7 w 50"/>
                  <a:gd name="T77" fmla="*/ 69 h 85"/>
                  <a:gd name="T78" fmla="*/ 6 w 50"/>
                  <a:gd name="T79" fmla="*/ 67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50" h="85">
                    <a:moveTo>
                      <a:pt x="25" y="85"/>
                    </a:moveTo>
                    <a:cubicBezTo>
                      <a:pt x="39" y="85"/>
                      <a:pt x="50" y="74"/>
                      <a:pt x="50" y="61"/>
                    </a:cubicBezTo>
                    <a:cubicBezTo>
                      <a:pt x="50" y="25"/>
                      <a:pt x="50" y="25"/>
                      <a:pt x="50" y="25"/>
                    </a:cubicBezTo>
                    <a:cubicBezTo>
                      <a:pt x="50" y="11"/>
                      <a:pt x="39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74"/>
                      <a:pt x="11" y="85"/>
                      <a:pt x="25" y="85"/>
                    </a:cubicBezTo>
                    <a:close/>
                    <a:moveTo>
                      <a:pt x="7" y="16"/>
                    </a:moveTo>
                    <a:cubicBezTo>
                      <a:pt x="8" y="14"/>
                      <a:pt x="9" y="12"/>
                      <a:pt x="11" y="10"/>
                    </a:cubicBezTo>
                    <a:cubicBezTo>
                      <a:pt x="15" y="7"/>
                      <a:pt x="20" y="5"/>
                      <a:pt x="25" y="5"/>
                    </a:cubicBezTo>
                    <a:cubicBezTo>
                      <a:pt x="30" y="5"/>
                      <a:pt x="35" y="7"/>
                      <a:pt x="39" y="10"/>
                    </a:cubicBezTo>
                    <a:cubicBezTo>
                      <a:pt x="41" y="12"/>
                      <a:pt x="42" y="14"/>
                      <a:pt x="43" y="16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6" y="18"/>
                      <a:pt x="6" y="18"/>
                      <a:pt x="6" y="18"/>
                    </a:cubicBezTo>
                    <a:lnTo>
                      <a:pt x="7" y="16"/>
                    </a:lnTo>
                    <a:close/>
                    <a:moveTo>
                      <a:pt x="5" y="23"/>
                    </a:move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5"/>
                      <a:pt x="45" y="25"/>
                      <a:pt x="45" y="25"/>
                    </a:cubicBezTo>
                    <a:cubicBezTo>
                      <a:pt x="45" y="33"/>
                      <a:pt x="45" y="33"/>
                      <a:pt x="45" y="33"/>
                    </a:cubicBezTo>
                    <a:cubicBezTo>
                      <a:pt x="5" y="33"/>
                      <a:pt x="5" y="33"/>
                      <a:pt x="5" y="33"/>
                    </a:cubicBezTo>
                    <a:lnTo>
                      <a:pt x="5" y="23"/>
                    </a:lnTo>
                    <a:close/>
                    <a:moveTo>
                      <a:pt x="5" y="37"/>
                    </a:move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5" y="48"/>
                      <a:pt x="5" y="48"/>
                      <a:pt x="5" y="48"/>
                    </a:cubicBezTo>
                    <a:lnTo>
                      <a:pt x="5" y="37"/>
                    </a:lnTo>
                    <a:close/>
                    <a:moveTo>
                      <a:pt x="5" y="61"/>
                    </a:moveTo>
                    <a:cubicBezTo>
                      <a:pt x="5" y="52"/>
                      <a:pt x="5" y="52"/>
                      <a:pt x="5" y="52"/>
                    </a:cubicBezTo>
                    <a:cubicBezTo>
                      <a:pt x="45" y="52"/>
                      <a:pt x="45" y="52"/>
                      <a:pt x="45" y="52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5" y="63"/>
                      <a:pt x="5" y="63"/>
                      <a:pt x="5" y="63"/>
                    </a:cubicBezTo>
                    <a:lnTo>
                      <a:pt x="5" y="61"/>
                    </a:lnTo>
                    <a:close/>
                    <a:moveTo>
                      <a:pt x="6" y="67"/>
                    </a:moveTo>
                    <a:cubicBezTo>
                      <a:pt x="44" y="67"/>
                      <a:pt x="44" y="67"/>
                      <a:pt x="44" y="67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2" y="71"/>
                      <a:pt x="41" y="73"/>
                      <a:pt x="39" y="75"/>
                    </a:cubicBezTo>
                    <a:cubicBezTo>
                      <a:pt x="35" y="79"/>
                      <a:pt x="30" y="81"/>
                      <a:pt x="25" y="81"/>
                    </a:cubicBezTo>
                    <a:cubicBezTo>
                      <a:pt x="20" y="81"/>
                      <a:pt x="15" y="79"/>
                      <a:pt x="11" y="75"/>
                    </a:cubicBezTo>
                    <a:cubicBezTo>
                      <a:pt x="9" y="73"/>
                      <a:pt x="8" y="71"/>
                      <a:pt x="7" y="69"/>
                    </a:cubicBezTo>
                    <a:lnTo>
                      <a:pt x="6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</p:grp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60BA3433-9491-2D86-FCCE-958E0A329931}"/>
              </a:ext>
            </a:extLst>
          </p:cNvPr>
          <p:cNvGrpSpPr/>
          <p:nvPr/>
        </p:nvGrpSpPr>
        <p:grpSpPr>
          <a:xfrm>
            <a:off x="5008701" y="1318502"/>
            <a:ext cx="504000" cy="504000"/>
            <a:chOff x="4613213" y="3130275"/>
            <a:chExt cx="504000" cy="504000"/>
          </a:xfrm>
        </p:grpSpPr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4218C76F-4386-6390-A9F0-EA84E439087B}"/>
                </a:ext>
              </a:extLst>
            </p:cNvPr>
            <p:cNvSpPr/>
            <p:nvPr/>
          </p:nvSpPr>
          <p:spPr>
            <a:xfrm>
              <a:off x="4613213" y="3130275"/>
              <a:ext cx="504000" cy="504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90" name="Freeform 105">
              <a:extLst>
                <a:ext uri="{FF2B5EF4-FFF2-40B4-BE49-F238E27FC236}">
                  <a16:creationId xmlns:a16="http://schemas.microsoft.com/office/drawing/2014/main" id="{7E916011-EE7E-162D-D711-3CFB48A1B8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703213" y="3237919"/>
              <a:ext cx="324000" cy="288713"/>
            </a:xfrm>
            <a:custGeom>
              <a:avLst/>
              <a:gdLst>
                <a:gd name="T0" fmla="*/ 101 w 128"/>
                <a:gd name="T1" fmla="*/ 41 h 114"/>
                <a:gd name="T2" fmla="*/ 125 w 128"/>
                <a:gd name="T3" fmla="*/ 17 h 114"/>
                <a:gd name="T4" fmla="*/ 128 w 128"/>
                <a:gd name="T5" fmla="*/ 10 h 114"/>
                <a:gd name="T6" fmla="*/ 125 w 128"/>
                <a:gd name="T7" fmla="*/ 3 h 114"/>
                <a:gd name="T8" fmla="*/ 111 w 128"/>
                <a:gd name="T9" fmla="*/ 3 h 114"/>
                <a:gd name="T10" fmla="*/ 87 w 128"/>
                <a:gd name="T11" fmla="*/ 27 h 114"/>
                <a:gd name="T12" fmla="*/ 6 w 128"/>
                <a:gd name="T13" fmla="*/ 27 h 114"/>
                <a:gd name="T14" fmla="*/ 0 w 128"/>
                <a:gd name="T15" fmla="*/ 33 h 114"/>
                <a:gd name="T16" fmla="*/ 0 w 128"/>
                <a:gd name="T17" fmla="*/ 108 h 114"/>
                <a:gd name="T18" fmla="*/ 6 w 128"/>
                <a:gd name="T19" fmla="*/ 114 h 114"/>
                <a:gd name="T20" fmla="*/ 95 w 128"/>
                <a:gd name="T21" fmla="*/ 114 h 114"/>
                <a:gd name="T22" fmla="*/ 101 w 128"/>
                <a:gd name="T23" fmla="*/ 108 h 114"/>
                <a:gd name="T24" fmla="*/ 101 w 128"/>
                <a:gd name="T25" fmla="*/ 41 h 114"/>
                <a:gd name="T26" fmla="*/ 96 w 128"/>
                <a:gd name="T27" fmla="*/ 109 h 114"/>
                <a:gd name="T28" fmla="*/ 5 w 128"/>
                <a:gd name="T29" fmla="*/ 109 h 114"/>
                <a:gd name="T30" fmla="*/ 5 w 128"/>
                <a:gd name="T31" fmla="*/ 32 h 114"/>
                <a:gd name="T32" fmla="*/ 83 w 128"/>
                <a:gd name="T33" fmla="*/ 32 h 114"/>
                <a:gd name="T34" fmla="*/ 63 w 128"/>
                <a:gd name="T35" fmla="*/ 52 h 114"/>
                <a:gd name="T36" fmla="*/ 62 w 128"/>
                <a:gd name="T37" fmla="*/ 54 h 114"/>
                <a:gd name="T38" fmla="*/ 62 w 128"/>
                <a:gd name="T39" fmla="*/ 64 h 114"/>
                <a:gd name="T40" fmla="*/ 63 w 128"/>
                <a:gd name="T41" fmla="*/ 66 h 114"/>
                <a:gd name="T42" fmla="*/ 64 w 128"/>
                <a:gd name="T43" fmla="*/ 66 h 114"/>
                <a:gd name="T44" fmla="*/ 75 w 128"/>
                <a:gd name="T45" fmla="*/ 66 h 114"/>
                <a:gd name="T46" fmla="*/ 76 w 128"/>
                <a:gd name="T47" fmla="*/ 66 h 114"/>
                <a:gd name="T48" fmla="*/ 76 w 128"/>
                <a:gd name="T49" fmla="*/ 66 h 114"/>
                <a:gd name="T50" fmla="*/ 96 w 128"/>
                <a:gd name="T51" fmla="*/ 46 h 114"/>
                <a:gd name="T52" fmla="*/ 96 w 128"/>
                <a:gd name="T53" fmla="*/ 109 h 114"/>
                <a:gd name="T54" fmla="*/ 74 w 128"/>
                <a:gd name="T55" fmla="*/ 62 h 114"/>
                <a:gd name="T56" fmla="*/ 67 w 128"/>
                <a:gd name="T57" fmla="*/ 62 h 114"/>
                <a:gd name="T58" fmla="*/ 67 w 128"/>
                <a:gd name="T59" fmla="*/ 55 h 114"/>
                <a:gd name="T60" fmla="*/ 115 w 128"/>
                <a:gd name="T61" fmla="*/ 6 h 114"/>
                <a:gd name="T62" fmla="*/ 118 w 128"/>
                <a:gd name="T63" fmla="*/ 5 h 114"/>
                <a:gd name="T64" fmla="*/ 122 w 128"/>
                <a:gd name="T65" fmla="*/ 6 h 114"/>
                <a:gd name="T66" fmla="*/ 122 w 128"/>
                <a:gd name="T67" fmla="*/ 14 h 114"/>
                <a:gd name="T68" fmla="*/ 74 w 128"/>
                <a:gd name="T69" fmla="*/ 6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114">
                  <a:moveTo>
                    <a:pt x="101" y="41"/>
                  </a:moveTo>
                  <a:cubicBezTo>
                    <a:pt x="125" y="17"/>
                    <a:pt x="125" y="17"/>
                    <a:pt x="125" y="17"/>
                  </a:cubicBezTo>
                  <a:cubicBezTo>
                    <a:pt x="127" y="15"/>
                    <a:pt x="128" y="13"/>
                    <a:pt x="128" y="10"/>
                  </a:cubicBezTo>
                  <a:cubicBezTo>
                    <a:pt x="128" y="8"/>
                    <a:pt x="127" y="5"/>
                    <a:pt x="125" y="3"/>
                  </a:cubicBezTo>
                  <a:cubicBezTo>
                    <a:pt x="121" y="0"/>
                    <a:pt x="115" y="0"/>
                    <a:pt x="111" y="3"/>
                  </a:cubicBezTo>
                  <a:cubicBezTo>
                    <a:pt x="87" y="27"/>
                    <a:pt x="87" y="27"/>
                    <a:pt x="87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3" y="27"/>
                    <a:pt x="0" y="30"/>
                    <a:pt x="0" y="33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1"/>
                    <a:pt x="3" y="114"/>
                    <a:pt x="6" y="114"/>
                  </a:cubicBezTo>
                  <a:cubicBezTo>
                    <a:pt x="95" y="114"/>
                    <a:pt x="95" y="114"/>
                    <a:pt x="95" y="114"/>
                  </a:cubicBezTo>
                  <a:cubicBezTo>
                    <a:pt x="98" y="114"/>
                    <a:pt x="101" y="111"/>
                    <a:pt x="101" y="108"/>
                  </a:cubicBezTo>
                  <a:lnTo>
                    <a:pt x="101" y="41"/>
                  </a:lnTo>
                  <a:close/>
                  <a:moveTo>
                    <a:pt x="96" y="109"/>
                  </a:moveTo>
                  <a:cubicBezTo>
                    <a:pt x="5" y="109"/>
                    <a:pt x="5" y="109"/>
                    <a:pt x="5" y="109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2" y="52"/>
                    <a:pt x="62" y="53"/>
                    <a:pt x="62" y="54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2" y="65"/>
                    <a:pt x="62" y="65"/>
                    <a:pt x="63" y="66"/>
                  </a:cubicBezTo>
                  <a:cubicBezTo>
                    <a:pt x="63" y="66"/>
                    <a:pt x="64" y="66"/>
                    <a:pt x="64" y="66"/>
                  </a:cubicBezTo>
                  <a:cubicBezTo>
                    <a:pt x="75" y="66"/>
                    <a:pt x="75" y="66"/>
                    <a:pt x="75" y="66"/>
                  </a:cubicBezTo>
                  <a:cubicBezTo>
                    <a:pt x="75" y="66"/>
                    <a:pt x="76" y="66"/>
                    <a:pt x="76" y="66"/>
                  </a:cubicBezTo>
                  <a:cubicBezTo>
                    <a:pt x="76" y="66"/>
                    <a:pt x="76" y="66"/>
                    <a:pt x="76" y="66"/>
                  </a:cubicBezTo>
                  <a:cubicBezTo>
                    <a:pt x="96" y="46"/>
                    <a:pt x="96" y="46"/>
                    <a:pt x="96" y="46"/>
                  </a:cubicBezTo>
                  <a:lnTo>
                    <a:pt x="96" y="109"/>
                  </a:lnTo>
                  <a:close/>
                  <a:moveTo>
                    <a:pt x="74" y="62"/>
                  </a:moveTo>
                  <a:cubicBezTo>
                    <a:pt x="67" y="62"/>
                    <a:pt x="67" y="62"/>
                    <a:pt x="67" y="62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16" y="5"/>
                    <a:pt x="118" y="5"/>
                    <a:pt x="118" y="5"/>
                  </a:cubicBezTo>
                  <a:cubicBezTo>
                    <a:pt x="119" y="5"/>
                    <a:pt x="121" y="5"/>
                    <a:pt x="122" y="6"/>
                  </a:cubicBezTo>
                  <a:cubicBezTo>
                    <a:pt x="124" y="8"/>
                    <a:pt x="124" y="12"/>
                    <a:pt x="122" y="14"/>
                  </a:cubicBezTo>
                  <a:lnTo>
                    <a:pt x="74" y="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4706058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14140-E81C-B547-23EC-91A5C3BDC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4E206837-0DF2-B1C0-4D68-B3FF1A05A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取得成就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C63FE8-51FE-E6A1-30FB-EEDB8A73870F}"/>
              </a:ext>
            </a:extLst>
          </p:cNvPr>
          <p:cNvSpPr txBox="1"/>
          <p:nvPr/>
        </p:nvSpPr>
        <p:spPr>
          <a:xfrm>
            <a:off x="725013" y="2023473"/>
            <a:ext cx="2487168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0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A5BF6BA-D7F7-5E2C-DBC9-0743588E777C}"/>
              </a:ext>
            </a:extLst>
          </p:cNvPr>
          <p:cNvCxnSpPr>
            <a:cxnSpLocks/>
          </p:cNvCxnSpPr>
          <p:nvPr/>
        </p:nvCxnSpPr>
        <p:spPr>
          <a:xfrm>
            <a:off x="3468913" y="1897299"/>
            <a:ext cx="6948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08A5A8E-64D0-AF57-AA46-1D4B2F4C85D4}"/>
              </a:ext>
            </a:extLst>
          </p:cNvPr>
          <p:cNvCxnSpPr/>
          <p:nvPr/>
        </p:nvCxnSpPr>
        <p:spPr>
          <a:xfrm>
            <a:off x="1782935" y="5319567"/>
            <a:ext cx="6948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7F8FE5F-D95F-F531-21D3-1FF5AA975347}"/>
              </a:ext>
            </a:extLst>
          </p:cNvPr>
          <p:cNvSpPr txBox="1"/>
          <p:nvPr/>
        </p:nvSpPr>
        <p:spPr>
          <a:xfrm>
            <a:off x="10112546" y="4240329"/>
            <a:ext cx="1632320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500" b="0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”</a:t>
            </a:r>
            <a:endParaRPr kumimoji="0" lang="zh-CN" altLang="en-US" sz="11500" b="0" i="0" u="none" strike="noStrike" kern="1200" cap="none" spc="300" normalizeH="0" baseline="0" noProof="0" dirty="0">
              <a:ln>
                <a:noFill/>
              </a:ln>
              <a:solidFill>
                <a:srgbClr val="A13F0B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9B569F1-2067-D687-E644-FB4577D96162}"/>
              </a:ext>
            </a:extLst>
          </p:cNvPr>
          <p:cNvSpPr txBox="1"/>
          <p:nvPr/>
        </p:nvSpPr>
        <p:spPr>
          <a:xfrm>
            <a:off x="2535936" y="2688174"/>
            <a:ext cx="7120128" cy="19380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即将初步完成</a:t>
            </a:r>
            <a:r>
              <a:rPr kumimoji="0" lang="en-US" altLang="zh-CN" sz="3600" b="1" i="0" u="none" strike="noStrike" kern="1200" cap="none" spc="3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Alien</a:t>
            </a: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向</a:t>
            </a:r>
            <a:r>
              <a:rPr kumimoji="0" lang="en-US" altLang="zh-CN" sz="3600" b="1" i="0" u="none" strike="noStrike" kern="1200" cap="none" spc="3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x86_64 QEMU</a:t>
            </a: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模拟器的移植工作</a:t>
            </a:r>
            <a:endParaRPr kumimoji="0" lang="en-US" altLang="zh-CN" sz="3600" b="1" i="0" u="none" strike="noStrike" kern="1200" cap="none" spc="300" normalizeH="0" baseline="0" noProof="0" dirty="0">
              <a:ln>
                <a:noFill/>
              </a:ln>
              <a:solidFill>
                <a:srgbClr val="006C39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600" b="1" i="0" u="none" strike="noStrike" kern="1200" cap="none" spc="300" normalizeH="0" baseline="0" noProof="0" dirty="0">
              <a:ln>
                <a:noFill/>
              </a:ln>
              <a:solidFill>
                <a:srgbClr val="006C39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032433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6150687" y="1181633"/>
            <a:ext cx="4984278" cy="4945261"/>
            <a:chOff x="6512398" y="1353083"/>
            <a:chExt cx="4984278" cy="4945261"/>
          </a:xfrm>
        </p:grpSpPr>
        <p:sp>
          <p:nvSpPr>
            <p:cNvPr id="26" name="文本占位符 11">
              <a:extLst>
                <a:ext uri="{FF2B5EF4-FFF2-40B4-BE49-F238E27FC236}">
                  <a16:creationId xmlns:a16="http://schemas.microsoft.com/office/drawing/2014/main" id="{66267EB0-2290-4266-B111-351AB19F67B3}"/>
                </a:ext>
              </a:extLst>
            </p:cNvPr>
            <p:cNvSpPr txBox="1">
              <a:spLocks/>
            </p:cNvSpPr>
            <p:nvPr/>
          </p:nvSpPr>
          <p:spPr>
            <a:xfrm>
              <a:off x="6512398" y="4034115"/>
              <a:ext cx="4984278" cy="546128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 Light"/>
                  <a:sym typeface="+mn-lt"/>
                </a:rPr>
                <a:t>Problems &amp; Solutions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/>
                <a:sym typeface="+mn-lt"/>
              </a:endParaRPr>
            </a:p>
          </p:txBody>
        </p:sp>
        <p:sp>
          <p:nvSpPr>
            <p:cNvPr id="27" name="文本占位符 12">
              <a:extLst>
                <a:ext uri="{FF2B5EF4-FFF2-40B4-BE49-F238E27FC236}">
                  <a16:creationId xmlns:a16="http://schemas.microsoft.com/office/drawing/2014/main" id="{0F7673E7-C907-4517-B8BE-868E548CB899}"/>
                </a:ext>
              </a:extLst>
            </p:cNvPr>
            <p:cNvSpPr txBox="1">
              <a:spLocks/>
            </p:cNvSpPr>
            <p:nvPr/>
          </p:nvSpPr>
          <p:spPr>
            <a:xfrm>
              <a:off x="6909170" y="3031304"/>
              <a:ext cx="4190733" cy="795391"/>
            </a:xfrm>
            <a:prstGeom prst="rect">
              <a:avLst/>
            </a:prstGeom>
          </p:spPr>
          <p:txBody>
            <a:bodyPr vert="horz" lIns="0" tIns="0" rIns="0" bIns="0" rtlCol="0" anchor="ctr">
              <a:normAutofit fontScale="70000" lnSpcReduction="200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40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微软雅黑" panose="020B0503020204020204" pitchFamily="34" charset="-122"/>
                  <a:cs typeface="+mn-ea"/>
                  <a:sym typeface="+mn-lt"/>
                </a:rPr>
                <a:t>存在的问题和拟解决方案</a:t>
              </a:r>
            </a:p>
          </p:txBody>
        </p:sp>
        <p:sp>
          <p:nvSpPr>
            <p:cNvPr id="28" name="books-group_25777">
              <a:extLst>
                <a:ext uri="{FF2B5EF4-FFF2-40B4-BE49-F238E27FC236}">
                  <a16:creationId xmlns:a16="http://schemas.microsoft.com/office/drawing/2014/main" id="{90FFD559-C529-49B9-A54F-8543F8A93ED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310569" y="1353083"/>
              <a:ext cx="1387936" cy="1419261"/>
            </a:xfrm>
            <a:custGeom>
              <a:avLst/>
              <a:gdLst>
                <a:gd name="connsiteX0" fmla="*/ 75418 w 590915"/>
                <a:gd name="connsiteY0" fmla="*/ 479492 h 604252"/>
                <a:gd name="connsiteX1" fmla="*/ 398146 w 590915"/>
                <a:gd name="connsiteY1" fmla="*/ 479492 h 604252"/>
                <a:gd name="connsiteX2" fmla="*/ 408150 w 590915"/>
                <a:gd name="connsiteY2" fmla="*/ 489477 h 604252"/>
                <a:gd name="connsiteX3" fmla="*/ 398146 w 590915"/>
                <a:gd name="connsiteY3" fmla="*/ 499462 h 604252"/>
                <a:gd name="connsiteX4" fmla="*/ 75418 w 590915"/>
                <a:gd name="connsiteY4" fmla="*/ 499462 h 604252"/>
                <a:gd name="connsiteX5" fmla="*/ 65414 w 590915"/>
                <a:gd name="connsiteY5" fmla="*/ 489477 h 604252"/>
                <a:gd name="connsiteX6" fmla="*/ 75418 w 590915"/>
                <a:gd name="connsiteY6" fmla="*/ 479492 h 604252"/>
                <a:gd name="connsiteX7" fmla="*/ 75418 w 590915"/>
                <a:gd name="connsiteY7" fmla="*/ 424451 h 604252"/>
                <a:gd name="connsiteX8" fmla="*/ 398146 w 590915"/>
                <a:gd name="connsiteY8" fmla="*/ 424451 h 604252"/>
                <a:gd name="connsiteX9" fmla="*/ 408150 w 590915"/>
                <a:gd name="connsiteY9" fmla="*/ 434436 h 604252"/>
                <a:gd name="connsiteX10" fmla="*/ 398146 w 590915"/>
                <a:gd name="connsiteY10" fmla="*/ 444421 h 604252"/>
                <a:gd name="connsiteX11" fmla="*/ 75418 w 590915"/>
                <a:gd name="connsiteY11" fmla="*/ 444421 h 604252"/>
                <a:gd name="connsiteX12" fmla="*/ 65414 w 590915"/>
                <a:gd name="connsiteY12" fmla="*/ 434436 h 604252"/>
                <a:gd name="connsiteX13" fmla="*/ 75418 w 590915"/>
                <a:gd name="connsiteY13" fmla="*/ 424451 h 604252"/>
                <a:gd name="connsiteX14" fmla="*/ 75418 w 590915"/>
                <a:gd name="connsiteY14" fmla="*/ 369410 h 604252"/>
                <a:gd name="connsiteX15" fmla="*/ 398146 w 590915"/>
                <a:gd name="connsiteY15" fmla="*/ 369410 h 604252"/>
                <a:gd name="connsiteX16" fmla="*/ 408150 w 590915"/>
                <a:gd name="connsiteY16" fmla="*/ 379395 h 604252"/>
                <a:gd name="connsiteX17" fmla="*/ 398146 w 590915"/>
                <a:gd name="connsiteY17" fmla="*/ 389380 h 604252"/>
                <a:gd name="connsiteX18" fmla="*/ 75418 w 590915"/>
                <a:gd name="connsiteY18" fmla="*/ 389380 h 604252"/>
                <a:gd name="connsiteX19" fmla="*/ 65414 w 590915"/>
                <a:gd name="connsiteY19" fmla="*/ 379395 h 604252"/>
                <a:gd name="connsiteX20" fmla="*/ 75418 w 590915"/>
                <a:gd name="connsiteY20" fmla="*/ 369410 h 604252"/>
                <a:gd name="connsiteX21" fmla="*/ 75418 w 590915"/>
                <a:gd name="connsiteY21" fmla="*/ 314369 h 604252"/>
                <a:gd name="connsiteX22" fmla="*/ 398146 w 590915"/>
                <a:gd name="connsiteY22" fmla="*/ 314369 h 604252"/>
                <a:gd name="connsiteX23" fmla="*/ 408150 w 590915"/>
                <a:gd name="connsiteY23" fmla="*/ 324354 h 604252"/>
                <a:gd name="connsiteX24" fmla="*/ 398146 w 590915"/>
                <a:gd name="connsiteY24" fmla="*/ 334339 h 604252"/>
                <a:gd name="connsiteX25" fmla="*/ 75418 w 590915"/>
                <a:gd name="connsiteY25" fmla="*/ 334339 h 604252"/>
                <a:gd name="connsiteX26" fmla="*/ 65414 w 590915"/>
                <a:gd name="connsiteY26" fmla="*/ 324354 h 604252"/>
                <a:gd name="connsiteX27" fmla="*/ 75418 w 590915"/>
                <a:gd name="connsiteY27" fmla="*/ 314369 h 604252"/>
                <a:gd name="connsiteX28" fmla="*/ 50518 w 590915"/>
                <a:gd name="connsiteY28" fmla="*/ 275707 h 604252"/>
                <a:gd name="connsiteX29" fmla="*/ 20007 w 590915"/>
                <a:gd name="connsiteY29" fmla="*/ 306174 h 604252"/>
                <a:gd name="connsiteX30" fmla="*/ 20007 w 590915"/>
                <a:gd name="connsiteY30" fmla="*/ 510354 h 604252"/>
                <a:gd name="connsiteX31" fmla="*/ 50518 w 590915"/>
                <a:gd name="connsiteY31" fmla="*/ 540821 h 604252"/>
                <a:gd name="connsiteX32" fmla="*/ 86730 w 590915"/>
                <a:gd name="connsiteY32" fmla="*/ 540821 h 604252"/>
                <a:gd name="connsiteX33" fmla="*/ 94533 w 590915"/>
                <a:gd name="connsiteY33" fmla="*/ 544617 h 604252"/>
                <a:gd name="connsiteX34" fmla="*/ 96334 w 590915"/>
                <a:gd name="connsiteY34" fmla="*/ 553207 h 604252"/>
                <a:gd name="connsiteX35" fmla="*/ 90432 w 590915"/>
                <a:gd name="connsiteY35" fmla="*/ 576382 h 604252"/>
                <a:gd name="connsiteX36" fmla="*/ 165358 w 590915"/>
                <a:gd name="connsiteY36" fmla="*/ 541720 h 604252"/>
                <a:gd name="connsiteX37" fmla="*/ 169559 w 590915"/>
                <a:gd name="connsiteY37" fmla="*/ 540821 h 604252"/>
                <a:gd name="connsiteX38" fmla="*/ 423047 w 590915"/>
                <a:gd name="connsiteY38" fmla="*/ 540821 h 604252"/>
                <a:gd name="connsiteX39" fmla="*/ 453558 w 590915"/>
                <a:gd name="connsiteY39" fmla="*/ 510354 h 604252"/>
                <a:gd name="connsiteX40" fmla="*/ 453558 w 590915"/>
                <a:gd name="connsiteY40" fmla="*/ 306174 h 604252"/>
                <a:gd name="connsiteX41" fmla="*/ 423047 w 590915"/>
                <a:gd name="connsiteY41" fmla="*/ 275707 h 604252"/>
                <a:gd name="connsiteX42" fmla="*/ 50518 w 590915"/>
                <a:gd name="connsiteY42" fmla="*/ 255729 h 604252"/>
                <a:gd name="connsiteX43" fmla="*/ 423047 w 590915"/>
                <a:gd name="connsiteY43" fmla="*/ 255729 h 604252"/>
                <a:gd name="connsiteX44" fmla="*/ 473565 w 590915"/>
                <a:gd name="connsiteY44" fmla="*/ 306174 h 604252"/>
                <a:gd name="connsiteX45" fmla="*/ 473565 w 590915"/>
                <a:gd name="connsiteY45" fmla="*/ 510354 h 604252"/>
                <a:gd name="connsiteX46" fmla="*/ 423047 w 590915"/>
                <a:gd name="connsiteY46" fmla="*/ 560799 h 604252"/>
                <a:gd name="connsiteX47" fmla="*/ 171760 w 590915"/>
                <a:gd name="connsiteY47" fmla="*/ 560799 h 604252"/>
                <a:gd name="connsiteX48" fmla="*/ 79828 w 590915"/>
                <a:gd name="connsiteY48" fmla="*/ 603353 h 604252"/>
                <a:gd name="connsiteX49" fmla="*/ 75626 w 590915"/>
                <a:gd name="connsiteY49" fmla="*/ 604252 h 604252"/>
                <a:gd name="connsiteX50" fmla="*/ 69224 w 590915"/>
                <a:gd name="connsiteY50" fmla="*/ 601955 h 604252"/>
                <a:gd name="connsiteX51" fmla="*/ 65923 w 590915"/>
                <a:gd name="connsiteY51" fmla="*/ 591865 h 604252"/>
                <a:gd name="connsiteX52" fmla="*/ 73826 w 590915"/>
                <a:gd name="connsiteY52" fmla="*/ 560799 h 604252"/>
                <a:gd name="connsiteX53" fmla="*/ 50518 w 590915"/>
                <a:gd name="connsiteY53" fmla="*/ 560799 h 604252"/>
                <a:gd name="connsiteX54" fmla="*/ 0 w 590915"/>
                <a:gd name="connsiteY54" fmla="*/ 510354 h 604252"/>
                <a:gd name="connsiteX55" fmla="*/ 0 w 590915"/>
                <a:gd name="connsiteY55" fmla="*/ 306174 h 604252"/>
                <a:gd name="connsiteX56" fmla="*/ 50518 w 590915"/>
                <a:gd name="connsiteY56" fmla="*/ 255729 h 604252"/>
                <a:gd name="connsiteX57" fmla="*/ 454971 w 590915"/>
                <a:gd name="connsiteY57" fmla="*/ 168510 h 604252"/>
                <a:gd name="connsiteX58" fmla="*/ 462060 w 590915"/>
                <a:gd name="connsiteY58" fmla="*/ 171406 h 604252"/>
                <a:gd name="connsiteX59" fmla="*/ 464956 w 590915"/>
                <a:gd name="connsiteY59" fmla="*/ 178495 h 604252"/>
                <a:gd name="connsiteX60" fmla="*/ 462060 w 590915"/>
                <a:gd name="connsiteY60" fmla="*/ 185485 h 604252"/>
                <a:gd name="connsiteX61" fmla="*/ 454971 w 590915"/>
                <a:gd name="connsiteY61" fmla="*/ 188480 h 604252"/>
                <a:gd name="connsiteX62" fmla="*/ 447882 w 590915"/>
                <a:gd name="connsiteY62" fmla="*/ 185485 h 604252"/>
                <a:gd name="connsiteX63" fmla="*/ 444986 w 590915"/>
                <a:gd name="connsiteY63" fmla="*/ 178495 h 604252"/>
                <a:gd name="connsiteX64" fmla="*/ 447882 w 590915"/>
                <a:gd name="connsiteY64" fmla="*/ 171406 h 604252"/>
                <a:gd name="connsiteX65" fmla="*/ 454971 w 590915"/>
                <a:gd name="connsiteY65" fmla="*/ 168510 h 604252"/>
                <a:gd name="connsiteX66" fmla="*/ 456382 w 590915"/>
                <a:gd name="connsiteY66" fmla="*/ 43327 h 604252"/>
                <a:gd name="connsiteX67" fmla="*/ 499815 w 590915"/>
                <a:gd name="connsiteY67" fmla="*/ 86702 h 604252"/>
                <a:gd name="connsiteX68" fmla="*/ 479199 w 590915"/>
                <a:gd name="connsiteY68" fmla="*/ 123580 h 604252"/>
                <a:gd name="connsiteX69" fmla="*/ 478799 w 590915"/>
                <a:gd name="connsiteY69" fmla="*/ 123880 h 604252"/>
                <a:gd name="connsiteX70" fmla="*/ 464989 w 590915"/>
                <a:gd name="connsiteY70" fmla="*/ 148266 h 604252"/>
                <a:gd name="connsiteX71" fmla="*/ 455281 w 590915"/>
                <a:gd name="connsiteY71" fmla="*/ 158560 h 604252"/>
                <a:gd name="connsiteX72" fmla="*/ 454881 w 590915"/>
                <a:gd name="connsiteY72" fmla="*/ 158560 h 604252"/>
                <a:gd name="connsiteX73" fmla="*/ 444973 w 590915"/>
                <a:gd name="connsiteY73" fmla="*/ 148866 h 604252"/>
                <a:gd name="connsiteX74" fmla="*/ 468791 w 590915"/>
                <a:gd name="connsiteY74" fmla="*/ 106590 h 604252"/>
                <a:gd name="connsiteX75" fmla="*/ 479800 w 590915"/>
                <a:gd name="connsiteY75" fmla="*/ 86702 h 604252"/>
                <a:gd name="connsiteX76" fmla="*/ 456382 w 590915"/>
                <a:gd name="connsiteY76" fmla="*/ 63315 h 604252"/>
                <a:gd name="connsiteX77" fmla="*/ 432964 w 590915"/>
                <a:gd name="connsiteY77" fmla="*/ 86702 h 604252"/>
                <a:gd name="connsiteX78" fmla="*/ 422957 w 590915"/>
                <a:gd name="connsiteY78" fmla="*/ 96696 h 604252"/>
                <a:gd name="connsiteX79" fmla="*/ 412949 w 590915"/>
                <a:gd name="connsiteY79" fmla="*/ 86702 h 604252"/>
                <a:gd name="connsiteX80" fmla="*/ 456382 w 590915"/>
                <a:gd name="connsiteY80" fmla="*/ 43327 h 604252"/>
                <a:gd name="connsiteX81" fmla="*/ 372361 w 590915"/>
                <a:gd name="connsiteY81" fmla="*/ 19982 h 604252"/>
                <a:gd name="connsiteX82" fmla="*/ 341854 w 590915"/>
                <a:gd name="connsiteY82" fmla="*/ 50454 h 604252"/>
                <a:gd name="connsiteX83" fmla="*/ 341854 w 590915"/>
                <a:gd name="connsiteY83" fmla="*/ 170245 h 604252"/>
                <a:gd name="connsiteX84" fmla="*/ 372361 w 590915"/>
                <a:gd name="connsiteY84" fmla="*/ 200717 h 604252"/>
                <a:gd name="connsiteX85" fmla="*/ 417472 w 590915"/>
                <a:gd name="connsiteY85" fmla="*/ 200717 h 604252"/>
                <a:gd name="connsiteX86" fmla="*/ 421673 w 590915"/>
                <a:gd name="connsiteY86" fmla="*/ 201616 h 604252"/>
                <a:gd name="connsiteX87" fmla="*/ 490090 w 590915"/>
                <a:gd name="connsiteY87" fmla="*/ 233287 h 604252"/>
                <a:gd name="connsiteX88" fmla="*/ 490390 w 590915"/>
                <a:gd name="connsiteY88" fmla="*/ 210508 h 604252"/>
                <a:gd name="connsiteX89" fmla="*/ 500393 w 590915"/>
                <a:gd name="connsiteY89" fmla="*/ 200717 h 604252"/>
                <a:gd name="connsiteX90" fmla="*/ 540403 w 590915"/>
                <a:gd name="connsiteY90" fmla="*/ 200717 h 604252"/>
                <a:gd name="connsiteX91" fmla="*/ 570910 w 590915"/>
                <a:gd name="connsiteY91" fmla="*/ 170245 h 604252"/>
                <a:gd name="connsiteX92" fmla="*/ 570910 w 590915"/>
                <a:gd name="connsiteY92" fmla="*/ 50454 h 604252"/>
                <a:gd name="connsiteX93" fmla="*/ 540403 w 590915"/>
                <a:gd name="connsiteY93" fmla="*/ 19982 h 604252"/>
                <a:gd name="connsiteX94" fmla="*/ 372361 w 590915"/>
                <a:gd name="connsiteY94" fmla="*/ 0 h 604252"/>
                <a:gd name="connsiteX95" fmla="*/ 540403 w 590915"/>
                <a:gd name="connsiteY95" fmla="*/ 0 h 604252"/>
                <a:gd name="connsiteX96" fmla="*/ 590915 w 590915"/>
                <a:gd name="connsiteY96" fmla="*/ 50454 h 604252"/>
                <a:gd name="connsiteX97" fmla="*/ 590915 w 590915"/>
                <a:gd name="connsiteY97" fmla="*/ 170245 h 604252"/>
                <a:gd name="connsiteX98" fmla="*/ 540403 w 590915"/>
                <a:gd name="connsiteY98" fmla="*/ 220699 h 604252"/>
                <a:gd name="connsiteX99" fmla="*/ 510295 w 590915"/>
                <a:gd name="connsiteY99" fmla="*/ 220699 h 604252"/>
                <a:gd name="connsiteX100" fmla="*/ 509795 w 590915"/>
                <a:gd name="connsiteY100" fmla="*/ 248973 h 604252"/>
                <a:gd name="connsiteX101" fmla="*/ 505194 w 590915"/>
                <a:gd name="connsiteY101" fmla="*/ 257265 h 604252"/>
                <a:gd name="connsiteX102" fmla="*/ 499793 w 590915"/>
                <a:gd name="connsiteY102" fmla="*/ 258764 h 604252"/>
                <a:gd name="connsiteX103" fmla="*/ 495592 w 590915"/>
                <a:gd name="connsiteY103" fmla="*/ 257865 h 604252"/>
                <a:gd name="connsiteX104" fmla="*/ 415272 w 590915"/>
                <a:gd name="connsiteY104" fmla="*/ 220699 h 604252"/>
                <a:gd name="connsiteX105" fmla="*/ 372361 w 590915"/>
                <a:gd name="connsiteY105" fmla="*/ 220699 h 604252"/>
                <a:gd name="connsiteX106" fmla="*/ 321849 w 590915"/>
                <a:gd name="connsiteY106" fmla="*/ 170245 h 604252"/>
                <a:gd name="connsiteX107" fmla="*/ 321849 w 590915"/>
                <a:gd name="connsiteY107" fmla="*/ 50454 h 604252"/>
                <a:gd name="connsiteX108" fmla="*/ 372361 w 590915"/>
                <a:gd name="connsiteY108" fmla="*/ 0 h 604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590915" h="604252">
                  <a:moveTo>
                    <a:pt x="75418" y="479492"/>
                  </a:moveTo>
                  <a:lnTo>
                    <a:pt x="398146" y="479492"/>
                  </a:lnTo>
                  <a:cubicBezTo>
                    <a:pt x="403748" y="479492"/>
                    <a:pt x="408150" y="483985"/>
                    <a:pt x="408150" y="489477"/>
                  </a:cubicBezTo>
                  <a:cubicBezTo>
                    <a:pt x="408150" y="495069"/>
                    <a:pt x="403748" y="499462"/>
                    <a:pt x="398146" y="499462"/>
                  </a:cubicBezTo>
                  <a:lnTo>
                    <a:pt x="75418" y="499462"/>
                  </a:lnTo>
                  <a:cubicBezTo>
                    <a:pt x="69916" y="499462"/>
                    <a:pt x="65414" y="495069"/>
                    <a:pt x="65414" y="489477"/>
                  </a:cubicBezTo>
                  <a:cubicBezTo>
                    <a:pt x="65414" y="483985"/>
                    <a:pt x="69916" y="479492"/>
                    <a:pt x="75418" y="479492"/>
                  </a:cubicBezTo>
                  <a:close/>
                  <a:moveTo>
                    <a:pt x="75418" y="424451"/>
                  </a:moveTo>
                  <a:lnTo>
                    <a:pt x="398146" y="424451"/>
                  </a:lnTo>
                  <a:cubicBezTo>
                    <a:pt x="403748" y="424451"/>
                    <a:pt x="408150" y="428944"/>
                    <a:pt x="408150" y="434436"/>
                  </a:cubicBezTo>
                  <a:cubicBezTo>
                    <a:pt x="408150" y="439928"/>
                    <a:pt x="403748" y="444421"/>
                    <a:pt x="398146" y="444421"/>
                  </a:cubicBezTo>
                  <a:lnTo>
                    <a:pt x="75418" y="444421"/>
                  </a:lnTo>
                  <a:cubicBezTo>
                    <a:pt x="69916" y="444421"/>
                    <a:pt x="65414" y="439928"/>
                    <a:pt x="65414" y="434436"/>
                  </a:cubicBezTo>
                  <a:cubicBezTo>
                    <a:pt x="65414" y="428944"/>
                    <a:pt x="69916" y="424451"/>
                    <a:pt x="75418" y="424451"/>
                  </a:cubicBezTo>
                  <a:close/>
                  <a:moveTo>
                    <a:pt x="75418" y="369410"/>
                  </a:moveTo>
                  <a:lnTo>
                    <a:pt x="398146" y="369410"/>
                  </a:lnTo>
                  <a:cubicBezTo>
                    <a:pt x="403748" y="369410"/>
                    <a:pt x="408150" y="373903"/>
                    <a:pt x="408150" y="379395"/>
                  </a:cubicBezTo>
                  <a:cubicBezTo>
                    <a:pt x="408150" y="384887"/>
                    <a:pt x="403748" y="389380"/>
                    <a:pt x="398146" y="389380"/>
                  </a:cubicBezTo>
                  <a:lnTo>
                    <a:pt x="75418" y="389380"/>
                  </a:lnTo>
                  <a:cubicBezTo>
                    <a:pt x="69916" y="389380"/>
                    <a:pt x="65414" y="384887"/>
                    <a:pt x="65414" y="379395"/>
                  </a:cubicBezTo>
                  <a:cubicBezTo>
                    <a:pt x="65414" y="373903"/>
                    <a:pt x="69916" y="369410"/>
                    <a:pt x="75418" y="369410"/>
                  </a:cubicBezTo>
                  <a:close/>
                  <a:moveTo>
                    <a:pt x="75418" y="314369"/>
                  </a:moveTo>
                  <a:lnTo>
                    <a:pt x="398146" y="314369"/>
                  </a:lnTo>
                  <a:cubicBezTo>
                    <a:pt x="403748" y="314369"/>
                    <a:pt x="408150" y="318862"/>
                    <a:pt x="408150" y="324354"/>
                  </a:cubicBezTo>
                  <a:cubicBezTo>
                    <a:pt x="408150" y="329846"/>
                    <a:pt x="403748" y="334339"/>
                    <a:pt x="398146" y="334339"/>
                  </a:cubicBezTo>
                  <a:lnTo>
                    <a:pt x="75418" y="334339"/>
                  </a:lnTo>
                  <a:cubicBezTo>
                    <a:pt x="69916" y="334339"/>
                    <a:pt x="65414" y="329846"/>
                    <a:pt x="65414" y="324354"/>
                  </a:cubicBezTo>
                  <a:cubicBezTo>
                    <a:pt x="65414" y="318862"/>
                    <a:pt x="69916" y="314369"/>
                    <a:pt x="75418" y="314369"/>
                  </a:cubicBezTo>
                  <a:close/>
                  <a:moveTo>
                    <a:pt x="50518" y="275707"/>
                  </a:moveTo>
                  <a:cubicBezTo>
                    <a:pt x="33712" y="275707"/>
                    <a:pt x="20007" y="289393"/>
                    <a:pt x="20007" y="306174"/>
                  </a:cubicBezTo>
                  <a:lnTo>
                    <a:pt x="20007" y="510354"/>
                  </a:lnTo>
                  <a:cubicBezTo>
                    <a:pt x="20007" y="527135"/>
                    <a:pt x="33712" y="540821"/>
                    <a:pt x="50518" y="540821"/>
                  </a:cubicBezTo>
                  <a:lnTo>
                    <a:pt x="86730" y="540821"/>
                  </a:lnTo>
                  <a:cubicBezTo>
                    <a:pt x="89731" y="540821"/>
                    <a:pt x="92732" y="542219"/>
                    <a:pt x="94533" y="544617"/>
                  </a:cubicBezTo>
                  <a:cubicBezTo>
                    <a:pt x="96434" y="547114"/>
                    <a:pt x="97134" y="550210"/>
                    <a:pt x="96334" y="553207"/>
                  </a:cubicBezTo>
                  <a:lnTo>
                    <a:pt x="90432" y="576382"/>
                  </a:lnTo>
                  <a:lnTo>
                    <a:pt x="165358" y="541720"/>
                  </a:lnTo>
                  <a:cubicBezTo>
                    <a:pt x="166758" y="541120"/>
                    <a:pt x="168159" y="540821"/>
                    <a:pt x="169559" y="540821"/>
                  </a:cubicBezTo>
                  <a:lnTo>
                    <a:pt x="423047" y="540821"/>
                  </a:lnTo>
                  <a:cubicBezTo>
                    <a:pt x="439853" y="540821"/>
                    <a:pt x="453558" y="527135"/>
                    <a:pt x="453558" y="510354"/>
                  </a:cubicBezTo>
                  <a:lnTo>
                    <a:pt x="453558" y="306174"/>
                  </a:lnTo>
                  <a:cubicBezTo>
                    <a:pt x="453558" y="289393"/>
                    <a:pt x="439853" y="275707"/>
                    <a:pt x="423047" y="275707"/>
                  </a:cubicBezTo>
                  <a:close/>
                  <a:moveTo>
                    <a:pt x="50518" y="255729"/>
                  </a:moveTo>
                  <a:lnTo>
                    <a:pt x="423047" y="255729"/>
                  </a:lnTo>
                  <a:cubicBezTo>
                    <a:pt x="450857" y="255729"/>
                    <a:pt x="473565" y="278404"/>
                    <a:pt x="473565" y="306174"/>
                  </a:cubicBezTo>
                  <a:lnTo>
                    <a:pt x="473565" y="510354"/>
                  </a:lnTo>
                  <a:cubicBezTo>
                    <a:pt x="473565" y="538124"/>
                    <a:pt x="450857" y="560799"/>
                    <a:pt x="423047" y="560799"/>
                  </a:cubicBezTo>
                  <a:lnTo>
                    <a:pt x="171760" y="560799"/>
                  </a:lnTo>
                  <a:lnTo>
                    <a:pt x="79828" y="603353"/>
                  </a:lnTo>
                  <a:cubicBezTo>
                    <a:pt x="78427" y="603952"/>
                    <a:pt x="77027" y="604252"/>
                    <a:pt x="75626" y="604252"/>
                  </a:cubicBezTo>
                  <a:cubicBezTo>
                    <a:pt x="73326" y="604252"/>
                    <a:pt x="71025" y="603553"/>
                    <a:pt x="69224" y="601955"/>
                  </a:cubicBezTo>
                  <a:cubicBezTo>
                    <a:pt x="66223" y="599557"/>
                    <a:pt x="64923" y="595561"/>
                    <a:pt x="65923" y="591865"/>
                  </a:cubicBezTo>
                  <a:lnTo>
                    <a:pt x="73826" y="560799"/>
                  </a:lnTo>
                  <a:lnTo>
                    <a:pt x="50518" y="560799"/>
                  </a:lnTo>
                  <a:cubicBezTo>
                    <a:pt x="22708" y="560799"/>
                    <a:pt x="0" y="538124"/>
                    <a:pt x="0" y="510354"/>
                  </a:cubicBezTo>
                  <a:lnTo>
                    <a:pt x="0" y="306174"/>
                  </a:lnTo>
                  <a:cubicBezTo>
                    <a:pt x="0" y="278404"/>
                    <a:pt x="22708" y="255729"/>
                    <a:pt x="50518" y="255729"/>
                  </a:cubicBezTo>
                  <a:close/>
                  <a:moveTo>
                    <a:pt x="454971" y="168510"/>
                  </a:moveTo>
                  <a:cubicBezTo>
                    <a:pt x="457567" y="168510"/>
                    <a:pt x="460163" y="169509"/>
                    <a:pt x="462060" y="171406"/>
                  </a:cubicBezTo>
                  <a:cubicBezTo>
                    <a:pt x="463858" y="173303"/>
                    <a:pt x="464956" y="175799"/>
                    <a:pt x="464956" y="178495"/>
                  </a:cubicBezTo>
                  <a:cubicBezTo>
                    <a:pt x="464956" y="181091"/>
                    <a:pt x="463858" y="183687"/>
                    <a:pt x="462060" y="185485"/>
                  </a:cubicBezTo>
                  <a:cubicBezTo>
                    <a:pt x="460163" y="187382"/>
                    <a:pt x="457567" y="188480"/>
                    <a:pt x="454971" y="188480"/>
                  </a:cubicBezTo>
                  <a:cubicBezTo>
                    <a:pt x="452375" y="188480"/>
                    <a:pt x="449779" y="187382"/>
                    <a:pt x="447882" y="185485"/>
                  </a:cubicBezTo>
                  <a:cubicBezTo>
                    <a:pt x="446084" y="183687"/>
                    <a:pt x="444986" y="181091"/>
                    <a:pt x="444986" y="178495"/>
                  </a:cubicBezTo>
                  <a:cubicBezTo>
                    <a:pt x="444986" y="175799"/>
                    <a:pt x="446084" y="173303"/>
                    <a:pt x="447882" y="171406"/>
                  </a:cubicBezTo>
                  <a:cubicBezTo>
                    <a:pt x="449779" y="169509"/>
                    <a:pt x="452375" y="168510"/>
                    <a:pt x="454971" y="168510"/>
                  </a:cubicBezTo>
                  <a:close/>
                  <a:moveTo>
                    <a:pt x="456382" y="43327"/>
                  </a:moveTo>
                  <a:cubicBezTo>
                    <a:pt x="480300" y="43327"/>
                    <a:pt x="499815" y="62816"/>
                    <a:pt x="499815" y="86702"/>
                  </a:cubicBezTo>
                  <a:cubicBezTo>
                    <a:pt x="499815" y="101893"/>
                    <a:pt x="492109" y="115685"/>
                    <a:pt x="479199" y="123580"/>
                  </a:cubicBezTo>
                  <a:cubicBezTo>
                    <a:pt x="479099" y="123680"/>
                    <a:pt x="478999" y="123780"/>
                    <a:pt x="478799" y="123880"/>
                  </a:cubicBezTo>
                  <a:cubicBezTo>
                    <a:pt x="469892" y="128977"/>
                    <a:pt x="464588" y="138272"/>
                    <a:pt x="464989" y="148266"/>
                  </a:cubicBezTo>
                  <a:cubicBezTo>
                    <a:pt x="465089" y="153763"/>
                    <a:pt x="460785" y="158360"/>
                    <a:pt x="455281" y="158560"/>
                  </a:cubicBezTo>
                  <a:cubicBezTo>
                    <a:pt x="455181" y="158560"/>
                    <a:pt x="455081" y="158560"/>
                    <a:pt x="454881" y="158560"/>
                  </a:cubicBezTo>
                  <a:cubicBezTo>
                    <a:pt x="449577" y="158560"/>
                    <a:pt x="445073" y="154263"/>
                    <a:pt x="444973" y="148866"/>
                  </a:cubicBezTo>
                  <a:cubicBezTo>
                    <a:pt x="444373" y="131576"/>
                    <a:pt x="453480" y="115385"/>
                    <a:pt x="468791" y="106590"/>
                  </a:cubicBezTo>
                  <a:cubicBezTo>
                    <a:pt x="475697" y="102293"/>
                    <a:pt x="479800" y="94897"/>
                    <a:pt x="479800" y="86702"/>
                  </a:cubicBezTo>
                  <a:cubicBezTo>
                    <a:pt x="479800" y="73809"/>
                    <a:pt x="469292" y="63315"/>
                    <a:pt x="456382" y="63315"/>
                  </a:cubicBezTo>
                  <a:cubicBezTo>
                    <a:pt x="443472" y="63315"/>
                    <a:pt x="432964" y="73809"/>
                    <a:pt x="432964" y="86702"/>
                  </a:cubicBezTo>
                  <a:cubicBezTo>
                    <a:pt x="432964" y="92299"/>
                    <a:pt x="428461" y="96696"/>
                    <a:pt x="422957" y="96696"/>
                  </a:cubicBezTo>
                  <a:cubicBezTo>
                    <a:pt x="417452" y="96696"/>
                    <a:pt x="412949" y="92299"/>
                    <a:pt x="412949" y="86702"/>
                  </a:cubicBezTo>
                  <a:cubicBezTo>
                    <a:pt x="412949" y="62816"/>
                    <a:pt x="432464" y="43327"/>
                    <a:pt x="456382" y="43327"/>
                  </a:cubicBezTo>
                  <a:close/>
                  <a:moveTo>
                    <a:pt x="372361" y="19982"/>
                  </a:moveTo>
                  <a:cubicBezTo>
                    <a:pt x="355557" y="19982"/>
                    <a:pt x="341854" y="33669"/>
                    <a:pt x="341854" y="50454"/>
                  </a:cubicBezTo>
                  <a:lnTo>
                    <a:pt x="341854" y="170245"/>
                  </a:lnTo>
                  <a:cubicBezTo>
                    <a:pt x="341854" y="187029"/>
                    <a:pt x="355557" y="200717"/>
                    <a:pt x="372361" y="200717"/>
                  </a:cubicBezTo>
                  <a:lnTo>
                    <a:pt x="417472" y="200717"/>
                  </a:lnTo>
                  <a:cubicBezTo>
                    <a:pt x="418973" y="200717"/>
                    <a:pt x="420373" y="201017"/>
                    <a:pt x="421673" y="201616"/>
                  </a:cubicBezTo>
                  <a:lnTo>
                    <a:pt x="490090" y="233287"/>
                  </a:lnTo>
                  <a:lnTo>
                    <a:pt x="490390" y="210508"/>
                  </a:lnTo>
                  <a:cubicBezTo>
                    <a:pt x="490490" y="205113"/>
                    <a:pt x="494891" y="200717"/>
                    <a:pt x="500393" y="200717"/>
                  </a:cubicBezTo>
                  <a:lnTo>
                    <a:pt x="540403" y="200717"/>
                  </a:lnTo>
                  <a:cubicBezTo>
                    <a:pt x="557207" y="200717"/>
                    <a:pt x="570910" y="187029"/>
                    <a:pt x="570910" y="170245"/>
                  </a:cubicBezTo>
                  <a:lnTo>
                    <a:pt x="570910" y="50454"/>
                  </a:lnTo>
                  <a:cubicBezTo>
                    <a:pt x="570910" y="33669"/>
                    <a:pt x="557207" y="19982"/>
                    <a:pt x="540403" y="19982"/>
                  </a:cubicBezTo>
                  <a:close/>
                  <a:moveTo>
                    <a:pt x="372361" y="0"/>
                  </a:moveTo>
                  <a:lnTo>
                    <a:pt x="540403" y="0"/>
                  </a:lnTo>
                  <a:cubicBezTo>
                    <a:pt x="568309" y="0"/>
                    <a:pt x="590915" y="22679"/>
                    <a:pt x="590915" y="50454"/>
                  </a:cubicBezTo>
                  <a:lnTo>
                    <a:pt x="590915" y="170245"/>
                  </a:lnTo>
                  <a:cubicBezTo>
                    <a:pt x="590915" y="198019"/>
                    <a:pt x="568309" y="220699"/>
                    <a:pt x="540403" y="220699"/>
                  </a:cubicBezTo>
                  <a:lnTo>
                    <a:pt x="510295" y="220699"/>
                  </a:lnTo>
                  <a:lnTo>
                    <a:pt x="509795" y="248973"/>
                  </a:lnTo>
                  <a:cubicBezTo>
                    <a:pt x="509795" y="252370"/>
                    <a:pt x="507995" y="255467"/>
                    <a:pt x="505194" y="257265"/>
                  </a:cubicBezTo>
                  <a:cubicBezTo>
                    <a:pt x="503494" y="258264"/>
                    <a:pt x="501693" y="258764"/>
                    <a:pt x="499793" y="258764"/>
                  </a:cubicBezTo>
                  <a:cubicBezTo>
                    <a:pt x="498392" y="258764"/>
                    <a:pt x="496992" y="258464"/>
                    <a:pt x="495592" y="257865"/>
                  </a:cubicBezTo>
                  <a:lnTo>
                    <a:pt x="415272" y="220699"/>
                  </a:lnTo>
                  <a:lnTo>
                    <a:pt x="372361" y="220699"/>
                  </a:lnTo>
                  <a:cubicBezTo>
                    <a:pt x="344555" y="220699"/>
                    <a:pt x="321849" y="198019"/>
                    <a:pt x="321849" y="170245"/>
                  </a:cubicBezTo>
                  <a:lnTo>
                    <a:pt x="321849" y="50454"/>
                  </a:lnTo>
                  <a:cubicBezTo>
                    <a:pt x="321849" y="22679"/>
                    <a:pt x="344555" y="0"/>
                    <a:pt x="3723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 Light"/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DA7DD6F5-44F8-475A-8A50-574E936A7934}"/>
                </a:ext>
              </a:extLst>
            </p:cNvPr>
            <p:cNvGrpSpPr/>
            <p:nvPr/>
          </p:nvGrpSpPr>
          <p:grpSpPr>
            <a:xfrm>
              <a:off x="8715509" y="6143434"/>
              <a:ext cx="578055" cy="154910"/>
              <a:chOff x="8435536" y="6047914"/>
              <a:chExt cx="871228" cy="233476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3D1CB378-1D31-4837-A1BD-3DD979FDD203}"/>
                  </a:ext>
                </a:extLst>
              </p:cNvPr>
              <p:cNvSpPr/>
              <p:nvPr/>
            </p:nvSpPr>
            <p:spPr>
              <a:xfrm>
                <a:off x="8435536" y="6047917"/>
                <a:ext cx="233464" cy="233463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A9844E31-A7A8-4B61-8656-FD1F7055C6D4}"/>
                  </a:ext>
                </a:extLst>
              </p:cNvPr>
              <p:cNvSpPr/>
              <p:nvPr userDrawn="1"/>
            </p:nvSpPr>
            <p:spPr>
              <a:xfrm>
                <a:off x="8754422" y="6047926"/>
                <a:ext cx="233464" cy="233464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ED7AE8C8-E44A-4C25-8F80-8D62AD7FBB30}"/>
                  </a:ext>
                </a:extLst>
              </p:cNvPr>
              <p:cNvSpPr/>
              <p:nvPr userDrawn="1"/>
            </p:nvSpPr>
            <p:spPr>
              <a:xfrm>
                <a:off x="9073300" y="6047914"/>
                <a:ext cx="233464" cy="233464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1284595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7FF10-30C0-ACD7-95C9-BB3A1D911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EB928977-BBFF-0676-4B8A-7A556C48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遇到的问题和拟解决方案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7698405-26DD-ED32-5F57-935909638F88}"/>
              </a:ext>
            </a:extLst>
          </p:cNvPr>
          <p:cNvSpPr txBox="1"/>
          <p:nvPr/>
        </p:nvSpPr>
        <p:spPr>
          <a:xfrm>
            <a:off x="1600200" y="2768223"/>
            <a:ext cx="3909646" cy="31618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为每个域设计测试代码，在开发环境中通过</a:t>
            </a:r>
            <a:r>
              <a:rPr kumimoji="0" lang="en-US" altLang="zh-CN" sz="2000" b="0" i="0" u="none" strike="noStrike" kern="1200" cap="none" spc="30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cfg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在加载后执行。观察运行日志，确认目前加载的所有域全部通过测试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000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之后逐步添加域的时候，也为每个域设计测试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A31E441-1284-49FD-B269-883FE4AF6C60}"/>
              </a:ext>
            </a:extLst>
          </p:cNvPr>
          <p:cNvSpPr txBox="1"/>
          <p:nvPr/>
        </p:nvSpPr>
        <p:spPr>
          <a:xfrm>
            <a:off x="6467501" y="2768223"/>
            <a:ext cx="3989215" cy="23616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重点关注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task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域和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trap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的实现，通过调试输出确定错误，必要时使用逐步调试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000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反编译</a:t>
            </a:r>
            <a:r>
              <a:rPr lang="en-US" altLang="zh-CN" sz="2000" spc="3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init</a:t>
            </a:r>
            <a:r>
              <a:rPr lang="zh-CN" altLang="en-US" sz="2000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二进制文件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000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补全</a:t>
            </a:r>
            <a:r>
              <a:rPr lang="en-US" altLang="zh-CN" sz="2000" spc="3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tls</a:t>
            </a:r>
            <a:r>
              <a:rPr lang="zh-CN" altLang="en-US" sz="2000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的实现</a:t>
            </a:r>
            <a:endParaRPr lang="en-US" altLang="zh-CN" sz="2000" spc="3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1FD5A4B-DB23-585D-BD4E-DC894CC95A18}"/>
              </a:ext>
            </a:extLst>
          </p:cNvPr>
          <p:cNvSpPr txBox="1"/>
          <p:nvPr/>
        </p:nvSpPr>
        <p:spPr>
          <a:xfrm>
            <a:off x="1735282" y="1615888"/>
            <a:ext cx="3774564" cy="619744"/>
          </a:xfrm>
          <a:prstGeom prst="roundRect">
            <a:avLst/>
          </a:prstGeom>
          <a:solidFill>
            <a:schemeClr val="accent1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kern="0" spc="300" dirty="0">
                <a:solidFill>
                  <a:srgbClr val="FFFFFF"/>
                </a:solidFill>
                <a:latin typeface="微软雅黑"/>
                <a:ea typeface="微软雅黑"/>
              </a:rPr>
              <a:t>驱动域实现错误</a:t>
            </a:r>
            <a:endParaRPr kumimoji="0" lang="zh-CN" altLang="en-US" sz="2800" b="1" i="0" u="none" strike="noStrike" kern="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E679483-78B7-1D26-C98A-2EA90CAFC01B}"/>
              </a:ext>
            </a:extLst>
          </p:cNvPr>
          <p:cNvSpPr txBox="1"/>
          <p:nvPr/>
        </p:nvSpPr>
        <p:spPr>
          <a:xfrm>
            <a:off x="6467502" y="1615888"/>
            <a:ext cx="3989216" cy="619744"/>
          </a:xfrm>
          <a:prstGeom prst="roundRect">
            <a:avLst/>
          </a:prstGeom>
          <a:solidFill>
            <a:schemeClr val="accent4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到用户</a:t>
            </a:r>
            <a:r>
              <a:rPr kumimoji="0" lang="en-US" altLang="zh-CN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/</a:t>
            </a:r>
            <a:r>
              <a:rPr kumimoji="0" lang="en-US" altLang="zh-CN" sz="2800" b="1" i="0" u="none" strike="noStrike" kern="0" cap="none" spc="3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init</a:t>
            </a:r>
            <a:r>
              <a: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卡死</a:t>
            </a:r>
          </a:p>
        </p:txBody>
      </p:sp>
    </p:spTree>
    <p:extLst>
      <p:ext uri="{BB962C8B-B14F-4D97-AF65-F5344CB8AC3E}">
        <p14:creationId xmlns:p14="http://schemas.microsoft.com/office/powerpoint/2010/main" val="911736776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6547220" y="1381942"/>
            <a:ext cx="4190733" cy="4641035"/>
            <a:chOff x="6909170" y="1553392"/>
            <a:chExt cx="4190733" cy="4641035"/>
          </a:xfrm>
        </p:grpSpPr>
        <p:sp>
          <p:nvSpPr>
            <p:cNvPr id="34" name="文本占位符 11">
              <a:extLst>
                <a:ext uri="{FF2B5EF4-FFF2-40B4-BE49-F238E27FC236}">
                  <a16:creationId xmlns:a16="http://schemas.microsoft.com/office/drawing/2014/main" id="{66267EB0-2290-4266-B111-351AB19F67B3}"/>
                </a:ext>
              </a:extLst>
            </p:cNvPr>
            <p:cNvSpPr txBox="1">
              <a:spLocks/>
            </p:cNvSpPr>
            <p:nvPr/>
          </p:nvSpPr>
          <p:spPr>
            <a:xfrm>
              <a:off x="6909170" y="4034115"/>
              <a:ext cx="4190733" cy="546127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 Light"/>
                  <a:sym typeface="+mn-lt"/>
                </a:rPr>
                <a:t>Next tasks &amp; schedules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entury Gothic" panose="020B0502020202020204" pitchFamily="34" charset="0"/>
                <a:ea typeface="微软雅黑 Light"/>
                <a:sym typeface="+mn-lt"/>
              </a:endParaRPr>
            </a:p>
          </p:txBody>
        </p:sp>
        <p:sp>
          <p:nvSpPr>
            <p:cNvPr id="37" name="文本占位符 12">
              <a:extLst>
                <a:ext uri="{FF2B5EF4-FFF2-40B4-BE49-F238E27FC236}">
                  <a16:creationId xmlns:a16="http://schemas.microsoft.com/office/drawing/2014/main" id="{0F7673E7-C907-4517-B8BE-868E548CB899}"/>
                </a:ext>
              </a:extLst>
            </p:cNvPr>
            <p:cNvSpPr txBox="1">
              <a:spLocks/>
            </p:cNvSpPr>
            <p:nvPr/>
          </p:nvSpPr>
          <p:spPr>
            <a:xfrm>
              <a:off x="6909170" y="3031304"/>
              <a:ext cx="4190733" cy="795391"/>
            </a:xfrm>
            <a:prstGeom prst="rect">
              <a:avLst/>
            </a:prstGeom>
          </p:spPr>
          <p:txBody>
            <a:bodyPr vert="horz" lIns="0" tIns="0" rIns="0" bIns="0" rtlCol="0" anchor="ctr">
              <a:normAutofit fontScale="62500" lnSpcReduction="200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40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微软雅黑" panose="020B0503020204020204" pitchFamily="34" charset="-122"/>
                  <a:cs typeface="+mn-ea"/>
                  <a:sym typeface="+mn-lt"/>
                </a:rPr>
                <a:t>下一步研究任务与进度安排</a:t>
              </a:r>
            </a:p>
          </p:txBody>
        </p:sp>
        <p:sp>
          <p:nvSpPr>
            <p:cNvPr id="38" name="books-group_25777">
              <a:extLst>
                <a:ext uri="{FF2B5EF4-FFF2-40B4-BE49-F238E27FC236}">
                  <a16:creationId xmlns:a16="http://schemas.microsoft.com/office/drawing/2014/main" id="{C9CCEE00-BDDF-4C06-9378-E7C93C389A2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294905" y="1553392"/>
              <a:ext cx="1419262" cy="1018642"/>
            </a:xfrm>
            <a:custGeom>
              <a:avLst/>
              <a:gdLst>
                <a:gd name="T0" fmla="*/ 520 w 3958"/>
                <a:gd name="T1" fmla="*/ 1816 h 2845"/>
                <a:gd name="T2" fmla="*/ 600 w 3958"/>
                <a:gd name="T3" fmla="*/ 1832 h 2845"/>
                <a:gd name="T4" fmla="*/ 1800 w 3958"/>
                <a:gd name="T5" fmla="*/ 1326 h 2845"/>
                <a:gd name="T6" fmla="*/ 894 w 3958"/>
                <a:gd name="T7" fmla="*/ 1890 h 2845"/>
                <a:gd name="T8" fmla="*/ 860 w 3958"/>
                <a:gd name="T9" fmla="*/ 1952 h 2845"/>
                <a:gd name="T10" fmla="*/ 860 w 3958"/>
                <a:gd name="T11" fmla="*/ 2463 h 2845"/>
                <a:gd name="T12" fmla="*/ 901 w 3958"/>
                <a:gd name="T13" fmla="*/ 2713 h 2845"/>
                <a:gd name="T14" fmla="*/ 1060 w 3958"/>
                <a:gd name="T15" fmla="*/ 2837 h 2845"/>
                <a:gd name="T16" fmla="*/ 1198 w 3958"/>
                <a:gd name="T17" fmla="*/ 2771 h 2845"/>
                <a:gd name="T18" fmla="*/ 1371 w 3958"/>
                <a:gd name="T19" fmla="*/ 2603 h 2845"/>
                <a:gd name="T20" fmla="*/ 1624 w 3958"/>
                <a:gd name="T21" fmla="*/ 2779 h 2845"/>
                <a:gd name="T22" fmla="*/ 1844 w 3958"/>
                <a:gd name="T23" fmla="*/ 2845 h 2845"/>
                <a:gd name="T24" fmla="*/ 2296 w 3958"/>
                <a:gd name="T25" fmla="*/ 2591 h 2845"/>
                <a:gd name="T26" fmla="*/ 3851 w 3958"/>
                <a:gd name="T27" fmla="*/ 396 h 2845"/>
                <a:gd name="T28" fmla="*/ 3920 w 3958"/>
                <a:gd name="T29" fmla="*/ 95 h 2845"/>
                <a:gd name="T30" fmla="*/ 3730 w 3958"/>
                <a:gd name="T31" fmla="*/ 0 h 2845"/>
                <a:gd name="T32" fmla="*/ 3592 w 3958"/>
                <a:gd name="T33" fmla="*/ 20 h 2845"/>
                <a:gd name="T34" fmla="*/ 307 w 3958"/>
                <a:gd name="T35" fmla="*/ 859 h 2845"/>
                <a:gd name="T36" fmla="*/ 31 w 3958"/>
                <a:gd name="T37" fmla="*/ 1089 h 2845"/>
                <a:gd name="T38" fmla="*/ 146 w 3958"/>
                <a:gd name="T39" fmla="*/ 1429 h 2845"/>
                <a:gd name="T40" fmla="*/ 520 w 3958"/>
                <a:gd name="T41" fmla="*/ 1816 h 2845"/>
                <a:gd name="T42" fmla="*/ 171 w 3958"/>
                <a:gd name="T43" fmla="*/ 1128 h 2845"/>
                <a:gd name="T44" fmla="*/ 343 w 3958"/>
                <a:gd name="T45" fmla="*/ 1000 h 2845"/>
                <a:gd name="T46" fmla="*/ 3628 w 3958"/>
                <a:gd name="T47" fmla="*/ 160 h 2845"/>
                <a:gd name="T48" fmla="*/ 3791 w 3958"/>
                <a:gd name="T49" fmla="*/ 162 h 2845"/>
                <a:gd name="T50" fmla="*/ 3733 w 3958"/>
                <a:gd name="T51" fmla="*/ 312 h 2845"/>
                <a:gd name="T52" fmla="*/ 2177 w 3958"/>
                <a:gd name="T53" fmla="*/ 2507 h 2845"/>
                <a:gd name="T54" fmla="*/ 1844 w 3958"/>
                <a:gd name="T55" fmla="*/ 2700 h 2845"/>
                <a:gd name="T56" fmla="*/ 1707 w 3958"/>
                <a:gd name="T57" fmla="*/ 2659 h 2845"/>
                <a:gd name="T58" fmla="*/ 1404 w 3958"/>
                <a:gd name="T59" fmla="*/ 2450 h 2845"/>
                <a:gd name="T60" fmla="*/ 1363 w 3958"/>
                <a:gd name="T61" fmla="*/ 2437 h 2845"/>
                <a:gd name="T62" fmla="*/ 1312 w 3958"/>
                <a:gd name="T63" fmla="*/ 2458 h 2845"/>
                <a:gd name="T64" fmla="*/ 1097 w 3958"/>
                <a:gd name="T65" fmla="*/ 2667 h 2845"/>
                <a:gd name="T66" fmla="*/ 1060 w 3958"/>
                <a:gd name="T67" fmla="*/ 2692 h 2845"/>
                <a:gd name="T68" fmla="*/ 1005 w 3958"/>
                <a:gd name="T69" fmla="*/ 2463 h 2845"/>
                <a:gd name="T70" fmla="*/ 1005 w 3958"/>
                <a:gd name="T71" fmla="*/ 1992 h 2845"/>
                <a:gd name="T72" fmla="*/ 2656 w 3958"/>
                <a:gd name="T73" fmla="*/ 963 h 2845"/>
                <a:gd name="T74" fmla="*/ 2682 w 3958"/>
                <a:gd name="T75" fmla="*/ 868 h 2845"/>
                <a:gd name="T76" fmla="*/ 2590 w 3958"/>
                <a:gd name="T77" fmla="*/ 835 h 2845"/>
                <a:gd name="T78" fmla="*/ 590 w 3958"/>
                <a:gd name="T79" fmla="*/ 1679 h 2845"/>
                <a:gd name="T80" fmla="*/ 250 w 3958"/>
                <a:gd name="T81" fmla="*/ 1328 h 2845"/>
                <a:gd name="T82" fmla="*/ 171 w 3958"/>
                <a:gd name="T83" fmla="*/ 1128 h 2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958" h="2845">
                  <a:moveTo>
                    <a:pt x="520" y="1816"/>
                  </a:moveTo>
                  <a:cubicBezTo>
                    <a:pt x="541" y="1837"/>
                    <a:pt x="573" y="1844"/>
                    <a:pt x="600" y="1832"/>
                  </a:cubicBezTo>
                  <a:lnTo>
                    <a:pt x="1800" y="1326"/>
                  </a:lnTo>
                  <a:lnTo>
                    <a:pt x="894" y="1890"/>
                  </a:lnTo>
                  <a:cubicBezTo>
                    <a:pt x="873" y="1903"/>
                    <a:pt x="860" y="1926"/>
                    <a:pt x="860" y="1952"/>
                  </a:cubicBezTo>
                  <a:lnTo>
                    <a:pt x="860" y="2463"/>
                  </a:lnTo>
                  <a:cubicBezTo>
                    <a:pt x="860" y="2564"/>
                    <a:pt x="874" y="2651"/>
                    <a:pt x="901" y="2713"/>
                  </a:cubicBezTo>
                  <a:cubicBezTo>
                    <a:pt x="948" y="2821"/>
                    <a:pt x="1020" y="2837"/>
                    <a:pt x="1060" y="2837"/>
                  </a:cubicBezTo>
                  <a:cubicBezTo>
                    <a:pt x="1107" y="2837"/>
                    <a:pt x="1153" y="2815"/>
                    <a:pt x="1198" y="2771"/>
                  </a:cubicBezTo>
                  <a:lnTo>
                    <a:pt x="1371" y="2603"/>
                  </a:lnTo>
                  <a:lnTo>
                    <a:pt x="1624" y="2779"/>
                  </a:lnTo>
                  <a:cubicBezTo>
                    <a:pt x="1687" y="2822"/>
                    <a:pt x="1763" y="2845"/>
                    <a:pt x="1844" y="2845"/>
                  </a:cubicBezTo>
                  <a:cubicBezTo>
                    <a:pt x="2011" y="2845"/>
                    <a:pt x="2184" y="2748"/>
                    <a:pt x="2296" y="2591"/>
                  </a:cubicBezTo>
                  <a:lnTo>
                    <a:pt x="3851" y="396"/>
                  </a:lnTo>
                  <a:cubicBezTo>
                    <a:pt x="3958" y="245"/>
                    <a:pt x="3948" y="149"/>
                    <a:pt x="3920" y="95"/>
                  </a:cubicBezTo>
                  <a:cubicBezTo>
                    <a:pt x="3901" y="60"/>
                    <a:pt x="3852" y="0"/>
                    <a:pt x="3730" y="0"/>
                  </a:cubicBezTo>
                  <a:cubicBezTo>
                    <a:pt x="3689" y="0"/>
                    <a:pt x="3643" y="7"/>
                    <a:pt x="3592" y="20"/>
                  </a:cubicBezTo>
                  <a:lnTo>
                    <a:pt x="307" y="859"/>
                  </a:lnTo>
                  <a:cubicBezTo>
                    <a:pt x="161" y="896"/>
                    <a:pt x="63" y="978"/>
                    <a:pt x="31" y="1089"/>
                  </a:cubicBezTo>
                  <a:cubicBezTo>
                    <a:pt x="0" y="1200"/>
                    <a:pt x="41" y="1320"/>
                    <a:pt x="146" y="1429"/>
                  </a:cubicBezTo>
                  <a:lnTo>
                    <a:pt x="520" y="1816"/>
                  </a:lnTo>
                  <a:close/>
                  <a:moveTo>
                    <a:pt x="171" y="1128"/>
                  </a:moveTo>
                  <a:cubicBezTo>
                    <a:pt x="188" y="1069"/>
                    <a:pt x="249" y="1024"/>
                    <a:pt x="343" y="1000"/>
                  </a:cubicBezTo>
                  <a:lnTo>
                    <a:pt x="3628" y="160"/>
                  </a:lnTo>
                  <a:cubicBezTo>
                    <a:pt x="3716" y="138"/>
                    <a:pt x="3783" y="147"/>
                    <a:pt x="3791" y="162"/>
                  </a:cubicBezTo>
                  <a:cubicBezTo>
                    <a:pt x="3798" y="175"/>
                    <a:pt x="3795" y="224"/>
                    <a:pt x="3733" y="312"/>
                  </a:cubicBezTo>
                  <a:lnTo>
                    <a:pt x="2177" y="2507"/>
                  </a:lnTo>
                  <a:cubicBezTo>
                    <a:pt x="2093" y="2626"/>
                    <a:pt x="1965" y="2700"/>
                    <a:pt x="1844" y="2700"/>
                  </a:cubicBezTo>
                  <a:cubicBezTo>
                    <a:pt x="1792" y="2700"/>
                    <a:pt x="1746" y="2687"/>
                    <a:pt x="1707" y="2659"/>
                  </a:cubicBezTo>
                  <a:lnTo>
                    <a:pt x="1404" y="2450"/>
                  </a:lnTo>
                  <a:cubicBezTo>
                    <a:pt x="1392" y="2441"/>
                    <a:pt x="1377" y="2437"/>
                    <a:pt x="1363" y="2437"/>
                  </a:cubicBezTo>
                  <a:cubicBezTo>
                    <a:pt x="1345" y="2437"/>
                    <a:pt x="1326" y="2444"/>
                    <a:pt x="1312" y="2458"/>
                  </a:cubicBezTo>
                  <a:lnTo>
                    <a:pt x="1097" y="2667"/>
                  </a:lnTo>
                  <a:cubicBezTo>
                    <a:pt x="1072" y="2691"/>
                    <a:pt x="1060" y="2691"/>
                    <a:pt x="1060" y="2692"/>
                  </a:cubicBezTo>
                  <a:cubicBezTo>
                    <a:pt x="1046" y="2687"/>
                    <a:pt x="1005" y="2623"/>
                    <a:pt x="1005" y="2463"/>
                  </a:cubicBezTo>
                  <a:lnTo>
                    <a:pt x="1005" y="1992"/>
                  </a:lnTo>
                  <a:lnTo>
                    <a:pt x="2656" y="963"/>
                  </a:lnTo>
                  <a:cubicBezTo>
                    <a:pt x="2688" y="943"/>
                    <a:pt x="2700" y="902"/>
                    <a:pt x="2682" y="868"/>
                  </a:cubicBezTo>
                  <a:cubicBezTo>
                    <a:pt x="2665" y="834"/>
                    <a:pt x="2624" y="820"/>
                    <a:pt x="2590" y="835"/>
                  </a:cubicBezTo>
                  <a:lnTo>
                    <a:pt x="590" y="1679"/>
                  </a:lnTo>
                  <a:lnTo>
                    <a:pt x="250" y="1328"/>
                  </a:lnTo>
                  <a:cubicBezTo>
                    <a:pt x="182" y="1258"/>
                    <a:pt x="154" y="1187"/>
                    <a:pt x="171" y="11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 Light"/>
              </a:endParaRP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3ED5D7B8-4202-4930-942D-6D3830042276}"/>
                </a:ext>
              </a:extLst>
            </p:cNvPr>
            <p:cNvGrpSpPr/>
            <p:nvPr/>
          </p:nvGrpSpPr>
          <p:grpSpPr>
            <a:xfrm>
              <a:off x="8655043" y="6039523"/>
              <a:ext cx="578053" cy="154904"/>
              <a:chOff x="8344414" y="5891304"/>
              <a:chExt cx="871226" cy="233467"/>
            </a:xfrm>
          </p:grpSpPr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D24CAB13-66C0-4D30-8ED1-FECEF462520B}"/>
                  </a:ext>
                </a:extLst>
              </p:cNvPr>
              <p:cNvSpPr/>
              <p:nvPr userDrawn="1"/>
            </p:nvSpPr>
            <p:spPr>
              <a:xfrm>
                <a:off x="8344414" y="5891304"/>
                <a:ext cx="233464" cy="233464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FF44423E-726A-4509-A628-344D6068B58E}"/>
                  </a:ext>
                </a:extLst>
              </p:cNvPr>
              <p:cNvSpPr/>
              <p:nvPr userDrawn="1"/>
            </p:nvSpPr>
            <p:spPr>
              <a:xfrm>
                <a:off x="8663294" y="5891307"/>
                <a:ext cx="233464" cy="233464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D14A82F5-4952-4037-A4CA-09EC5B1819C9}"/>
                  </a:ext>
                </a:extLst>
              </p:cNvPr>
              <p:cNvSpPr/>
              <p:nvPr userDrawn="1"/>
            </p:nvSpPr>
            <p:spPr>
              <a:xfrm>
                <a:off x="8982176" y="5891307"/>
                <a:ext cx="233464" cy="233464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7519528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B0EEE-E4B4-EA44-E52A-526324454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11789269-8787-D28F-CACB-6DCF03AB50FF}"/>
              </a:ext>
            </a:extLst>
          </p:cNvPr>
          <p:cNvSpPr/>
          <p:nvPr/>
        </p:nvSpPr>
        <p:spPr>
          <a:xfrm>
            <a:off x="1206302" y="1232515"/>
            <a:ext cx="10221361" cy="480436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2" name="文本占位符 67">
            <a:extLst>
              <a:ext uri="{FF2B5EF4-FFF2-40B4-BE49-F238E27FC236}">
                <a16:creationId xmlns:a16="http://schemas.microsoft.com/office/drawing/2014/main" id="{D804D7C5-7A8C-4074-F78B-65A8DAEFF58E}"/>
              </a:ext>
            </a:extLst>
          </p:cNvPr>
          <p:cNvSpPr txBox="1">
            <a:spLocks/>
          </p:cNvSpPr>
          <p:nvPr/>
        </p:nvSpPr>
        <p:spPr>
          <a:xfrm>
            <a:off x="798789" y="1125538"/>
            <a:ext cx="10532646" cy="482655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5F4892C0-F42E-2318-7564-9330EBA3A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时间线</a:t>
            </a:r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87E650D1-73EF-FE82-1F08-895B4DCBB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199035"/>
              </p:ext>
            </p:extLst>
          </p:nvPr>
        </p:nvGraphicFramePr>
        <p:xfrm>
          <a:off x="798789" y="1125538"/>
          <a:ext cx="10532646" cy="4826552"/>
        </p:xfrm>
        <a:graphic>
          <a:graphicData uri="http://schemas.openxmlformats.org/drawingml/2006/table">
            <a:tbl>
              <a:tblPr/>
              <a:tblGrid>
                <a:gridCol w="2446829">
                  <a:extLst>
                    <a:ext uri="{9D8B030D-6E8A-4147-A177-3AD203B41FA5}">
                      <a16:colId xmlns:a16="http://schemas.microsoft.com/office/drawing/2014/main" val="305437549"/>
                    </a:ext>
                  </a:extLst>
                </a:gridCol>
                <a:gridCol w="8085817">
                  <a:extLst>
                    <a:ext uri="{9D8B030D-6E8A-4147-A177-3AD203B41FA5}">
                      <a16:colId xmlns:a16="http://schemas.microsoft.com/office/drawing/2014/main" val="3275846858"/>
                    </a:ext>
                  </a:extLst>
                </a:gridCol>
              </a:tblGrid>
              <a:tr h="60331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0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(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中期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) - 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1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 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Arial"/>
                        <a:ea typeface="微软雅黑 Light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9pPr>
                    </a:lstStyle>
                    <a:p>
                      <a:pPr algn="l"/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Arial"/>
                          <a:ea typeface="微软雅黑 Light"/>
                          <a:cs typeface="+mn-cs"/>
                        </a:rPr>
                        <a:t>修复驱动和用户程序支持问题，通过用户测试用例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177875"/>
                  </a:ext>
                </a:extLst>
              </a:tr>
              <a:tr h="603319">
                <a:tc>
                  <a:txBody>
                    <a:bodyPr/>
                    <a:lstStyle/>
                    <a:p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？</a:t>
                      </a:r>
                      <a:endParaRPr lang="en-US" altLang="zh-CN" sz="2000" dirty="0"/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9pPr>
                    </a:lstStyle>
                    <a:p>
                      <a:r>
                        <a:rPr lang="zh-CN" altLang="en-US" sz="2000" dirty="0"/>
                        <a:t>移植到</a:t>
                      </a:r>
                      <a:r>
                        <a:rPr lang="en-US" altLang="zh-CN" sz="2000" dirty="0"/>
                        <a:t>x86_64</a:t>
                      </a:r>
                      <a:r>
                        <a:rPr lang="zh-CN" altLang="en-US" sz="2000" dirty="0"/>
                        <a:t>物理机（可选）</a:t>
                      </a:r>
                      <a:endParaRPr lang="en-US" altLang="zh-CN" sz="20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228808"/>
                  </a:ext>
                </a:extLst>
              </a:tr>
              <a:tr h="6033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1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 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– 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4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 </a:t>
                      </a:r>
                      <a:endParaRPr lang="en-US" altLang="zh-CN" sz="2000" dirty="0"/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引入</a:t>
                      </a:r>
                      <a:r>
                        <a:rPr lang="en-US" altLang="zh-CN" sz="2000" dirty="0" err="1"/>
                        <a:t>vDSO</a:t>
                      </a:r>
                      <a:r>
                        <a:rPr lang="zh-CN" altLang="en-US" sz="2000" dirty="0"/>
                        <a:t>和统一调度框架，改造现有的</a:t>
                      </a:r>
                      <a:r>
                        <a:rPr lang="en-US" altLang="zh-CN" sz="2000" dirty="0" err="1"/>
                        <a:t>yv</a:t>
                      </a:r>
                      <a:endParaRPr lang="en-US" altLang="zh-CN" sz="20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524803"/>
                  </a:ext>
                </a:extLst>
              </a:tr>
              <a:tr h="6033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5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 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– 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8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 </a:t>
                      </a:r>
                      <a:endParaRPr lang="en-US" altLang="zh-CN" sz="2000" dirty="0"/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引入用户态中断，完善统一调度框架</a:t>
                      </a:r>
                      <a:endParaRPr lang="en-US" altLang="zh-CN" sz="20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14169"/>
                  </a:ext>
                </a:extLst>
              </a:tr>
              <a:tr h="6033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？</a:t>
                      </a:r>
                      <a:endParaRPr lang="en-US" altLang="zh-CN" sz="2000" dirty="0"/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实现异步网络驱动（可选）</a:t>
                      </a:r>
                      <a:endParaRPr lang="en-US" altLang="zh-CN" sz="20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183746"/>
                  </a:ext>
                </a:extLst>
              </a:tr>
              <a:tr h="6033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？</a:t>
                      </a:r>
                      <a:endParaRPr lang="en-US" altLang="zh-CN" sz="2000" dirty="0"/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实现类似</a:t>
                      </a:r>
                      <a:r>
                        <a:rPr lang="en-US" altLang="zh-CN" sz="2000" dirty="0" err="1"/>
                        <a:t>io_uring</a:t>
                      </a:r>
                      <a:r>
                        <a:rPr lang="zh-CN" altLang="en-US" sz="2000" dirty="0"/>
                        <a:t>的异步</a:t>
                      </a:r>
                      <a:r>
                        <a:rPr lang="en-US" altLang="zh-CN" sz="2000" dirty="0"/>
                        <a:t>IO</a:t>
                      </a:r>
                      <a:r>
                        <a:rPr lang="zh-CN" altLang="en-US" sz="2000" dirty="0"/>
                        <a:t>模块</a:t>
                      </a:r>
                      <a:r>
                        <a:rPr lang="en-US" altLang="zh-CN" sz="2000" dirty="0"/>
                        <a:t>(</a:t>
                      </a:r>
                      <a:r>
                        <a:rPr lang="zh-CN" altLang="en-US" sz="2000" dirty="0"/>
                        <a:t>可选</a:t>
                      </a:r>
                      <a:r>
                        <a:rPr lang="en-US" altLang="zh-CN" sz="20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426389"/>
                  </a:ext>
                </a:extLst>
              </a:tr>
              <a:tr h="6033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9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 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– 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10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 </a:t>
                      </a:r>
                      <a:endParaRPr lang="en-US" altLang="zh-CN" sz="2000" dirty="0"/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进行系统功能与性能测试，优化关键模块</a:t>
                      </a:r>
                      <a:endParaRPr lang="en-US" altLang="zh-CN" sz="20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416898"/>
                  </a:ext>
                </a:extLst>
              </a:tr>
              <a:tr h="6033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11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 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– 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12</a:t>
                      </a:r>
                      <a:r>
                        <a:rPr lang="zh-CN" altLang="en-US" sz="2000" kern="1200" dirty="0">
                          <a:solidFill>
                            <a:schemeClr val="accent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 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Arial"/>
                        <a:ea typeface="微软雅黑 Light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Arial"/>
                          <a:ea typeface="微软雅黑 Light"/>
                          <a:cs typeface="+mn-cs"/>
                        </a:rPr>
                        <a:t>撰写毕业设计论文，准备答辩</a:t>
                      </a:r>
                      <a:endParaRPr lang="en-US" altLang="zh-CN" sz="2000" kern="1200" dirty="0">
                        <a:solidFill>
                          <a:schemeClr val="tx1"/>
                        </a:solidFill>
                        <a:latin typeface="Arial"/>
                        <a:ea typeface="微软雅黑 Light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434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188000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4596D304-13D1-4BAB-85AD-218F251EC87E}"/>
              </a:ext>
            </a:extLst>
          </p:cNvPr>
          <p:cNvSpPr txBox="1"/>
          <p:nvPr/>
        </p:nvSpPr>
        <p:spPr>
          <a:xfrm>
            <a:off x="660399" y="3576453"/>
            <a:ext cx="10858501" cy="9448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感谢各位老师  请您批评指正</a:t>
            </a: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15F45701-0E09-42AA-8D39-D350E0628036}"/>
              </a:ext>
            </a:extLst>
          </p:cNvPr>
          <p:cNvCxnSpPr>
            <a:cxnSpLocks/>
          </p:cNvCxnSpPr>
          <p:nvPr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businessman_126354">
            <a:extLst>
              <a:ext uri="{FF2B5EF4-FFF2-40B4-BE49-F238E27FC236}">
                <a16:creationId xmlns:a16="http://schemas.microsoft.com/office/drawing/2014/main" id="{3D89F8DB-8490-4C4B-9786-91BF28DE6B25}"/>
              </a:ext>
            </a:extLst>
          </p:cNvPr>
          <p:cNvSpPr>
            <a:spLocks noChangeAspect="1"/>
          </p:cNvSpPr>
          <p:nvPr/>
        </p:nvSpPr>
        <p:spPr bwMode="auto">
          <a:xfrm>
            <a:off x="6428005" y="4989835"/>
            <a:ext cx="324490" cy="323999"/>
          </a:xfrm>
          <a:custGeom>
            <a:avLst/>
            <a:gdLst>
              <a:gd name="connsiteX0" fmla="*/ 296829 w 606086"/>
              <a:gd name="connsiteY0" fmla="*/ 111836 h 605169"/>
              <a:gd name="connsiteX1" fmla="*/ 345700 w 606086"/>
              <a:gd name="connsiteY1" fmla="*/ 122069 h 605169"/>
              <a:gd name="connsiteX2" fmla="*/ 369424 w 606086"/>
              <a:gd name="connsiteY2" fmla="*/ 144052 h 605169"/>
              <a:gd name="connsiteX3" fmla="*/ 395520 w 606086"/>
              <a:gd name="connsiteY3" fmla="*/ 226770 h 605169"/>
              <a:gd name="connsiteX4" fmla="*/ 392104 w 606086"/>
              <a:gd name="connsiteY4" fmla="*/ 239561 h 605169"/>
              <a:gd name="connsiteX5" fmla="*/ 400360 w 606086"/>
              <a:gd name="connsiteY5" fmla="*/ 274430 h 605169"/>
              <a:gd name="connsiteX6" fmla="*/ 383469 w 606086"/>
              <a:gd name="connsiteY6" fmla="*/ 303708 h 605169"/>
              <a:gd name="connsiteX7" fmla="*/ 324444 w 606086"/>
              <a:gd name="connsiteY7" fmla="*/ 376666 h 605169"/>
              <a:gd name="connsiteX8" fmla="*/ 281172 w 606086"/>
              <a:gd name="connsiteY8" fmla="*/ 376761 h 605169"/>
              <a:gd name="connsiteX9" fmla="*/ 222147 w 606086"/>
              <a:gd name="connsiteY9" fmla="*/ 303708 h 605169"/>
              <a:gd name="connsiteX10" fmla="*/ 205350 w 606086"/>
              <a:gd name="connsiteY10" fmla="*/ 274430 h 605169"/>
              <a:gd name="connsiteX11" fmla="*/ 213701 w 606086"/>
              <a:gd name="connsiteY11" fmla="*/ 239656 h 605169"/>
              <a:gd name="connsiteX12" fmla="*/ 210285 w 606086"/>
              <a:gd name="connsiteY12" fmla="*/ 226959 h 605169"/>
              <a:gd name="connsiteX13" fmla="*/ 210190 w 606086"/>
              <a:gd name="connsiteY13" fmla="*/ 186216 h 605169"/>
              <a:gd name="connsiteX14" fmla="*/ 233914 w 606086"/>
              <a:gd name="connsiteY14" fmla="*/ 144715 h 605169"/>
              <a:gd name="connsiteX15" fmla="*/ 255929 w 606086"/>
              <a:gd name="connsiteY15" fmla="*/ 126523 h 605169"/>
              <a:gd name="connsiteX16" fmla="*/ 277376 w 606086"/>
              <a:gd name="connsiteY16" fmla="*/ 115531 h 605169"/>
              <a:gd name="connsiteX17" fmla="*/ 296829 w 606086"/>
              <a:gd name="connsiteY17" fmla="*/ 111836 h 605169"/>
              <a:gd name="connsiteX18" fmla="*/ 304039 w 606086"/>
              <a:gd name="connsiteY18" fmla="*/ 58271 h 605169"/>
              <a:gd name="connsiteX19" fmla="*/ 59309 w 606086"/>
              <a:gd name="connsiteY19" fmla="*/ 302537 h 605169"/>
              <a:gd name="connsiteX20" fmla="*/ 113398 w 606086"/>
              <a:gd name="connsiteY20" fmla="*/ 455559 h 605169"/>
              <a:gd name="connsiteX21" fmla="*/ 149078 w 606086"/>
              <a:gd name="connsiteY21" fmla="*/ 407331 h 605169"/>
              <a:gd name="connsiteX22" fmla="*/ 236001 w 606086"/>
              <a:gd name="connsiteY22" fmla="*/ 367725 h 605169"/>
              <a:gd name="connsiteX23" fmla="*/ 272155 w 606086"/>
              <a:gd name="connsiteY23" fmla="*/ 481804 h 605169"/>
              <a:gd name="connsiteX24" fmla="*/ 277090 w 606086"/>
              <a:gd name="connsiteY24" fmla="*/ 497249 h 605169"/>
              <a:gd name="connsiteX25" fmla="*/ 293316 w 606086"/>
              <a:gd name="connsiteY25" fmla="*/ 451484 h 605169"/>
              <a:gd name="connsiteX26" fmla="*/ 304039 w 606086"/>
              <a:gd name="connsiteY26" fmla="*/ 397193 h 605169"/>
              <a:gd name="connsiteX27" fmla="*/ 314762 w 606086"/>
              <a:gd name="connsiteY27" fmla="*/ 451484 h 605169"/>
              <a:gd name="connsiteX28" fmla="*/ 330894 w 606086"/>
              <a:gd name="connsiteY28" fmla="*/ 496965 h 605169"/>
              <a:gd name="connsiteX29" fmla="*/ 335829 w 606086"/>
              <a:gd name="connsiteY29" fmla="*/ 481710 h 605169"/>
              <a:gd name="connsiteX30" fmla="*/ 335924 w 606086"/>
              <a:gd name="connsiteY30" fmla="*/ 481994 h 605169"/>
              <a:gd name="connsiteX31" fmla="*/ 341617 w 606086"/>
              <a:gd name="connsiteY31" fmla="*/ 463897 h 605169"/>
              <a:gd name="connsiteX32" fmla="*/ 371983 w 606086"/>
              <a:gd name="connsiteY32" fmla="*/ 367915 h 605169"/>
              <a:gd name="connsiteX33" fmla="*/ 458906 w 606086"/>
              <a:gd name="connsiteY33" fmla="*/ 407426 h 605169"/>
              <a:gd name="connsiteX34" fmla="*/ 494586 w 606086"/>
              <a:gd name="connsiteY34" fmla="*/ 455653 h 605169"/>
              <a:gd name="connsiteX35" fmla="*/ 548770 w 606086"/>
              <a:gd name="connsiteY35" fmla="*/ 302537 h 605169"/>
              <a:gd name="connsiteX36" fmla="*/ 304039 w 606086"/>
              <a:gd name="connsiteY36" fmla="*/ 58271 h 605169"/>
              <a:gd name="connsiteX37" fmla="*/ 302996 w 606086"/>
              <a:gd name="connsiteY37" fmla="*/ 0 h 605169"/>
              <a:gd name="connsiteX38" fmla="*/ 606086 w 606086"/>
              <a:gd name="connsiteY38" fmla="*/ 302537 h 605169"/>
              <a:gd name="connsiteX39" fmla="*/ 302996 w 606086"/>
              <a:gd name="connsiteY39" fmla="*/ 605169 h 605169"/>
              <a:gd name="connsiteX40" fmla="*/ 0 w 606086"/>
              <a:gd name="connsiteY40" fmla="*/ 302537 h 605169"/>
              <a:gd name="connsiteX41" fmla="*/ 302996 w 606086"/>
              <a:gd name="connsiteY41" fmla="*/ 0 h 605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06086" h="605169">
                <a:moveTo>
                  <a:pt x="296829" y="111836"/>
                </a:moveTo>
                <a:cubicBezTo>
                  <a:pt x="318086" y="109941"/>
                  <a:pt x="334123" y="115247"/>
                  <a:pt x="345700" y="122069"/>
                </a:cubicBezTo>
                <a:cubicBezTo>
                  <a:pt x="362876" y="131544"/>
                  <a:pt x="369424" y="144052"/>
                  <a:pt x="369424" y="144052"/>
                </a:cubicBezTo>
                <a:cubicBezTo>
                  <a:pt x="369424" y="144052"/>
                  <a:pt x="408806" y="146799"/>
                  <a:pt x="395520" y="226770"/>
                </a:cubicBezTo>
                <a:cubicBezTo>
                  <a:pt x="394761" y="231128"/>
                  <a:pt x="393622" y="235297"/>
                  <a:pt x="392104" y="239561"/>
                </a:cubicBezTo>
                <a:cubicBezTo>
                  <a:pt x="400075" y="238803"/>
                  <a:pt x="409280" y="243351"/>
                  <a:pt x="400360" y="274430"/>
                </a:cubicBezTo>
                <a:cubicBezTo>
                  <a:pt x="394002" y="297075"/>
                  <a:pt x="388023" y="303329"/>
                  <a:pt x="383469" y="303708"/>
                </a:cubicBezTo>
                <a:cubicBezTo>
                  <a:pt x="379293" y="330522"/>
                  <a:pt x="357942" y="364538"/>
                  <a:pt x="324444" y="376666"/>
                </a:cubicBezTo>
                <a:cubicBezTo>
                  <a:pt x="310494" y="381688"/>
                  <a:pt x="295026" y="381688"/>
                  <a:pt x="281172" y="376761"/>
                </a:cubicBezTo>
                <a:cubicBezTo>
                  <a:pt x="247009" y="364728"/>
                  <a:pt x="226322" y="330617"/>
                  <a:pt x="222147" y="303708"/>
                </a:cubicBezTo>
                <a:cubicBezTo>
                  <a:pt x="217782" y="303329"/>
                  <a:pt x="211803" y="297075"/>
                  <a:pt x="205350" y="274430"/>
                </a:cubicBezTo>
                <a:cubicBezTo>
                  <a:pt x="196525" y="243446"/>
                  <a:pt x="205825" y="238898"/>
                  <a:pt x="213701" y="239656"/>
                </a:cubicBezTo>
                <a:cubicBezTo>
                  <a:pt x="212183" y="235392"/>
                  <a:pt x="211044" y="231128"/>
                  <a:pt x="210285" y="226959"/>
                </a:cubicBezTo>
                <a:cubicBezTo>
                  <a:pt x="207533" y="212557"/>
                  <a:pt x="206774" y="199102"/>
                  <a:pt x="210190" y="186216"/>
                </a:cubicBezTo>
                <a:cubicBezTo>
                  <a:pt x="214176" y="169066"/>
                  <a:pt x="223475" y="155327"/>
                  <a:pt x="233914" y="144715"/>
                </a:cubicBezTo>
                <a:cubicBezTo>
                  <a:pt x="240556" y="137609"/>
                  <a:pt x="247958" y="131544"/>
                  <a:pt x="255929" y="126523"/>
                </a:cubicBezTo>
                <a:cubicBezTo>
                  <a:pt x="262382" y="121975"/>
                  <a:pt x="269499" y="118184"/>
                  <a:pt x="277376" y="115531"/>
                </a:cubicBezTo>
                <a:cubicBezTo>
                  <a:pt x="283544" y="113447"/>
                  <a:pt x="289997" y="112215"/>
                  <a:pt x="296829" y="111836"/>
                </a:cubicBezTo>
                <a:close/>
                <a:moveTo>
                  <a:pt x="304039" y="58271"/>
                </a:moveTo>
                <a:cubicBezTo>
                  <a:pt x="168911" y="58271"/>
                  <a:pt x="59309" y="167613"/>
                  <a:pt x="59309" y="302537"/>
                </a:cubicBezTo>
                <a:cubicBezTo>
                  <a:pt x="59309" y="360524"/>
                  <a:pt x="79616" y="413774"/>
                  <a:pt x="113398" y="455559"/>
                </a:cubicBezTo>
                <a:cubicBezTo>
                  <a:pt x="115675" y="435851"/>
                  <a:pt x="124026" y="413584"/>
                  <a:pt x="149078" y="407331"/>
                </a:cubicBezTo>
                <a:cubicBezTo>
                  <a:pt x="196999" y="395203"/>
                  <a:pt x="236001" y="367725"/>
                  <a:pt x="236001" y="367725"/>
                </a:cubicBezTo>
                <a:lnTo>
                  <a:pt x="272155" y="481804"/>
                </a:lnTo>
                <a:lnTo>
                  <a:pt x="277090" y="497249"/>
                </a:lnTo>
                <a:lnTo>
                  <a:pt x="293316" y="451484"/>
                </a:lnTo>
                <a:cubicBezTo>
                  <a:pt x="252797" y="395013"/>
                  <a:pt x="304039" y="397193"/>
                  <a:pt x="304039" y="397193"/>
                </a:cubicBezTo>
                <a:cubicBezTo>
                  <a:pt x="304039" y="397193"/>
                  <a:pt x="355377" y="395013"/>
                  <a:pt x="314762" y="451484"/>
                </a:cubicBezTo>
                <a:lnTo>
                  <a:pt x="330894" y="496965"/>
                </a:lnTo>
                <a:lnTo>
                  <a:pt x="335829" y="481710"/>
                </a:lnTo>
                <a:lnTo>
                  <a:pt x="335924" y="481994"/>
                </a:lnTo>
                <a:lnTo>
                  <a:pt x="341617" y="463897"/>
                </a:lnTo>
                <a:lnTo>
                  <a:pt x="371983" y="367915"/>
                </a:lnTo>
                <a:cubicBezTo>
                  <a:pt x="371983" y="367915"/>
                  <a:pt x="410985" y="395298"/>
                  <a:pt x="458906" y="407426"/>
                </a:cubicBezTo>
                <a:cubicBezTo>
                  <a:pt x="483958" y="413774"/>
                  <a:pt x="492308" y="435945"/>
                  <a:pt x="494586" y="455653"/>
                </a:cubicBezTo>
                <a:cubicBezTo>
                  <a:pt x="528368" y="413774"/>
                  <a:pt x="548770" y="360524"/>
                  <a:pt x="548770" y="302537"/>
                </a:cubicBezTo>
                <a:cubicBezTo>
                  <a:pt x="548770" y="167613"/>
                  <a:pt x="439168" y="58271"/>
                  <a:pt x="304039" y="58271"/>
                </a:cubicBezTo>
                <a:close/>
                <a:moveTo>
                  <a:pt x="302996" y="0"/>
                </a:moveTo>
                <a:cubicBezTo>
                  <a:pt x="470388" y="0"/>
                  <a:pt x="606086" y="135398"/>
                  <a:pt x="606086" y="302537"/>
                </a:cubicBezTo>
                <a:cubicBezTo>
                  <a:pt x="606086" y="469676"/>
                  <a:pt x="470388" y="605169"/>
                  <a:pt x="302996" y="605169"/>
                </a:cubicBezTo>
                <a:cubicBezTo>
                  <a:pt x="135603" y="605169"/>
                  <a:pt x="0" y="469676"/>
                  <a:pt x="0" y="302537"/>
                </a:cubicBezTo>
                <a:cubicBezTo>
                  <a:pt x="0" y="135398"/>
                  <a:pt x="135603" y="0"/>
                  <a:pt x="302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82" name="user-avatar-profile_70039">
            <a:extLst>
              <a:ext uri="{FF2B5EF4-FFF2-40B4-BE49-F238E27FC236}">
                <a16:creationId xmlns:a16="http://schemas.microsoft.com/office/drawing/2014/main" id="{DD3C86E0-A463-458C-BC0A-4D0BB5A46144}"/>
              </a:ext>
            </a:extLst>
          </p:cNvPr>
          <p:cNvSpPr>
            <a:spLocks noChangeAspect="1"/>
          </p:cNvSpPr>
          <p:nvPr/>
        </p:nvSpPr>
        <p:spPr bwMode="auto">
          <a:xfrm>
            <a:off x="3404689" y="4985351"/>
            <a:ext cx="324453" cy="324000"/>
          </a:xfrm>
          <a:custGeom>
            <a:avLst/>
            <a:gdLst>
              <a:gd name="connsiteX0" fmla="*/ 203130 w 605451"/>
              <a:gd name="connsiteY0" fmla="*/ 345841 h 604605"/>
              <a:gd name="connsiteX1" fmla="*/ 302807 w 605451"/>
              <a:gd name="connsiteY1" fmla="*/ 396386 h 604605"/>
              <a:gd name="connsiteX2" fmla="*/ 402301 w 605451"/>
              <a:gd name="connsiteY2" fmla="*/ 345933 h 604605"/>
              <a:gd name="connsiteX3" fmla="*/ 450630 w 605451"/>
              <a:gd name="connsiteY3" fmla="*/ 394101 h 604605"/>
              <a:gd name="connsiteX4" fmla="*/ 469119 w 605451"/>
              <a:gd name="connsiteY4" fmla="*/ 433038 h 604605"/>
              <a:gd name="connsiteX5" fmla="*/ 302807 w 605451"/>
              <a:gd name="connsiteY5" fmla="*/ 513928 h 604605"/>
              <a:gd name="connsiteX6" fmla="*/ 136403 w 605451"/>
              <a:gd name="connsiteY6" fmla="*/ 432947 h 604605"/>
              <a:gd name="connsiteX7" fmla="*/ 154893 w 605451"/>
              <a:gd name="connsiteY7" fmla="*/ 394101 h 604605"/>
              <a:gd name="connsiteX8" fmla="*/ 203130 w 605451"/>
              <a:gd name="connsiteY8" fmla="*/ 345841 h 604605"/>
              <a:gd name="connsiteX9" fmla="*/ 302771 w 605451"/>
              <a:gd name="connsiteY9" fmla="*/ 170278 h 604605"/>
              <a:gd name="connsiteX10" fmla="*/ 240548 w 605451"/>
              <a:gd name="connsiteY10" fmla="*/ 248130 h 604605"/>
              <a:gd name="connsiteX11" fmla="*/ 302771 w 605451"/>
              <a:gd name="connsiteY11" fmla="*/ 325798 h 604605"/>
              <a:gd name="connsiteX12" fmla="*/ 364903 w 605451"/>
              <a:gd name="connsiteY12" fmla="*/ 248130 h 604605"/>
              <a:gd name="connsiteX13" fmla="*/ 302771 w 605451"/>
              <a:gd name="connsiteY13" fmla="*/ 170278 h 604605"/>
              <a:gd name="connsiteX14" fmla="*/ 302771 w 605451"/>
              <a:gd name="connsiteY14" fmla="*/ 129982 h 604605"/>
              <a:gd name="connsiteX15" fmla="*/ 405257 w 605451"/>
              <a:gd name="connsiteY15" fmla="*/ 248130 h 604605"/>
              <a:gd name="connsiteX16" fmla="*/ 302771 w 605451"/>
              <a:gd name="connsiteY16" fmla="*/ 366094 h 604605"/>
              <a:gd name="connsiteX17" fmla="*/ 200194 w 605451"/>
              <a:gd name="connsiteY17" fmla="*/ 248130 h 604605"/>
              <a:gd name="connsiteX18" fmla="*/ 302771 w 605451"/>
              <a:gd name="connsiteY18" fmla="*/ 129982 h 604605"/>
              <a:gd name="connsiteX19" fmla="*/ 302771 w 605451"/>
              <a:gd name="connsiteY19" fmla="*/ 60415 h 604605"/>
              <a:gd name="connsiteX20" fmla="*/ 60591 w 605451"/>
              <a:gd name="connsiteY20" fmla="*/ 302348 h 604605"/>
              <a:gd name="connsiteX21" fmla="*/ 302771 w 605451"/>
              <a:gd name="connsiteY21" fmla="*/ 544190 h 604605"/>
              <a:gd name="connsiteX22" fmla="*/ 544952 w 605451"/>
              <a:gd name="connsiteY22" fmla="*/ 302348 h 604605"/>
              <a:gd name="connsiteX23" fmla="*/ 302771 w 605451"/>
              <a:gd name="connsiteY23" fmla="*/ 60415 h 604605"/>
              <a:gd name="connsiteX24" fmla="*/ 302771 w 605451"/>
              <a:gd name="connsiteY24" fmla="*/ 0 h 604605"/>
              <a:gd name="connsiteX25" fmla="*/ 605451 w 605451"/>
              <a:gd name="connsiteY25" fmla="*/ 302348 h 604605"/>
              <a:gd name="connsiteX26" fmla="*/ 302771 w 605451"/>
              <a:gd name="connsiteY26" fmla="*/ 604605 h 604605"/>
              <a:gd name="connsiteX27" fmla="*/ 0 w 605451"/>
              <a:gd name="connsiteY27" fmla="*/ 302348 h 604605"/>
              <a:gd name="connsiteX28" fmla="*/ 302771 w 605451"/>
              <a:gd name="connsiteY28" fmla="*/ 0 h 604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5451" h="604605">
                <a:moveTo>
                  <a:pt x="203130" y="345841"/>
                </a:moveTo>
                <a:cubicBezTo>
                  <a:pt x="227568" y="376735"/>
                  <a:pt x="263082" y="396386"/>
                  <a:pt x="302807" y="396386"/>
                </a:cubicBezTo>
                <a:cubicBezTo>
                  <a:pt x="342440" y="396386"/>
                  <a:pt x="378046" y="376735"/>
                  <a:pt x="402301" y="345933"/>
                </a:cubicBezTo>
                <a:cubicBezTo>
                  <a:pt x="423079" y="355895"/>
                  <a:pt x="440378" y="372530"/>
                  <a:pt x="450630" y="394101"/>
                </a:cubicBezTo>
                <a:lnTo>
                  <a:pt x="469119" y="433038"/>
                </a:lnTo>
                <a:cubicBezTo>
                  <a:pt x="430310" y="482212"/>
                  <a:pt x="370174" y="513928"/>
                  <a:pt x="302807" y="513928"/>
                </a:cubicBezTo>
                <a:cubicBezTo>
                  <a:pt x="235257" y="513928"/>
                  <a:pt x="175212" y="482212"/>
                  <a:pt x="136403" y="432947"/>
                </a:cubicBezTo>
                <a:lnTo>
                  <a:pt x="154893" y="394101"/>
                </a:lnTo>
                <a:cubicBezTo>
                  <a:pt x="165144" y="372530"/>
                  <a:pt x="182443" y="355804"/>
                  <a:pt x="203130" y="345841"/>
                </a:cubicBezTo>
                <a:close/>
                <a:moveTo>
                  <a:pt x="302771" y="170278"/>
                </a:moveTo>
                <a:cubicBezTo>
                  <a:pt x="268457" y="170278"/>
                  <a:pt x="240548" y="205184"/>
                  <a:pt x="240548" y="248130"/>
                </a:cubicBezTo>
                <a:cubicBezTo>
                  <a:pt x="240548" y="290984"/>
                  <a:pt x="268457" y="325798"/>
                  <a:pt x="302771" y="325798"/>
                </a:cubicBezTo>
                <a:cubicBezTo>
                  <a:pt x="336994" y="325798"/>
                  <a:pt x="364903" y="290984"/>
                  <a:pt x="364903" y="248130"/>
                </a:cubicBezTo>
                <a:cubicBezTo>
                  <a:pt x="364903" y="205184"/>
                  <a:pt x="336994" y="170278"/>
                  <a:pt x="302771" y="170278"/>
                </a:cubicBezTo>
                <a:close/>
                <a:moveTo>
                  <a:pt x="302771" y="129982"/>
                </a:moveTo>
                <a:cubicBezTo>
                  <a:pt x="359230" y="129982"/>
                  <a:pt x="405257" y="182980"/>
                  <a:pt x="405257" y="248130"/>
                </a:cubicBezTo>
                <a:cubicBezTo>
                  <a:pt x="405257" y="313188"/>
                  <a:pt x="359230" y="366094"/>
                  <a:pt x="302771" y="366094"/>
                </a:cubicBezTo>
                <a:cubicBezTo>
                  <a:pt x="246221" y="366094"/>
                  <a:pt x="200194" y="313188"/>
                  <a:pt x="200194" y="248130"/>
                </a:cubicBezTo>
                <a:cubicBezTo>
                  <a:pt x="200194" y="182980"/>
                  <a:pt x="246221" y="129982"/>
                  <a:pt x="302771" y="129982"/>
                </a:cubicBezTo>
                <a:close/>
                <a:moveTo>
                  <a:pt x="302771" y="60415"/>
                </a:moveTo>
                <a:cubicBezTo>
                  <a:pt x="169142" y="60415"/>
                  <a:pt x="60591" y="168997"/>
                  <a:pt x="60591" y="302348"/>
                </a:cubicBezTo>
                <a:cubicBezTo>
                  <a:pt x="60591" y="435700"/>
                  <a:pt x="169142" y="544190"/>
                  <a:pt x="302771" y="544190"/>
                </a:cubicBezTo>
                <a:cubicBezTo>
                  <a:pt x="436309" y="544190"/>
                  <a:pt x="544952" y="435700"/>
                  <a:pt x="544952" y="302348"/>
                </a:cubicBezTo>
                <a:cubicBezTo>
                  <a:pt x="544952" y="168997"/>
                  <a:pt x="436309" y="60415"/>
                  <a:pt x="302771" y="60415"/>
                </a:cubicBezTo>
                <a:close/>
                <a:moveTo>
                  <a:pt x="302771" y="0"/>
                </a:moveTo>
                <a:cubicBezTo>
                  <a:pt x="469717" y="0"/>
                  <a:pt x="605451" y="135636"/>
                  <a:pt x="605451" y="302348"/>
                </a:cubicBezTo>
                <a:cubicBezTo>
                  <a:pt x="605451" y="468969"/>
                  <a:pt x="469717" y="604605"/>
                  <a:pt x="302771" y="604605"/>
                </a:cubicBezTo>
                <a:cubicBezTo>
                  <a:pt x="135826" y="604605"/>
                  <a:pt x="0" y="468969"/>
                  <a:pt x="0" y="302348"/>
                </a:cubicBezTo>
                <a:cubicBezTo>
                  <a:pt x="0" y="135636"/>
                  <a:pt x="135826" y="0"/>
                  <a:pt x="3027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462D8164-F88B-412C-A75E-D2E498A93ADF}"/>
              </a:ext>
            </a:extLst>
          </p:cNvPr>
          <p:cNvSpPr txBox="1"/>
          <p:nvPr/>
        </p:nvSpPr>
        <p:spPr>
          <a:xfrm>
            <a:off x="3893776" y="4995226"/>
            <a:ext cx="2261013" cy="304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white">
                    <a:alpha val="90000"/>
                  </a:prst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答辩人：</a:t>
            </a:r>
            <a:r>
              <a:rPr lang="zh-CN" altLang="en-US" spc="300" dirty="0">
                <a:solidFill>
                  <a:prstClr val="white">
                    <a:alpha val="90000"/>
                  </a:prstClr>
                </a:solidFill>
                <a:latin typeface="微软雅黑"/>
                <a:ea typeface="微软雅黑" panose="020B0503020204020204" pitchFamily="34" charset="-122"/>
              </a:rPr>
              <a:t>胡嘉晨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prstClr val="white">
                  <a:alpha val="90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44D86DD-6AED-488B-A20F-FE26D8B1D813}"/>
              </a:ext>
            </a:extLst>
          </p:cNvPr>
          <p:cNvSpPr txBox="1"/>
          <p:nvPr/>
        </p:nvSpPr>
        <p:spPr>
          <a:xfrm>
            <a:off x="6917092" y="4999709"/>
            <a:ext cx="3714570" cy="304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white">
                    <a:alpha val="90000"/>
                  </a:prst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导　师：陆慧梅</a:t>
            </a:r>
          </a:p>
        </p:txBody>
      </p:sp>
    </p:spTree>
    <p:extLst>
      <p:ext uri="{BB962C8B-B14F-4D97-AF65-F5344CB8AC3E}">
        <p14:creationId xmlns:p14="http://schemas.microsoft.com/office/powerpoint/2010/main" val="2114965331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封5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</TotalTime>
  <Words>598</Words>
  <Application>Microsoft Office PowerPoint</Application>
  <PresentationFormat>宽屏</PresentationFormat>
  <Paragraphs>100</Paragraphs>
  <Slides>12</Slides>
  <Notes>12</Notes>
  <HiddenSlides>1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等线</vt:lpstr>
      <vt:lpstr>黑体</vt:lpstr>
      <vt:lpstr>微软雅黑</vt:lpstr>
      <vt:lpstr>Arial</vt:lpstr>
      <vt:lpstr>Century Gothic</vt:lpstr>
      <vt:lpstr>Wingdings</vt:lpstr>
      <vt:lpstr>封5​​</vt:lpstr>
      <vt:lpstr>内页​​</vt:lpstr>
      <vt:lpstr>PowerPoint 演示文稿</vt:lpstr>
      <vt:lpstr>PowerPoint 演示文稿</vt:lpstr>
      <vt:lpstr>PowerPoint 演示文稿</vt:lpstr>
      <vt:lpstr>研究目标</vt:lpstr>
      <vt:lpstr>进展情况</vt:lpstr>
      <vt:lpstr>进展情况</vt:lpstr>
      <vt:lpstr>取得成就</vt:lpstr>
      <vt:lpstr>PowerPoint 演示文稿</vt:lpstr>
      <vt:lpstr>遇到的问题和拟解决方案</vt:lpstr>
      <vt:lpstr>PowerPoint 演示文稿</vt:lpstr>
      <vt:lpstr>时间线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jc h</dc:creator>
  <cp:lastModifiedBy>jc h</cp:lastModifiedBy>
  <cp:revision>69</cp:revision>
  <dcterms:created xsi:type="dcterms:W3CDTF">2026-04-01T08:55:24Z</dcterms:created>
  <dcterms:modified xsi:type="dcterms:W3CDTF">2026-04-03T00:56:30Z</dcterms:modified>
</cp:coreProperties>
</file>